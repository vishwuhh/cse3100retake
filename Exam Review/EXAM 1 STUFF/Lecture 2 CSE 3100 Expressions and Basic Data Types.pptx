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57" r:id="rId3"/>
    <p:sldId id="444" r:id="rId4"/>
    <p:sldId id="445" r:id="rId5"/>
    <p:sldId id="446" r:id="rId6"/>
    <p:sldId id="447" r:id="rId7"/>
    <p:sldId id="448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8" r:id="rId16"/>
    <p:sldId id="268" r:id="rId17"/>
    <p:sldId id="269" r:id="rId18"/>
    <p:sldId id="270" r:id="rId19"/>
    <p:sldId id="271" r:id="rId20"/>
    <p:sldId id="273" r:id="rId21"/>
    <p:sldId id="275" r:id="rId22"/>
    <p:sldId id="276" r:id="rId23"/>
    <p:sldId id="277" r:id="rId24"/>
    <p:sldId id="278" r:id="rId25"/>
    <p:sldId id="279" r:id="rId26"/>
    <p:sldId id="280" r:id="rId27"/>
    <p:sldId id="297" r:id="rId28"/>
    <p:sldId id="459" r:id="rId29"/>
    <p:sldId id="282" r:id="rId30"/>
    <p:sldId id="283" r:id="rId31"/>
    <p:sldId id="284" r:id="rId32"/>
    <p:sldId id="286" r:id="rId33"/>
    <p:sldId id="285" r:id="rId34"/>
    <p:sldId id="289" r:id="rId35"/>
    <p:sldId id="287" r:id="rId36"/>
    <p:sldId id="288" r:id="rId37"/>
    <p:sldId id="290" r:id="rId38"/>
    <p:sldId id="298" r:id="rId39"/>
    <p:sldId id="291" r:id="rId40"/>
    <p:sldId id="292" r:id="rId41"/>
    <p:sldId id="293" r:id="rId42"/>
    <p:sldId id="294" r:id="rId43"/>
    <p:sldId id="295" r:id="rId44"/>
    <p:sldId id="299" r:id="rId45"/>
    <p:sldId id="300" r:id="rId46"/>
    <p:sldId id="296" r:id="rId47"/>
    <p:sldId id="26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94E7-9521-F244-53B9-084B19894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B4391-48A0-B7AE-8403-F738CE08A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3693-A5AD-0EC9-0463-FEA99B98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1D4D8-B00A-1708-400F-99A1AA77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B42D3-1EF4-401A-ED36-F747CEF8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4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56DF-1066-04FE-9323-4C1E6FD2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11974-B4E4-D69D-206A-7172D229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1C622-DAD0-5331-8E91-531E41AC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B11AD-0207-1929-B371-EE3EACFC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9CE4B-0C5B-B5B6-31BF-43E5E857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5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F874-552F-0F60-8287-F4B6946D7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C26C5-6D9F-53CC-9732-8DA20851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EDEAC-67E7-4D9E-48B1-A3DCBE6D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D39EB-DE90-ACAC-ABFD-569CD0856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F5690-5990-FBB7-BD6B-08B9C4357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4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DB66-2020-65A8-4DDB-E6FF1348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17BC-4A9A-49A4-5242-9A175C05F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A4A41-A31E-1734-458C-AA6E8B8F5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A8606-2391-57A0-4CF5-F4E7DB0D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53317-8DF7-9797-9502-068862EF5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B395C-F188-4DBA-A2AC-3A39F1D2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2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41100-3590-F4B3-16DE-AD9B64B8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2C61F-2C7A-1974-B576-863A69FC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CF80E-5091-2049-0FEA-752297D07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31EB3-B6F6-A05B-A59F-E74DDB165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89A95-21E1-FF00-B717-38441F4D4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11BD1-7B67-73BA-C02C-DE19D610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A1CBA-9210-E797-52B3-2DB7A71F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88601-CD1F-44CB-D88B-99BF929A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1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9D3E-909D-EB58-8A52-7E64B550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12DAAD-9E55-CCEB-D15D-132104BA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E5394-EF1C-3B57-92BE-1EE9B806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584E1-74AF-A689-04D6-3068A0BB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9DB96-E182-61BE-49F1-F7E66DEA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142FE-C2A5-45D9-C409-FCAD5F951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090F6-D19D-E13F-5D9D-7DA1D86D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1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5515-F88F-D4FE-9FEA-5291ED30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F1394-A57D-CAFE-BA00-6AA2F7791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13E46-3448-8A75-5144-7ADAE275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23CB0-07EF-E84A-F3E8-76772E08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184FF-EC86-2C6C-662C-0CED54DE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6A6FE-48AC-5C70-5C99-AE916ADD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8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14FA-BDD3-B912-D185-5DBD7AAC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BA147E-10BE-7F2B-3B27-E8B8FFF31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98D07-8F71-4757-7317-F141EE3FE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12021-10D0-3C42-27F5-AFE58BE8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2DCB7-3421-E8EA-A577-556E0F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1F2F2-B5BC-ED12-51A6-81931D3FF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3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9F9F7-47E9-DE75-804C-860BCCC8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753B8-376C-12D2-62BF-709286240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1F12-6693-9911-84F0-9C2B64AE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AD96D-51B3-1F18-B12C-C8CA14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3B1C-9266-785A-B3E3-B62604F8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1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6F1E0-A52F-1E15-C89C-4E446F363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1DD72-A6A6-BE67-0284-CE5A04609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60F04-0365-3C26-4F7F-9E7E6C16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79A3B-892C-6776-2DEA-DD3ED650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688F-964D-FFC9-3637-9CCE94CC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9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21A70-68D1-BC94-A782-1A3CA97E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AAC9-D97D-0205-B9A8-C085EDEF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BB82C-3D8F-B27D-2503-357C9A5A1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97B16-CFEB-4623-AD30-E86965C75AE7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8D8AD-E46E-A910-3CD0-7A8A63E7B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3136-4E50-40F6-8FDC-873241AD1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A458C-7F91-4B44-AD1B-AE1820BFD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st.depositphotos.com/1726977/1219/i/450/depositphotos_12193152-stock-photo-boney-skeleton-hands-working-a.jpg" TargetMode="External"/><Relationship Id="rId2" Type="http://schemas.openxmlformats.org/officeDocument/2006/relationships/hyperlink" Target="https://i.imgflip.com/1rflc0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mornama.com/wp-content/uploads/2020/12/You-Are-A-Good-Question-meme-template-of-Tanu-Weds-Manu-Returns-1024x576.jpg" TargetMode="External"/><Relationship Id="rId5" Type="http://schemas.openxmlformats.org/officeDocument/2006/relationships/hyperlink" Target="https://i.pinimg.com/736x/8b/f2/2a/8bf22a209224c73dd1618d6c12f2474d--basic-programming-apple-ii.jpg" TargetMode="External"/><Relationship Id="rId4" Type="http://schemas.openxmlformats.org/officeDocument/2006/relationships/hyperlink" Target="https://sonder.com.au/wp-content/uploads/2020/10/quality-over-quantity-blog@2x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3C04B-99DA-465F-9622-6B3B5A36C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39902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sz="4800" dirty="0"/>
              <a:t>CSE 3100: Systems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45AFA-748C-4441-9A3A-253D6A21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0693" y="5202238"/>
            <a:ext cx="9144000" cy="1655762"/>
          </a:xfrm>
        </p:spPr>
        <p:txBody>
          <a:bodyPr/>
          <a:lstStyle/>
          <a:p>
            <a:r>
              <a:rPr lang="en-US"/>
              <a:t>Department </a:t>
            </a:r>
            <a:r>
              <a:rPr lang="en-US" dirty="0"/>
              <a:t>of Computer Science and Engineering</a:t>
            </a:r>
          </a:p>
          <a:p>
            <a:r>
              <a:rPr lang="en-US" dirty="0"/>
              <a:t>University of Connecticut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CB5F35-6329-406D-89BD-C9BBF92B1EAD}"/>
              </a:ext>
            </a:extLst>
          </p:cNvPr>
          <p:cNvSpPr txBox="1">
            <a:spLocks/>
          </p:cNvSpPr>
          <p:nvPr/>
        </p:nvSpPr>
        <p:spPr>
          <a:xfrm>
            <a:off x="0" y="2959075"/>
            <a:ext cx="12192000" cy="939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600" dirty="0"/>
              <a:t>Lecture 2: Expressions and Basic Data Types in C</a:t>
            </a:r>
          </a:p>
        </p:txBody>
      </p:sp>
    </p:spTree>
    <p:extLst>
      <p:ext uri="{BB962C8B-B14F-4D97-AF65-F5344CB8AC3E}">
        <p14:creationId xmlns:p14="http://schemas.microsoft.com/office/powerpoint/2010/main" val="252123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CC59-972C-A09C-8C4B-CC4F1E57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42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Lecture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EF048-9175-9D24-34E7-69A02B16336C}"/>
              </a:ext>
            </a:extLst>
          </p:cNvPr>
          <p:cNvSpPr/>
          <p:nvPr/>
        </p:nvSpPr>
        <p:spPr>
          <a:xfrm>
            <a:off x="637117" y="2163232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1. Static and Dynamic Typing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C8DB3-7343-DF1F-C9EB-36CE504B2F83}"/>
              </a:ext>
            </a:extLst>
          </p:cNvPr>
          <p:cNvSpPr/>
          <p:nvPr/>
        </p:nvSpPr>
        <p:spPr>
          <a:xfrm>
            <a:off x="637117" y="3183465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2. Expressions and Operators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9CDA0-083E-D9B1-5FAD-9BB3BDC7F9D3}"/>
              </a:ext>
            </a:extLst>
          </p:cNvPr>
          <p:cNvSpPr/>
          <p:nvPr/>
        </p:nvSpPr>
        <p:spPr>
          <a:xfrm>
            <a:off x="637117" y="4250265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3. Memory for Data Types and Characters</a:t>
            </a:r>
          </a:p>
        </p:txBody>
      </p:sp>
    </p:spTree>
    <p:extLst>
      <p:ext uri="{BB962C8B-B14F-4D97-AF65-F5344CB8AC3E}">
        <p14:creationId xmlns:p14="http://schemas.microsoft.com/office/powerpoint/2010/main" val="72015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7666-F1C2-9512-F996-60F6AE9F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84" y="43715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i="1" dirty="0"/>
              <a:t>Recall: What did an expression look like in Python?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1FB4A-F9DC-855C-0303-5D8A6447C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31"/>
          <a:stretch/>
        </p:blipFill>
        <p:spPr>
          <a:xfrm>
            <a:off x="4176363" y="2701339"/>
            <a:ext cx="3751044" cy="2063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754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7666-F1C2-9512-F996-60F6AE9F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i="1" dirty="0"/>
              <a:t>What does an expression look like in C?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6E810B2-BF49-0A77-8442-94BAA482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490662"/>
            <a:ext cx="5562600" cy="3876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311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121E-D2C0-489D-3F32-355B63B0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119811" cy="1325563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/>
              <a:t>Tough Question Time: </a:t>
            </a:r>
            <a:r>
              <a:rPr lang="en-US" sz="3200" i="1" dirty="0"/>
              <a:t>In Python can you tell if x, s and d are </a:t>
            </a:r>
            <a:br>
              <a:rPr lang="en-US" sz="3200" i="1" dirty="0"/>
            </a:br>
            <a:r>
              <a:rPr lang="en-US" sz="3200" i="1" dirty="0"/>
              <a:t>the same data type?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B9F0B-B6F5-30BE-CF8B-57CA72095B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831"/>
          <a:stretch/>
        </p:blipFill>
        <p:spPr>
          <a:xfrm>
            <a:off x="5285874" y="2047519"/>
            <a:ext cx="6397873" cy="35189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816524-C176-A88A-32A2-35041BD64410}"/>
              </a:ext>
            </a:extLst>
          </p:cNvPr>
          <p:cNvSpPr/>
          <p:nvPr/>
        </p:nvSpPr>
        <p:spPr>
          <a:xfrm>
            <a:off x="7713868" y="2177173"/>
            <a:ext cx="3828427" cy="31554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ard question - Imgflip">
            <a:extLst>
              <a:ext uri="{FF2B5EF4-FFF2-40B4-BE49-F238E27FC236}">
                <a16:creationId xmlns:a16="http://schemas.microsoft.com/office/drawing/2014/main" id="{C3F179E2-852A-673A-56F1-EAC67A51A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1"/>
          <a:stretch/>
        </p:blipFill>
        <p:spPr bwMode="auto">
          <a:xfrm>
            <a:off x="1574306" y="1690688"/>
            <a:ext cx="3011999" cy="439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C7D931-037C-06E5-5860-514DF00D422A}"/>
              </a:ext>
            </a:extLst>
          </p:cNvPr>
          <p:cNvSpPr/>
          <p:nvPr/>
        </p:nvSpPr>
        <p:spPr>
          <a:xfrm rot="20866789">
            <a:off x="1877267" y="2260608"/>
            <a:ext cx="950383" cy="159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D4B88-B264-22CF-7D48-547849CAA1CE}"/>
              </a:ext>
            </a:extLst>
          </p:cNvPr>
          <p:cNvSpPr/>
          <p:nvPr/>
        </p:nvSpPr>
        <p:spPr>
          <a:xfrm rot="20866789">
            <a:off x="2950918" y="2091174"/>
            <a:ext cx="691660" cy="15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9D393-298D-773C-9962-8CA249B0DDF5}"/>
              </a:ext>
            </a:extLst>
          </p:cNvPr>
          <p:cNvSpPr txBox="1"/>
          <p:nvPr/>
        </p:nvSpPr>
        <p:spPr>
          <a:xfrm rot="20437863">
            <a:off x="2022294" y="2178122"/>
            <a:ext cx="1018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EC3D6-10DD-2AA7-FB91-BB11A6BAC258}"/>
              </a:ext>
            </a:extLst>
          </p:cNvPr>
          <p:cNvSpPr txBox="1"/>
          <p:nvPr/>
        </p:nvSpPr>
        <p:spPr>
          <a:xfrm rot="20437863">
            <a:off x="3008034" y="1997805"/>
            <a:ext cx="1018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Different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382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121E-D2C0-489D-3F32-355B63B0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5"/>
            <a:ext cx="12119811" cy="1325563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6600" i="1" dirty="0"/>
              <a:t>What about in C?</a:t>
            </a:r>
          </a:p>
        </p:txBody>
      </p:sp>
      <p:pic>
        <p:nvPicPr>
          <p:cNvPr id="1026" name="Picture 2" descr="hard question - Imgflip">
            <a:extLst>
              <a:ext uri="{FF2B5EF4-FFF2-40B4-BE49-F238E27FC236}">
                <a16:creationId xmlns:a16="http://schemas.microsoft.com/office/drawing/2014/main" id="{C3F179E2-852A-673A-56F1-EAC67A51A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1"/>
          <a:stretch/>
        </p:blipFill>
        <p:spPr bwMode="auto">
          <a:xfrm>
            <a:off x="1574306" y="1690688"/>
            <a:ext cx="3011999" cy="439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C7D931-037C-06E5-5860-514DF00D422A}"/>
              </a:ext>
            </a:extLst>
          </p:cNvPr>
          <p:cNvSpPr/>
          <p:nvPr/>
        </p:nvSpPr>
        <p:spPr>
          <a:xfrm rot="20866789">
            <a:off x="1877267" y="2260608"/>
            <a:ext cx="950383" cy="159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DD4B88-B264-22CF-7D48-547849CAA1CE}"/>
              </a:ext>
            </a:extLst>
          </p:cNvPr>
          <p:cNvSpPr/>
          <p:nvPr/>
        </p:nvSpPr>
        <p:spPr>
          <a:xfrm rot="20866789">
            <a:off x="2950918" y="2091174"/>
            <a:ext cx="691660" cy="1563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9D393-298D-773C-9962-8CA249B0DDF5}"/>
              </a:ext>
            </a:extLst>
          </p:cNvPr>
          <p:cNvSpPr txBox="1"/>
          <p:nvPr/>
        </p:nvSpPr>
        <p:spPr>
          <a:xfrm rot="20437863">
            <a:off x="2022294" y="2178122"/>
            <a:ext cx="1018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EC3D6-10DD-2AA7-FB91-BB11A6BAC258}"/>
              </a:ext>
            </a:extLst>
          </p:cNvPr>
          <p:cNvSpPr txBox="1"/>
          <p:nvPr/>
        </p:nvSpPr>
        <p:spPr>
          <a:xfrm rot="20437863">
            <a:off x="3008034" y="1997805"/>
            <a:ext cx="1018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Different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6872E9-078A-5BED-20F4-03386CB385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58" t="50000" b="9377"/>
          <a:stretch/>
        </p:blipFill>
        <p:spPr>
          <a:xfrm>
            <a:off x="5071532" y="2435795"/>
            <a:ext cx="6563987" cy="2586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816524-C176-A88A-32A2-35041BD64410}"/>
              </a:ext>
            </a:extLst>
          </p:cNvPr>
          <p:cNvSpPr/>
          <p:nvPr/>
        </p:nvSpPr>
        <p:spPr>
          <a:xfrm>
            <a:off x="7984800" y="2318983"/>
            <a:ext cx="3749999" cy="940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BEC628-89AD-9B74-85F7-073331FC3544}"/>
              </a:ext>
            </a:extLst>
          </p:cNvPr>
          <p:cNvSpPr/>
          <p:nvPr/>
        </p:nvSpPr>
        <p:spPr>
          <a:xfrm>
            <a:off x="8810300" y="3127992"/>
            <a:ext cx="2924499" cy="940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429904-057A-394C-8D54-9935174861F3}"/>
              </a:ext>
            </a:extLst>
          </p:cNvPr>
          <p:cNvSpPr/>
          <p:nvPr/>
        </p:nvSpPr>
        <p:spPr>
          <a:xfrm>
            <a:off x="8353525" y="4068675"/>
            <a:ext cx="3381274" cy="9901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0CBECF-F57E-F84E-5F2A-61FE3E0FD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889" y="3940421"/>
            <a:ext cx="1580519" cy="15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73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1E204-B312-C076-BA7B-CDE8356AB9D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000" b="1" dirty="0"/>
              <a:t>Typing</a:t>
            </a:r>
            <a:r>
              <a:rPr lang="en-US" sz="4000" dirty="0"/>
              <a:t> for </a:t>
            </a:r>
            <a:r>
              <a:rPr lang="en-US" sz="4000" b="1" dirty="0"/>
              <a:t>expressions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156EC-58E6-AF8C-EE9A-AA9B24A2D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257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Languages like C are statically typed.</a:t>
            </a:r>
          </a:p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Statically typed programming languages do type checking at </a:t>
            </a:r>
            <a:r>
              <a:rPr lang="en-US" b="0" i="1" dirty="0">
                <a:solidFill>
                  <a:srgbClr val="232629"/>
                </a:solidFill>
                <a:effectLst/>
                <a:latin typeface="-apple-system"/>
              </a:rPr>
              <a:t>compile-time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.</a:t>
            </a:r>
          </a:p>
          <a:p>
            <a:pPr marL="0" indent="0">
              <a:buNone/>
            </a:pPr>
            <a:endParaRPr lang="en-US" b="0" i="0" dirty="0">
              <a:solidFill>
                <a:srgbClr val="232629"/>
              </a:solidFill>
              <a:effectLst/>
              <a:latin typeface="-apple-system"/>
            </a:endParaRPr>
          </a:p>
          <a:p>
            <a:r>
              <a:rPr lang="en-US" dirty="0">
                <a:solidFill>
                  <a:srgbClr val="232629"/>
                </a:solidFill>
                <a:latin typeface="-apple-system"/>
              </a:rPr>
              <a:t>Languages like Python are dynamically typed.</a:t>
            </a:r>
            <a:endParaRPr lang="en-US" b="0" i="0" dirty="0">
              <a:solidFill>
                <a:srgbClr val="232629"/>
              </a:solidFill>
              <a:effectLst/>
              <a:latin typeface="-apple-system"/>
            </a:endParaRPr>
          </a:p>
          <a:p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Dynamically typed programming languages do type checking at </a:t>
            </a:r>
            <a:r>
              <a:rPr lang="en-US" b="0" i="1" dirty="0">
                <a:solidFill>
                  <a:srgbClr val="232629"/>
                </a:solidFill>
                <a:effectLst/>
                <a:latin typeface="-apple-system"/>
              </a:rPr>
              <a:t>run-time</a:t>
            </a:r>
            <a:r>
              <a:rPr lang="en-US" b="0" i="0" dirty="0">
                <a:solidFill>
                  <a:srgbClr val="232629"/>
                </a:solidFill>
                <a:effectLst/>
                <a:latin typeface="-apple-system"/>
              </a:rPr>
              <a:t>.</a:t>
            </a:r>
          </a:p>
          <a:p>
            <a:pPr marL="0" indent="0" algn="ctr">
              <a:buNone/>
            </a:pPr>
            <a:r>
              <a:rPr lang="en-US" b="1" i="1" dirty="0">
                <a:solidFill>
                  <a:srgbClr val="232629"/>
                </a:solidFill>
                <a:latin typeface="-apple-system"/>
              </a:rPr>
              <a:t>Why do we care?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8DF4D-6ACF-2940-1260-4CBFC2049AF7}"/>
              </a:ext>
            </a:extLst>
          </p:cNvPr>
          <p:cNvSpPr txBox="1"/>
          <p:nvPr/>
        </p:nvSpPr>
        <p:spPr>
          <a:xfrm>
            <a:off x="588433" y="5985702"/>
            <a:ext cx="10977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Link: https://stackoverflow.com/questions/1517582/what-is-the-difference-between-statically-typed-and-dynamically-typed-languages</a:t>
            </a:r>
          </a:p>
        </p:txBody>
      </p:sp>
    </p:spTree>
    <p:extLst>
      <p:ext uri="{BB962C8B-B14F-4D97-AF65-F5344CB8AC3E}">
        <p14:creationId xmlns:p14="http://schemas.microsoft.com/office/powerpoint/2010/main" val="1545279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B446-A0FB-AAF9-1915-0287936753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What is an advantage of a statically typed language?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325AC-3E32-72FE-A2EF-8ED579CB0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"/>
          <a:stretch/>
        </p:blipFill>
        <p:spPr>
          <a:xfrm>
            <a:off x="1219599" y="2641601"/>
            <a:ext cx="9896734" cy="4107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567432-6D31-5BAF-0077-A2A27CFB3A06}"/>
              </a:ext>
            </a:extLst>
          </p:cNvPr>
          <p:cNvSpPr/>
          <p:nvPr/>
        </p:nvSpPr>
        <p:spPr>
          <a:xfrm>
            <a:off x="1219599" y="4301067"/>
            <a:ext cx="9896734" cy="2447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E7463-DE8A-7DFE-EA68-50F2F7D22759}"/>
              </a:ext>
            </a:extLst>
          </p:cNvPr>
          <p:cNvSpPr txBox="1"/>
          <p:nvPr/>
        </p:nvSpPr>
        <p:spPr>
          <a:xfrm>
            <a:off x="2332567" y="1854200"/>
            <a:ext cx="8060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We can illustrate the advantage with a buggy code…</a:t>
            </a:r>
          </a:p>
        </p:txBody>
      </p:sp>
    </p:spTree>
    <p:extLst>
      <p:ext uri="{BB962C8B-B14F-4D97-AF65-F5344CB8AC3E}">
        <p14:creationId xmlns:p14="http://schemas.microsoft.com/office/powerpoint/2010/main" val="68433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B446-A0FB-AAF9-1915-0287936753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What is an advantage of a statically typed language?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325AC-3E32-72FE-A2EF-8ED579CB0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"/>
          <a:stretch/>
        </p:blipFill>
        <p:spPr>
          <a:xfrm>
            <a:off x="1147633" y="2023534"/>
            <a:ext cx="9896734" cy="4107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567432-6D31-5BAF-0077-A2A27CFB3A06}"/>
              </a:ext>
            </a:extLst>
          </p:cNvPr>
          <p:cNvSpPr/>
          <p:nvPr/>
        </p:nvSpPr>
        <p:spPr>
          <a:xfrm>
            <a:off x="1147633" y="4948766"/>
            <a:ext cx="9896734" cy="11817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8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B446-A0FB-AAF9-1915-0287936753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Where is the error in our code?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325AC-3E32-72FE-A2EF-8ED579CB0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"/>
          <a:stretch/>
        </p:blipFill>
        <p:spPr>
          <a:xfrm>
            <a:off x="1147633" y="2023534"/>
            <a:ext cx="9896734" cy="4107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158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B446-A0FB-AAF9-1915-02879367538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600" dirty="0"/>
              <a:t>Where is the error in our code?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6325AC-3E32-72FE-A2EF-8ED579CB0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"/>
          <a:stretch/>
        </p:blipFill>
        <p:spPr>
          <a:xfrm>
            <a:off x="1147633" y="2023534"/>
            <a:ext cx="9896734" cy="41070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F62A65-609B-8C46-7C2D-DE04FDA14BDB}"/>
              </a:ext>
            </a:extLst>
          </p:cNvPr>
          <p:cNvSpPr/>
          <p:nvPr/>
        </p:nvSpPr>
        <p:spPr>
          <a:xfrm>
            <a:off x="1066800" y="5643033"/>
            <a:ext cx="7086600" cy="5799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1B6D91F-FA4C-AE2C-8494-DA82CD39B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0"/>
            <a:ext cx="5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59FCA3-76CE-1317-7744-BA1A8F8B5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234" y="3125071"/>
            <a:ext cx="9952296" cy="21851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56B127-EACE-AF61-8841-BC8C8FDA2D02}"/>
              </a:ext>
            </a:extLst>
          </p:cNvPr>
          <p:cNvSpPr txBox="1"/>
          <p:nvPr/>
        </p:nvSpPr>
        <p:spPr>
          <a:xfrm>
            <a:off x="3149599" y="1586081"/>
            <a:ext cx="8599033" cy="14465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It will take us 1 hour to realize our code has an error in it!</a:t>
            </a:r>
          </a:p>
        </p:txBody>
      </p:sp>
    </p:spTree>
    <p:extLst>
      <p:ext uri="{BB962C8B-B14F-4D97-AF65-F5344CB8AC3E}">
        <p14:creationId xmlns:p14="http://schemas.microsoft.com/office/powerpoint/2010/main" val="415259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F41FC-D163-8862-5156-529F32A8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09008"/>
            <a:ext cx="11988800" cy="1325563"/>
          </a:xfrm>
        </p:spPr>
        <p:txBody>
          <a:bodyPr/>
          <a:lstStyle/>
          <a:p>
            <a:r>
              <a:rPr lang="en-US" dirty="0"/>
              <a:t>What would happen if we try the same code in C?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4A330A-F058-CCAA-2727-9FC3590714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2"/>
          <a:stretch/>
        </p:blipFill>
        <p:spPr>
          <a:xfrm>
            <a:off x="144332" y="1303867"/>
            <a:ext cx="5897905" cy="2447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5B31DEF-3914-EF46-812D-09D4D74B378D}"/>
              </a:ext>
            </a:extLst>
          </p:cNvPr>
          <p:cNvSpPr/>
          <p:nvPr/>
        </p:nvSpPr>
        <p:spPr>
          <a:xfrm rot="2453407">
            <a:off x="4728474" y="3526366"/>
            <a:ext cx="1371600" cy="1003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BE36B3-0B9A-8267-415D-1B7B8794F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569" y="3311278"/>
            <a:ext cx="5770563" cy="331018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67050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DB01-335E-4968-ABCE-BBA12A94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700" y="53221"/>
            <a:ext cx="10515600" cy="1170686"/>
          </a:xfrm>
        </p:spPr>
        <p:txBody>
          <a:bodyPr/>
          <a:lstStyle/>
          <a:p>
            <a:pPr algn="ctr"/>
            <a:r>
              <a:rPr lang="en-US" dirty="0"/>
              <a:t>Trying to compile wrongly typed C code: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D11932-DFE1-6E4F-0DE6-2CF597BF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969" y="1101140"/>
            <a:ext cx="5171465" cy="2966521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F795CABC-5731-C5A9-C5AC-BB69F5621FE6}"/>
              </a:ext>
            </a:extLst>
          </p:cNvPr>
          <p:cNvSpPr/>
          <p:nvPr/>
        </p:nvSpPr>
        <p:spPr>
          <a:xfrm>
            <a:off x="5694667" y="4132766"/>
            <a:ext cx="1185334" cy="8255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F65EB9-7770-6308-388F-EE6960695447}"/>
              </a:ext>
            </a:extLst>
          </p:cNvPr>
          <p:cNvSpPr txBox="1"/>
          <p:nvPr/>
        </p:nvSpPr>
        <p:spPr>
          <a:xfrm rot="19887296">
            <a:off x="2167466" y="2199679"/>
            <a:ext cx="8599033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We can’t even compile…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046E3AA-F633-9C6A-C899-8CBCDD73C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02" y="5171517"/>
            <a:ext cx="8797998" cy="13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5763-C352-9861-D364-9B059C132ED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Statically Typed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72574-30F2-7526-6FDF-47839B8FD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can clearly be seen that a lot of error checking can be done by the compiler BEFORE the code ever runs for statically typed languages. </a:t>
            </a:r>
          </a:p>
          <a:p>
            <a:r>
              <a:rPr lang="en-US" dirty="0"/>
              <a:t>Are there any disadvantage to having a statically typed language?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1ABFC5-FC2C-A478-61BC-38133A8C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66" y="3901158"/>
            <a:ext cx="3577167" cy="2766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4345D-CDEB-9593-115F-D6DEB81B0802}"/>
              </a:ext>
            </a:extLst>
          </p:cNvPr>
          <p:cNvSpPr txBox="1"/>
          <p:nvPr/>
        </p:nvSpPr>
        <p:spPr>
          <a:xfrm>
            <a:off x="3615266" y="3292102"/>
            <a:ext cx="4821766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Programmer hands after 1 day </a:t>
            </a:r>
          </a:p>
          <a:p>
            <a:pPr algn="ctr"/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of typing out data types for all expressions:</a:t>
            </a:r>
          </a:p>
        </p:txBody>
      </p:sp>
    </p:spTree>
    <p:extLst>
      <p:ext uri="{BB962C8B-B14F-4D97-AF65-F5344CB8AC3E}">
        <p14:creationId xmlns:p14="http://schemas.microsoft.com/office/powerpoint/2010/main" val="28701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CC59-972C-A09C-8C4B-CC4F1E57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Lecture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EF048-9175-9D24-34E7-69A02B16336C}"/>
              </a:ext>
            </a:extLst>
          </p:cNvPr>
          <p:cNvSpPr/>
          <p:nvPr/>
        </p:nvSpPr>
        <p:spPr>
          <a:xfrm>
            <a:off x="694268" y="1460499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trike="sngStrike" dirty="0"/>
              <a:t>1. Static and Dynamic Typing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C8DB3-7343-DF1F-C9EB-36CE504B2F83}"/>
              </a:ext>
            </a:extLst>
          </p:cNvPr>
          <p:cNvSpPr/>
          <p:nvPr/>
        </p:nvSpPr>
        <p:spPr>
          <a:xfrm>
            <a:off x="694268" y="2480732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2. Expressions and Operators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9CDA0-083E-D9B1-5FAD-9BB3BDC7F9D3}"/>
              </a:ext>
            </a:extLst>
          </p:cNvPr>
          <p:cNvSpPr/>
          <p:nvPr/>
        </p:nvSpPr>
        <p:spPr>
          <a:xfrm>
            <a:off x="694268" y="3547532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3. Memory for Data Types and Characters</a:t>
            </a:r>
          </a:p>
        </p:txBody>
      </p:sp>
    </p:spTree>
    <p:extLst>
      <p:ext uri="{BB962C8B-B14F-4D97-AF65-F5344CB8AC3E}">
        <p14:creationId xmlns:p14="http://schemas.microsoft.com/office/powerpoint/2010/main" val="144914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D5EE-9FAD-DC80-9F64-4F5695E5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3251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Expressions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FFBE4-7891-D695-235F-9011869C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7151"/>
            <a:ext cx="10515600" cy="31835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All C expressions have a type</a:t>
            </a:r>
          </a:p>
          <a:p>
            <a:pPr lvl="1"/>
            <a:r>
              <a:rPr lang="en-US" dirty="0"/>
              <a:t>Constants have a type</a:t>
            </a:r>
          </a:p>
          <a:p>
            <a:pPr lvl="1"/>
            <a:r>
              <a:rPr lang="en-US" dirty="0"/>
              <a:t>Variables have a type</a:t>
            </a:r>
          </a:p>
          <a:p>
            <a:pPr lvl="1"/>
            <a:r>
              <a:rPr lang="en-US" dirty="0"/>
              <a:t>Function return values have a type</a:t>
            </a:r>
          </a:p>
          <a:p>
            <a:pPr lvl="1"/>
            <a:r>
              <a:rPr lang="en-US" dirty="0"/>
              <a:t>Every sub-expression of a larger expression has a type</a:t>
            </a:r>
          </a:p>
          <a:p>
            <a:r>
              <a:rPr lang="en-US" dirty="0"/>
              <a:t>Adding a semicolon to an expression makes it a statement.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025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21A3-B263-0CE0-3E3E-6F9BE5A68AD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 Few Basic Data Types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80E57-41C6-C550-8477-27BBF7BFFFF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int</a:t>
            </a:r>
          </a:p>
          <a:p>
            <a:pPr lvl="1"/>
            <a:r>
              <a:rPr lang="en-US" dirty="0"/>
              <a:t>An integer</a:t>
            </a:r>
          </a:p>
          <a:p>
            <a:r>
              <a:rPr lang="en-US" dirty="0"/>
              <a:t>char</a:t>
            </a:r>
          </a:p>
          <a:p>
            <a:pPr lvl="1"/>
            <a:r>
              <a:rPr lang="en-US" dirty="0"/>
              <a:t>A single byte that can store a character in ASCII</a:t>
            </a:r>
          </a:p>
          <a:p>
            <a:pPr lvl="1"/>
            <a:r>
              <a:rPr lang="en-US" dirty="0"/>
              <a:t>An 8-bit integer</a:t>
            </a:r>
          </a:p>
          <a:p>
            <a:r>
              <a:rPr lang="en-US" dirty="0"/>
              <a:t>float</a:t>
            </a:r>
          </a:p>
          <a:p>
            <a:pPr lvl="1"/>
            <a:r>
              <a:rPr lang="en-US" dirty="0"/>
              <a:t>Floating point numbers</a:t>
            </a:r>
          </a:p>
          <a:p>
            <a:endParaRPr lang="en-US" dirty="0"/>
          </a:p>
          <a:p>
            <a:r>
              <a:rPr lang="en-US" dirty="0"/>
              <a:t>Quick refresher: What is a bit and what is a byte?</a:t>
            </a:r>
          </a:p>
          <a:p>
            <a:pPr lvl="1"/>
            <a:r>
              <a:rPr lang="en-US" dirty="0"/>
              <a:t>A bit is simply a value 1 or 0.</a:t>
            </a:r>
          </a:p>
          <a:p>
            <a:pPr lvl="1"/>
            <a:r>
              <a:rPr lang="en-US" dirty="0"/>
              <a:t>A byte is  8 bits.</a:t>
            </a:r>
          </a:p>
        </p:txBody>
      </p:sp>
    </p:spTree>
    <p:extLst>
      <p:ext uri="{BB962C8B-B14F-4D97-AF65-F5344CB8AC3E}">
        <p14:creationId xmlns:p14="http://schemas.microsoft.com/office/powerpoint/2010/main" val="2279168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0C72-DFD5-2349-A237-BE88C5FD351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Constants (of basic types)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4F96-6F6C-3913-56E2-009F3E9AB3F7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Constants cannot be changed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char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'a', 'b', '\n'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integer (note that compiler stores them in binary)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200, -34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0x7fffFFFF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hex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07112     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octal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floating point numbers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3.1415, -0.34, 1.3E20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8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7591F-000B-923A-BCB4-A2A170CF902C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9DCF-A576-3A7F-0730-24CD51CC7622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Helvetica Neue"/>
              </a:rPr>
              <a:t>All variables must be declared and initialized before use</a:t>
            </a:r>
          </a:p>
          <a:p>
            <a:pPr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Helvetica Neue"/>
              </a:rPr>
              <a:t>Variable declarations specify the type and name</a:t>
            </a:r>
          </a:p>
          <a:p>
            <a:pPr lvl="1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"/>
              </a:rPr>
              <a:t>Compiler allocates memory based on type</a:t>
            </a:r>
          </a:p>
          <a:p>
            <a:pPr lvl="1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"/>
              </a:rPr>
              <a:t>Valid names consist of letters (case sensitive!), digits, and '_', but cannot start with digits</a:t>
            </a:r>
          </a:p>
          <a:p>
            <a:pPr lvl="1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"/>
              </a:rPr>
              <a:t>Multiple variables of the same type can be declared together</a:t>
            </a:r>
          </a:p>
          <a:p>
            <a:pPr lvl="1"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Helvetica Neue"/>
              </a:rPr>
              <a:t>Variables can be initialized when declared (“variable definition”) or using separate assignments</a:t>
            </a:r>
          </a:p>
          <a:p>
            <a:pPr marL="0" indent="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Helvetica Neue"/>
              </a:rPr>
              <a:t>Examples: 		     </a:t>
            </a:r>
            <a:r>
              <a:rPr lang="en-US" sz="2800" dirty="0">
                <a:latin typeface="Consolas" panose="020B0609020204030204" pitchFamily="49" charset="0"/>
              </a:rPr>
              <a:t>char c;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					int 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, j, k = 1;</a:t>
            </a:r>
          </a:p>
          <a:p>
            <a:pPr marL="0" indent="0" defTabSz="457200">
              <a:buNone/>
              <a:defRPr sz="2400">
                <a:solidFill>
                  <a:srgbClr val="E5493D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800" dirty="0">
                <a:latin typeface="Consolas" panose="020B0609020204030204" pitchFamily="49" charset="0"/>
              </a:rPr>
              <a:t>				   		float f;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85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180B-8692-2A89-6FC0-802D5758DA4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F8753-83F8-861C-85D4-5B367879E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Conventional arithmetic, bitwise, and logical operators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+  -  *  /  %  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&amp;  |  ~  ^  &lt;&lt;  &gt;&gt;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&amp;&amp; || ! </a:t>
            </a:r>
          </a:p>
          <a:p>
            <a:pPr lvl="0"/>
            <a:r>
              <a:rPr lang="en-US" dirty="0"/>
              <a:t>Pre/post increment/decrement (as in Java, C++, etc.)</a:t>
            </a:r>
          </a:p>
          <a:p>
            <a:pPr marL="3429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++  ++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j--  --j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++;		//  c will be 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- 1)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c = ++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; 		//  c will be the same as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A482E-A9A8-0D9A-B36D-78F85450AC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19"/>
          <a:stretch/>
        </p:blipFill>
        <p:spPr>
          <a:xfrm flipH="1">
            <a:off x="9286663" y="4291263"/>
            <a:ext cx="2496264" cy="1601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3BCF92-87C3-9C77-3FF8-B2F4E5666A76}"/>
              </a:ext>
            </a:extLst>
          </p:cNvPr>
          <p:cNvSpPr txBox="1"/>
          <p:nvPr/>
        </p:nvSpPr>
        <p:spPr>
          <a:xfrm>
            <a:off x="9348537" y="3971660"/>
            <a:ext cx="269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Something seems off…</a:t>
            </a:r>
          </a:p>
        </p:txBody>
      </p:sp>
    </p:spTree>
    <p:extLst>
      <p:ext uri="{BB962C8B-B14F-4D97-AF65-F5344CB8AC3E}">
        <p14:creationId xmlns:p14="http://schemas.microsoft.com/office/powerpoint/2010/main" val="176645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20E5-FB60-0D9B-C6D6-639735435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The ++ and -- Operators in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7F6EA-4B9A-E2EB-B3BD-5E2FD117C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= 4;</a:t>
            </a:r>
          </a:p>
          <a:p>
            <a:r>
              <a:rPr lang="en-US" dirty="0"/>
              <a:t>int c = </a:t>
            </a:r>
            <a:r>
              <a:rPr lang="en-US" dirty="0" err="1"/>
              <a:t>i</a:t>
            </a:r>
            <a:r>
              <a:rPr lang="en-US" dirty="0"/>
              <a:t>++;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960BC1-9267-E062-AC2E-D99B89F0F8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First set </a:t>
            </a:r>
            <a:r>
              <a:rPr lang="en-US" dirty="0" err="1"/>
              <a:t>i</a:t>
            </a:r>
            <a:r>
              <a:rPr lang="en-US" dirty="0"/>
              <a:t> to 4.</a:t>
            </a:r>
          </a:p>
          <a:p>
            <a:r>
              <a:rPr lang="en-US" dirty="0"/>
              <a:t>Second set c to same the value of </a:t>
            </a:r>
            <a:r>
              <a:rPr lang="en-US" dirty="0" err="1"/>
              <a:t>i</a:t>
            </a:r>
            <a:r>
              <a:rPr lang="en-US" dirty="0"/>
              <a:t>. So c will be 4.</a:t>
            </a:r>
          </a:p>
          <a:p>
            <a:r>
              <a:rPr lang="en-US" dirty="0"/>
              <a:t>Third add one to </a:t>
            </a:r>
            <a:r>
              <a:rPr lang="en-US" dirty="0" err="1"/>
              <a:t>i</a:t>
            </a:r>
            <a:r>
              <a:rPr lang="en-US" dirty="0"/>
              <a:t>. Now </a:t>
            </a:r>
            <a:r>
              <a:rPr lang="en-US" dirty="0" err="1"/>
              <a:t>i</a:t>
            </a:r>
            <a:r>
              <a:rPr lang="en-US" dirty="0"/>
              <a:t> will be 5.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0898B-A365-BBE9-FCCC-AC3E50FD1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681163"/>
            <a:ext cx="5183188" cy="82391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= 4;</a:t>
            </a:r>
          </a:p>
          <a:p>
            <a:r>
              <a:rPr lang="en-US" dirty="0"/>
              <a:t>int c = ++</a:t>
            </a:r>
            <a:r>
              <a:rPr lang="en-US" dirty="0" err="1"/>
              <a:t>i</a:t>
            </a:r>
            <a:r>
              <a:rPr lang="en-US" dirty="0"/>
              <a:t>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ED654-9894-9A45-1109-33F91B5DA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7" y="2505075"/>
            <a:ext cx="5183188" cy="36845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First set </a:t>
            </a:r>
            <a:r>
              <a:rPr lang="en-US" dirty="0" err="1"/>
              <a:t>i</a:t>
            </a:r>
            <a:r>
              <a:rPr lang="en-US" dirty="0"/>
              <a:t> to 4.</a:t>
            </a:r>
          </a:p>
          <a:p>
            <a:r>
              <a:rPr lang="en-US" dirty="0"/>
              <a:t>Second increment </a:t>
            </a:r>
            <a:r>
              <a:rPr lang="en-US" dirty="0" err="1"/>
              <a:t>i</a:t>
            </a:r>
            <a:r>
              <a:rPr lang="en-US" dirty="0"/>
              <a:t>. So now </a:t>
            </a:r>
            <a:r>
              <a:rPr lang="en-US" dirty="0" err="1"/>
              <a:t>i</a:t>
            </a:r>
            <a:r>
              <a:rPr lang="en-US" dirty="0"/>
              <a:t> is 5.</a:t>
            </a:r>
          </a:p>
          <a:p>
            <a:r>
              <a:rPr lang="en-US" dirty="0"/>
              <a:t>Third set c to the same value of </a:t>
            </a:r>
            <a:r>
              <a:rPr lang="en-US" dirty="0" err="1"/>
              <a:t>i</a:t>
            </a:r>
            <a:r>
              <a:rPr lang="en-US" dirty="0"/>
              <a:t>. So now c will be 5. </a:t>
            </a:r>
          </a:p>
        </p:txBody>
      </p:sp>
    </p:spTree>
    <p:extLst>
      <p:ext uri="{BB962C8B-B14F-4D97-AF65-F5344CB8AC3E}">
        <p14:creationId xmlns:p14="http://schemas.microsoft.com/office/powerpoint/2010/main" val="235938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591A-2D8C-70EF-E95F-21A951AB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Precedence and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402B-586F-BA36-9769-91E02A08D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442"/>
            <a:ext cx="10515600" cy="2457617"/>
          </a:xfrm>
        </p:spPr>
        <p:txBody>
          <a:bodyPr/>
          <a:lstStyle/>
          <a:p>
            <a:r>
              <a:rPr lang="en-US" sz="2400" dirty="0"/>
              <a:t>Precedence determines which operation is done first</a:t>
            </a:r>
          </a:p>
          <a:p>
            <a:pPr lvl="1"/>
            <a:r>
              <a:rPr lang="en-US" sz="2000" dirty="0"/>
              <a:t>If operators have the same precedence, use associativity</a:t>
            </a:r>
          </a:p>
          <a:p>
            <a:pPr lvl="1"/>
            <a:r>
              <a:rPr lang="en-US" sz="2000" dirty="0"/>
              <a:t>Use parentheses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+ j * 10 – k / 20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+ (j * 10)) – (k / 20)</a:t>
            </a:r>
          </a:p>
          <a:p>
            <a:endParaRPr lang="en-US" dirty="0"/>
          </a:p>
        </p:txBody>
      </p:sp>
      <p:sp>
        <p:nvSpPr>
          <p:cNvPr id="4" name="Shape 325">
            <a:extLst>
              <a:ext uri="{FF2B5EF4-FFF2-40B4-BE49-F238E27FC236}">
                <a16:creationId xmlns:a16="http://schemas.microsoft.com/office/drawing/2014/main" id="{FA4AAEAC-0723-FB28-D380-B321BD2B52C0}"/>
              </a:ext>
            </a:extLst>
          </p:cNvPr>
          <p:cNvSpPr/>
          <p:nvPr/>
        </p:nvSpPr>
        <p:spPr>
          <a:xfrm>
            <a:off x="450389" y="4055406"/>
            <a:ext cx="88165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2800" dirty="0"/>
              <a:t>Most</a:t>
            </a:r>
          </a:p>
        </p:txBody>
      </p:sp>
      <p:sp>
        <p:nvSpPr>
          <p:cNvPr id="5" name="Shape 326">
            <a:extLst>
              <a:ext uri="{FF2B5EF4-FFF2-40B4-BE49-F238E27FC236}">
                <a16:creationId xmlns:a16="http://schemas.microsoft.com/office/drawing/2014/main" id="{48E76998-2F9A-0EFC-284C-642E93C1E769}"/>
              </a:ext>
            </a:extLst>
          </p:cNvPr>
          <p:cNvSpPr/>
          <p:nvPr/>
        </p:nvSpPr>
        <p:spPr>
          <a:xfrm>
            <a:off x="450187" y="5996863"/>
            <a:ext cx="98264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0">
              <a:defRPr sz="1800"/>
            </a:pPr>
            <a:r>
              <a:rPr sz="2800" dirty="0"/>
              <a:t>Least</a:t>
            </a:r>
          </a:p>
        </p:txBody>
      </p:sp>
      <p:sp>
        <p:nvSpPr>
          <p:cNvPr id="6" name="Shape 327">
            <a:extLst>
              <a:ext uri="{FF2B5EF4-FFF2-40B4-BE49-F238E27FC236}">
                <a16:creationId xmlns:a16="http://schemas.microsoft.com/office/drawing/2014/main" id="{4A0AFB36-4BFC-9236-842F-86C1FBE96249}"/>
              </a:ext>
            </a:extLst>
          </p:cNvPr>
          <p:cNvSpPr/>
          <p:nvPr/>
        </p:nvSpPr>
        <p:spPr>
          <a:xfrm rot="5400000">
            <a:off x="294698" y="4919138"/>
            <a:ext cx="1193033" cy="708213"/>
          </a:xfrm>
          <a:prstGeom prst="rightArrow">
            <a:avLst>
              <a:gd name="adj1" fmla="val 36363"/>
              <a:gd name="adj2" fmla="val 69284"/>
            </a:avLst>
          </a:prstGeom>
          <a:solidFill>
            <a:srgbClr val="CBCBCB"/>
          </a:solidFill>
          <a:ln w="25400">
            <a:solidFill/>
            <a:miter lim="400000"/>
          </a:ln>
        </p:spPr>
        <p:txBody>
          <a:bodyPr lIns="38100" tIns="38100" rIns="38100" bIns="38100" anchor="ctr"/>
          <a:lstStyle/>
          <a:p>
            <a:pPr lvl="0">
              <a:defRPr sz="3400"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7A40D-6105-DACF-7068-7AA0E39CDDC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03131" y="3305128"/>
            <a:ext cx="9471422" cy="327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980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9652-A417-E9C4-8707-4B48C85D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u="sng" dirty="0"/>
              <a:t>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77D8-F2C3-3C80-51EC-49B222A21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1051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Assignment operator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LHS = Expression</a:t>
            </a:r>
          </a:p>
          <a:p>
            <a:pPr lvl="1"/>
            <a:r>
              <a:rPr lang="en-US" sz="2400" dirty="0"/>
              <a:t>LHS (Left Hand Side) is something that can be </a:t>
            </a:r>
            <a:r>
              <a:rPr lang="en-US" sz="2400" b="1" i="1" dirty="0"/>
              <a:t>written to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dirty="0" err="1"/>
              <a:t>e.g</a:t>
            </a:r>
            <a:r>
              <a:rPr lang="en-US" sz="2400" dirty="0"/>
              <a:t>, a variable)</a:t>
            </a:r>
            <a:endParaRPr lang="en-US" sz="2400" b="1" i="1" dirty="0"/>
          </a:p>
          <a:p>
            <a:pPr lvl="1"/>
            <a:r>
              <a:rPr lang="en-US" sz="2400" dirty="0"/>
              <a:t>LHS and Expression have “compatible” types</a:t>
            </a:r>
          </a:p>
          <a:p>
            <a:pPr lvl="1"/>
            <a:r>
              <a:rPr lang="en-US" sz="2400" dirty="0"/>
              <a:t>The value of Expression is assigned to LHS and becomes the value of the assignment operation</a:t>
            </a:r>
          </a:p>
          <a:p>
            <a:r>
              <a:rPr lang="en-US" dirty="0"/>
              <a:t>Compound assignment operators (+=, *=, …)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var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op=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expr					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var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=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var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op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expr</a:t>
            </a:r>
          </a:p>
          <a:p>
            <a:endParaRPr lang="en-US" dirty="0">
              <a:solidFill>
                <a:schemeClr val="accent1"/>
              </a:solidFill>
              <a:latin typeface="Consolas" panose="020B0609020204030204" pitchFamily="49" charset="0"/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99554433-08B1-94E5-1FA1-BF00881E3E64}"/>
              </a:ext>
            </a:extLst>
          </p:cNvPr>
          <p:cNvSpPr/>
          <p:nvPr/>
        </p:nvSpPr>
        <p:spPr>
          <a:xfrm>
            <a:off x="3669631" y="4457846"/>
            <a:ext cx="3625516" cy="417095"/>
          </a:xfrm>
          <a:prstGeom prst="left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7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9508-5FE3-AD04-7670-39964085E2E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Compound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462B-5419-BEC7-569F-10CA227D5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55667"/>
            <a:ext cx="10515600" cy="244558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pt-BR" dirty="0"/>
              <a:t>Examples: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  <a:latin typeface="Consolas" panose="020B0609020204030204" pitchFamily="49" charset="0"/>
              </a:rPr>
              <a:t>  a = x + y;     b = c = d = 0;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  <a:latin typeface="Consolas" panose="020B0609020204030204" pitchFamily="49" charset="0"/>
              </a:rPr>
              <a:t>  i += 10; 			</a:t>
            </a: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// i = i + 10</a:t>
            </a:r>
          </a:p>
          <a:p>
            <a:pPr marL="0" indent="0">
              <a:buNone/>
            </a:pPr>
            <a:r>
              <a:rPr lang="pt-BR" dirty="0">
                <a:solidFill>
                  <a:schemeClr val="accent1"/>
                </a:solidFill>
                <a:latin typeface="Consolas" panose="020B0609020204030204" pitchFamily="49" charset="0"/>
              </a:rPr>
              <a:t>  j *= 5;  			</a:t>
            </a:r>
            <a:r>
              <a:rPr lang="pt-BR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// j = j * 5</a:t>
            </a:r>
            <a:endParaRPr lang="pt-BR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99267-8D5D-DC6B-7C3C-38CF2ECA8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253" y="1839577"/>
            <a:ext cx="4030579" cy="22672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A4B07-2215-213F-BFC1-669D61A3887D}"/>
              </a:ext>
            </a:extLst>
          </p:cNvPr>
          <p:cNvSpPr txBox="1"/>
          <p:nvPr/>
        </p:nvSpPr>
        <p:spPr>
          <a:xfrm>
            <a:off x="3906253" y="19168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Compound Operators</a:t>
            </a:r>
          </a:p>
        </p:txBody>
      </p:sp>
    </p:spTree>
    <p:extLst>
      <p:ext uri="{BB962C8B-B14F-4D97-AF65-F5344CB8AC3E}">
        <p14:creationId xmlns:p14="http://schemas.microsoft.com/office/powerpoint/2010/main" val="2826908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98F2-D96D-3425-E4D9-955CC0D4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</a:t>
            </a:r>
            <a:r>
              <a:rPr lang="en-US" b="1" u="sng" dirty="0">
                <a:solidFill>
                  <a:srgbClr val="FF2600"/>
                </a:solidFill>
                <a:latin typeface="+mn-lt"/>
                <a:ea typeface="+mn-ea"/>
                <a:cs typeface="+mn-cs"/>
                <a:sym typeface="Helvetica Neue"/>
              </a:rPr>
              <a:t>ARE NOT</a:t>
            </a:r>
            <a:r>
              <a:rPr lang="en-US" dirty="0"/>
              <a:t>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D4ED-BBC6-A358-2252-73474E1A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Assignments are </a:t>
            </a:r>
            <a:r>
              <a:rPr lang="en-US" b="1" i="1" dirty="0">
                <a:solidFill>
                  <a:srgbClr val="0433FF"/>
                </a:solidFill>
              </a:rPr>
              <a:t>expressions</a:t>
            </a:r>
            <a:r>
              <a:rPr lang="en-US" b="1" dirty="0">
                <a:solidFill>
                  <a:srgbClr val="0433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0433FF"/>
                </a:solidFill>
              </a:rPr>
              <a:t> “=” is an operator</a:t>
            </a:r>
            <a:endParaRPr lang="en-US" i="1" dirty="0"/>
          </a:p>
          <a:p>
            <a:pPr lvl="1"/>
            <a:r>
              <a:rPr lang="en-US" dirty="0"/>
              <a:t>You can chain them!</a:t>
            </a:r>
          </a:p>
          <a:p>
            <a:pPr lvl="1"/>
            <a:r>
              <a:rPr lang="en-US" dirty="0"/>
              <a:t>You can use them inside larger expressions</a:t>
            </a:r>
          </a:p>
          <a:p>
            <a:endParaRPr lang="en-US" dirty="0"/>
          </a:p>
        </p:txBody>
      </p:sp>
      <p:sp>
        <p:nvSpPr>
          <p:cNvPr id="4" name="#include &lt;stdio.h&gt;…">
            <a:extLst>
              <a:ext uri="{FF2B5EF4-FFF2-40B4-BE49-F238E27FC236}">
                <a16:creationId xmlns:a16="http://schemas.microsoft.com/office/drawing/2014/main" id="{990CC1DC-B218-3343-81E1-6D4C9EF66AC4}"/>
              </a:ext>
            </a:extLst>
          </p:cNvPr>
          <p:cNvSpPr txBox="1"/>
          <p:nvPr/>
        </p:nvSpPr>
        <p:spPr>
          <a:xfrm>
            <a:off x="1006048" y="3871607"/>
            <a:ext cx="3480498" cy="1579920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int </a:t>
            </a:r>
            <a:r>
              <a:rPr dirty="0" err="1">
                <a:solidFill>
                  <a:srgbClr val="FF0000"/>
                </a:solidFill>
              </a:rPr>
              <a:t>a,b,c</a:t>
            </a:r>
            <a:r>
              <a:rPr dirty="0">
                <a:solidFill>
                  <a:srgbClr val="FF0000"/>
                </a:solidFill>
              </a:rPr>
              <a:t>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a = b = c = 10;</a:t>
            </a: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6A8188"/>
              </a:solidFill>
            </a:endParaRP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67DB0FD2-3D81-B8C0-0D23-E56BB09379B2}"/>
              </a:ext>
            </a:extLst>
          </p:cNvPr>
          <p:cNvSpPr/>
          <p:nvPr/>
        </p:nvSpPr>
        <p:spPr>
          <a:xfrm>
            <a:off x="4996604" y="4381036"/>
            <a:ext cx="1680307" cy="625231"/>
          </a:xfrm>
          <a:prstGeom prst="leftRightArrow">
            <a:avLst/>
          </a:prstGeom>
          <a:solidFill>
            <a:srgbClr val="CBCBCB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6" name="#include &lt;stdio.h&gt;…">
            <a:extLst>
              <a:ext uri="{FF2B5EF4-FFF2-40B4-BE49-F238E27FC236}">
                <a16:creationId xmlns:a16="http://schemas.microsoft.com/office/drawing/2014/main" id="{B8694971-D5D6-880A-FBB2-30519CD3B7CA}"/>
              </a:ext>
            </a:extLst>
          </p:cNvPr>
          <p:cNvSpPr txBox="1"/>
          <p:nvPr/>
        </p:nvSpPr>
        <p:spPr>
          <a:xfrm>
            <a:off x="7212908" y="3413861"/>
            <a:ext cx="4140892" cy="2687915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96A700"/>
              </a:solidFill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int </a:t>
            </a:r>
            <a:r>
              <a:rPr dirty="0" err="1">
                <a:solidFill>
                  <a:srgbClr val="FF0000"/>
                </a:solidFill>
              </a:rPr>
              <a:t>a,b,c</a:t>
            </a:r>
            <a:r>
              <a:rPr dirty="0">
                <a:solidFill>
                  <a:srgbClr val="FF0000"/>
                </a:solidFill>
              </a:rPr>
              <a:t>;</a:t>
            </a: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a = (b = (c = 10));</a:t>
            </a:r>
            <a:endParaRPr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c = 10;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b = 10;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a = </a:t>
            </a:r>
            <a:r>
              <a:rPr lang="en-US" dirty="0">
                <a:solidFill>
                  <a:srgbClr val="FF0000"/>
                </a:solidFill>
              </a:rPr>
              <a:t>10;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6A81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828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0032-27E6-CF1F-C87B-B1381913138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One more assignment example:</a:t>
            </a:r>
          </a:p>
        </p:txBody>
      </p:sp>
      <p:sp>
        <p:nvSpPr>
          <p:cNvPr id="3" name="#include &lt;stdio.h&gt;…">
            <a:extLst>
              <a:ext uri="{FF2B5EF4-FFF2-40B4-BE49-F238E27FC236}">
                <a16:creationId xmlns:a16="http://schemas.microsoft.com/office/drawing/2014/main" id="{9865E107-136D-F9DA-8427-A1C831FE7B85}"/>
              </a:ext>
            </a:extLst>
          </p:cNvPr>
          <p:cNvSpPr txBox="1"/>
          <p:nvPr/>
        </p:nvSpPr>
        <p:spPr>
          <a:xfrm>
            <a:off x="838200" y="2324813"/>
            <a:ext cx="4729265" cy="1579920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int </a:t>
            </a:r>
            <a:r>
              <a:rPr dirty="0" err="1">
                <a:solidFill>
                  <a:srgbClr val="FF0000"/>
                </a:solidFill>
              </a:rPr>
              <a:t>a,b,c</a:t>
            </a:r>
            <a:r>
              <a:rPr dirty="0">
                <a:solidFill>
                  <a:srgbClr val="FF0000"/>
                </a:solidFill>
              </a:rPr>
              <a:t>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a =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dirty="0">
                <a:solidFill>
                  <a:srgbClr val="FF0000"/>
                </a:solidFill>
              </a:rPr>
              <a:t>b </a:t>
            </a:r>
            <a:r>
              <a:rPr lang="en-US" dirty="0">
                <a:solidFill>
                  <a:srgbClr val="FF0000"/>
                </a:solidFill>
              </a:rPr>
              <a:t>= 2) + (</a:t>
            </a:r>
            <a:r>
              <a:rPr dirty="0">
                <a:solidFill>
                  <a:srgbClr val="FF0000"/>
                </a:solidFill>
              </a:rPr>
              <a:t>c = </a:t>
            </a:r>
            <a:r>
              <a:rPr lang="en-US" dirty="0">
                <a:solidFill>
                  <a:srgbClr val="FF0000"/>
                </a:solidFill>
              </a:rPr>
              <a:t>3)</a:t>
            </a:r>
            <a:r>
              <a:rPr dirty="0">
                <a:solidFill>
                  <a:srgbClr val="FF0000"/>
                </a:solidFill>
              </a:rPr>
              <a:t>;</a:t>
            </a: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6A8188"/>
              </a:solidFill>
            </a:endParaRP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DE5FD333-0729-D8CB-EE87-DA00A2553BEA}"/>
              </a:ext>
            </a:extLst>
          </p:cNvPr>
          <p:cNvSpPr/>
          <p:nvPr/>
        </p:nvSpPr>
        <p:spPr>
          <a:xfrm>
            <a:off x="6251266" y="2794735"/>
            <a:ext cx="1680307" cy="625231"/>
          </a:xfrm>
          <a:prstGeom prst="leftRightArrow">
            <a:avLst/>
          </a:prstGeom>
          <a:solidFill>
            <a:srgbClr val="CBCBCB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5" name="#include &lt;stdio.h&gt;…">
            <a:extLst>
              <a:ext uri="{FF2B5EF4-FFF2-40B4-BE49-F238E27FC236}">
                <a16:creationId xmlns:a16="http://schemas.microsoft.com/office/drawing/2014/main" id="{72538B1B-77FC-48A1-E6B3-873930C0C119}"/>
              </a:ext>
            </a:extLst>
          </p:cNvPr>
          <p:cNvSpPr txBox="1"/>
          <p:nvPr/>
        </p:nvSpPr>
        <p:spPr>
          <a:xfrm>
            <a:off x="8425257" y="1955482"/>
            <a:ext cx="2847438" cy="2318583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96A700"/>
              </a:solidFill>
            </a:endParaRP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dirty="0">
                <a:solidFill>
                  <a:srgbClr val="FF0000"/>
                </a:solidFill>
              </a:rPr>
              <a:t>int </a:t>
            </a:r>
            <a:r>
              <a:rPr dirty="0" err="1">
                <a:solidFill>
                  <a:srgbClr val="FF0000"/>
                </a:solidFill>
              </a:rPr>
              <a:t>a,b,c</a:t>
            </a:r>
            <a:r>
              <a:rPr dirty="0">
                <a:solidFill>
                  <a:srgbClr val="FF0000"/>
                </a:solidFill>
              </a:rPr>
              <a:t>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b</a:t>
            </a:r>
            <a:r>
              <a:rPr dirty="0">
                <a:solidFill>
                  <a:srgbClr val="FF0000"/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2; 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c</a:t>
            </a:r>
            <a:r>
              <a:rPr dirty="0">
                <a:solidFill>
                  <a:srgbClr val="FF0000"/>
                </a:solidFill>
              </a:rPr>
              <a:t> =</a:t>
            </a:r>
            <a:r>
              <a:rPr lang="en-US" dirty="0">
                <a:solidFill>
                  <a:srgbClr val="FF0000"/>
                </a:solidFill>
              </a:rPr>
              <a:t> 3;</a:t>
            </a: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>
                <a:solidFill>
                  <a:srgbClr val="FF0000"/>
                </a:solidFill>
              </a:rPr>
              <a:t>	a</a:t>
            </a:r>
            <a:r>
              <a:rPr dirty="0">
                <a:solidFill>
                  <a:srgbClr val="FF0000"/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b + c</a:t>
            </a:r>
            <a:r>
              <a:rPr dirty="0">
                <a:solidFill>
                  <a:srgbClr val="FF0000"/>
                </a:solidFill>
              </a:rPr>
              <a:t>;</a:t>
            </a:r>
            <a:endParaRPr lang="en-US" dirty="0">
              <a:solidFill>
                <a:srgbClr val="FF0000"/>
              </a:solidFill>
            </a:endParaRPr>
          </a:p>
          <a:p>
            <a:pPr algn="l" defTabSz="457200">
              <a:defRPr sz="24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>
              <a:solidFill>
                <a:srgbClr val="6A8188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E771A7-2298-B7B3-9435-A69AFCB922FB}"/>
              </a:ext>
            </a:extLst>
          </p:cNvPr>
          <p:cNvSpPr txBox="1">
            <a:spLocks/>
          </p:cNvSpPr>
          <p:nvPr/>
        </p:nvSpPr>
        <p:spPr>
          <a:xfrm>
            <a:off x="697831" y="4908190"/>
            <a:ext cx="10515600" cy="13255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i="1" dirty="0"/>
              <a:t>Open question: would this be considered good practice?</a:t>
            </a:r>
          </a:p>
        </p:txBody>
      </p:sp>
    </p:spTree>
    <p:extLst>
      <p:ext uri="{BB962C8B-B14F-4D97-AF65-F5344CB8AC3E}">
        <p14:creationId xmlns:p14="http://schemas.microsoft.com/office/powerpoint/2010/main" val="27451894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1317-AF21-DA86-C52E-E122F758E43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Coding Assignment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4C461C-B766-3A00-E4A1-04E8497B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3074"/>
            <a:ext cx="554355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DFB0DE6-93BE-61A2-03EF-4CF76F044EF4}"/>
              </a:ext>
            </a:extLst>
          </p:cNvPr>
          <p:cNvSpPr/>
          <p:nvPr/>
        </p:nvSpPr>
        <p:spPr>
          <a:xfrm>
            <a:off x="6529137" y="3549316"/>
            <a:ext cx="1195137" cy="930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0F29C-AEFC-35DA-F37E-3C5F74D844CD}"/>
              </a:ext>
            </a:extLst>
          </p:cNvPr>
          <p:cNvSpPr/>
          <p:nvPr/>
        </p:nvSpPr>
        <p:spPr>
          <a:xfrm>
            <a:off x="7871661" y="3152273"/>
            <a:ext cx="3192379" cy="18448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a=2</a:t>
            </a:r>
          </a:p>
        </p:txBody>
      </p:sp>
    </p:spTree>
    <p:extLst>
      <p:ext uri="{BB962C8B-B14F-4D97-AF65-F5344CB8AC3E}">
        <p14:creationId xmlns:p14="http://schemas.microsoft.com/office/powerpoint/2010/main" val="192392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CC59-972C-A09C-8C4B-CC4F1E57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Lecture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AEF048-9175-9D24-34E7-69A02B16336C}"/>
              </a:ext>
            </a:extLst>
          </p:cNvPr>
          <p:cNvSpPr/>
          <p:nvPr/>
        </p:nvSpPr>
        <p:spPr>
          <a:xfrm>
            <a:off x="694268" y="1460499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trike="sngStrike" dirty="0"/>
              <a:t>1. Static and Dynamic Typing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9C8DB3-7343-DF1F-C9EB-36CE504B2F83}"/>
              </a:ext>
            </a:extLst>
          </p:cNvPr>
          <p:cNvSpPr/>
          <p:nvPr/>
        </p:nvSpPr>
        <p:spPr>
          <a:xfrm>
            <a:off x="694268" y="2480732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strike="sngStrike" dirty="0"/>
              <a:t>2. Expressions and Operators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A9CDA0-083E-D9B1-5FAD-9BB3BDC7F9D3}"/>
              </a:ext>
            </a:extLst>
          </p:cNvPr>
          <p:cNvSpPr/>
          <p:nvPr/>
        </p:nvSpPr>
        <p:spPr>
          <a:xfrm>
            <a:off x="694268" y="3547532"/>
            <a:ext cx="10917766" cy="9059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3. Memory for Data Types and Characters</a:t>
            </a:r>
          </a:p>
        </p:txBody>
      </p:sp>
    </p:spTree>
    <p:extLst>
      <p:ext uri="{BB962C8B-B14F-4D97-AF65-F5344CB8AC3E}">
        <p14:creationId xmlns:p14="http://schemas.microsoft.com/office/powerpoint/2010/main" val="1138402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4F80-6DAC-0F1D-93D9-571F5CFC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Integer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BE156-F8F4-F931-7109-8737801831D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char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short int      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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    short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long int       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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    long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long 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long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 int  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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long </a:t>
            </a:r>
            <a:r>
              <a:rPr lang="en-US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long</a:t>
            </a:r>
            <a:endParaRPr lang="en-US" sz="3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And unsigned versions like “</a:t>
            </a:r>
            <a:r>
              <a:rPr lang="en-US" dirty="0">
                <a:solidFill>
                  <a:srgbClr val="FF0000"/>
                </a:solidFill>
              </a:rPr>
              <a:t>unsigned char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”, “</a:t>
            </a:r>
            <a:r>
              <a:rPr lang="en-US" dirty="0">
                <a:solidFill>
                  <a:srgbClr val="FF0000"/>
                </a:solidFill>
              </a:rPr>
              <a:t>unsigned short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”, etc.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many bytes does each take?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Depends on CPU architecture and compiler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18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8627-59B1-3872-1577-4876ACEDDD1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Consider x86_64 (64-bit architecture)</a:t>
            </a:r>
          </a:p>
        </p:txBody>
      </p:sp>
      <p:graphicFrame>
        <p:nvGraphicFramePr>
          <p:cNvPr id="6" name="Table">
            <a:extLst>
              <a:ext uri="{FF2B5EF4-FFF2-40B4-BE49-F238E27FC236}">
                <a16:creationId xmlns:a16="http://schemas.microsoft.com/office/drawing/2014/main" id="{9DB7CBA6-E554-B7AB-526A-DE78406116EC}"/>
              </a:ext>
            </a:extLst>
          </p:cNvPr>
          <p:cNvGraphicFramePr/>
          <p:nvPr/>
        </p:nvGraphicFramePr>
        <p:xfrm>
          <a:off x="357242" y="1876590"/>
          <a:ext cx="11477516" cy="4507080"/>
        </p:xfrm>
        <a:graphic>
          <a:graphicData uri="http://schemas.openxmlformats.org/drawingml/2006/table">
            <a:tbl>
              <a:tblPr firstRow="1" firstCol="1"/>
              <a:tblGrid>
                <a:gridCol w="2698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size (in bits)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signed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>
                          <a:sym typeface="Helvetica Neue Light"/>
                        </a:rPr>
                        <a:t>unsigned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2800">
                          <a:sym typeface="Helvetica Neue Light"/>
                        </a:rPr>
                        <a:t>8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char
-128 .. 127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unsigned char
0..255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2800">
                          <a:sym typeface="Helvetica Neue Light"/>
                        </a:rPr>
                        <a:t>16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short
-32768..32767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unsigned short
0..65535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2800">
                          <a:sym typeface="Helvetica Neue Light"/>
                        </a:rPr>
                        <a:t>32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int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 - 2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..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- 1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unsigned int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0..2</a:t>
                      </a:r>
                      <a:r>
                        <a:rPr sz="2000" baseline="31999"/>
                        <a:t>32</a:t>
                      </a:r>
                      <a:r>
                        <a:rPr sz="2000"/>
                        <a:t>-1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64</a:t>
                      </a:r>
                    </a:p>
                  </a:txBody>
                  <a:tcPr marL="25400" marR="25400" marT="25400" marB="25400" anchor="ctr" horzOverflow="overflow">
                    <a:solidFill>
                      <a:schemeClr val="accent1">
                        <a:satOff val="-3355"/>
                        <a:lumOff val="2661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long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- 2</a:t>
                      </a:r>
                      <a:r>
                        <a:rPr sz="2000" baseline="31999"/>
                        <a:t>63</a:t>
                      </a:r>
                      <a:r>
                        <a:rPr sz="2000"/>
                        <a:t> .. 2</a:t>
                      </a:r>
                      <a:r>
                        <a:rPr sz="2000" baseline="31999"/>
                        <a:t>63</a:t>
                      </a:r>
                      <a:r>
                        <a:rPr sz="2000"/>
                        <a:t> - 1</a:t>
                      </a:r>
                    </a:p>
                  </a:txBody>
                  <a:tcPr marL="38100" marR="38100" marT="38100" marB="38100" anchor="ctr" horzOverflow="overflow">
                    <a:solidFill>
                      <a:schemeClr val="accent1">
                        <a:satOff val="-3355"/>
                        <a:lumOff val="2661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unsigned long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0..2</a:t>
                      </a:r>
                      <a:r>
                        <a:rPr sz="2000" baseline="31999" dirty="0"/>
                        <a:t>64</a:t>
                      </a:r>
                      <a:r>
                        <a:rPr sz="2000" dirty="0"/>
                        <a:t> -1</a:t>
                      </a:r>
                    </a:p>
                  </a:txBody>
                  <a:tcPr marL="38100" marR="38100" marT="38100" marB="38100" anchor="ctr" horzOverflow="overflow">
                    <a:solidFill>
                      <a:schemeClr val="accent1">
                        <a:satOff val="-3355"/>
                        <a:lumOff val="2661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64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long </a:t>
                      </a:r>
                      <a:r>
                        <a:rPr sz="2000" dirty="0" err="1"/>
                        <a:t>long</a:t>
                      </a:r>
                      <a:endParaRPr sz="2000" dirty="0"/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- 2</a:t>
                      </a:r>
                      <a:r>
                        <a:rPr sz="2000" baseline="31999" dirty="0"/>
                        <a:t>63</a:t>
                      </a:r>
                      <a:r>
                        <a:rPr sz="2000" dirty="0"/>
                        <a:t> .. 2</a:t>
                      </a:r>
                      <a:r>
                        <a:rPr sz="2000" baseline="31999" dirty="0"/>
                        <a:t>63</a:t>
                      </a:r>
                      <a:r>
                        <a:rPr sz="2000" dirty="0"/>
                        <a:t> - 1</a:t>
                      </a: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unsigned long </a:t>
                      </a:r>
                      <a:r>
                        <a:rPr sz="2000" dirty="0" err="1"/>
                        <a:t>long</a:t>
                      </a:r>
                      <a:endParaRPr sz="2000" dirty="0"/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0..2</a:t>
                      </a:r>
                      <a:r>
                        <a:rPr sz="2000" baseline="31999" dirty="0"/>
                        <a:t>64</a:t>
                      </a:r>
                      <a:r>
                        <a:rPr sz="2000" dirty="0"/>
                        <a:t> -1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816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0A79-DD11-DFFF-AE73-8975FF2DFE81}"/>
              </a:ext>
            </a:extLst>
          </p:cNvPr>
          <p:cNvSpPr>
            <a:spLocks noGrp="1"/>
          </p:cNvSpPr>
          <p:nvPr>
            <p:ph type="title"/>
          </p:nvPr>
        </p:nvSpPr>
        <p:spPr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Consider i386 (32-bit architecture)</a:t>
            </a:r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BBBD6F7B-465D-C7AF-1798-495609D9452C}"/>
              </a:ext>
            </a:extLst>
          </p:cNvPr>
          <p:cNvGraphicFramePr/>
          <p:nvPr/>
        </p:nvGraphicFramePr>
        <p:xfrm>
          <a:off x="222585" y="1835921"/>
          <a:ext cx="11477516" cy="4507080"/>
        </p:xfrm>
        <a:graphic>
          <a:graphicData uri="http://schemas.openxmlformats.org/drawingml/2006/table">
            <a:tbl>
              <a:tblPr firstRow="1" firstCol="1"/>
              <a:tblGrid>
                <a:gridCol w="2698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1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200" dirty="0">
                          <a:sym typeface="Helvetica Neue Light"/>
                        </a:rPr>
                        <a:t>size (in bits)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200">
                          <a:sym typeface="Helvetica Neue Light"/>
                        </a:rPr>
                        <a:t>signed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200">
                          <a:sym typeface="Helvetica Neue Light"/>
                        </a:rPr>
                        <a:t>unsigned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3200" dirty="0">
                          <a:sym typeface="Helvetica Neue Light"/>
                        </a:rPr>
                        <a:t>8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char
-128 .. 127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unsigned char
0..255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3200">
                          <a:sym typeface="Helvetica Neue Light"/>
                        </a:rPr>
                        <a:t>16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dirty="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short
-32768..32767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unsigned short
0..65535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3200">
                          <a:sym typeface="Helvetica Neue Light"/>
                        </a:rPr>
                        <a:t>32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int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 - 2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..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- 1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unsigned int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0..2</a:t>
                      </a:r>
                      <a:r>
                        <a:rPr sz="2000" baseline="31999"/>
                        <a:t>32</a:t>
                      </a:r>
                      <a:r>
                        <a:rPr sz="2000"/>
                        <a:t>-1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3200" dirty="0">
                          <a:sym typeface="Helvetica Neue Light"/>
                        </a:rPr>
                        <a:t>32</a:t>
                      </a:r>
                    </a:p>
                  </a:txBody>
                  <a:tcPr marL="25400" marR="25400" marT="25400" marB="25400" anchor="ctr" horzOverflow="overflow">
                    <a:solidFill>
                      <a:schemeClr val="accent5">
                        <a:hueOff val="-444211"/>
                        <a:satOff val="-14915"/>
                        <a:lumOff val="2285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long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 - 2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.. 2</a:t>
                      </a:r>
                      <a:r>
                        <a:rPr sz="2000" baseline="31999" dirty="0"/>
                        <a:t>31</a:t>
                      </a:r>
                      <a:r>
                        <a:rPr sz="2000" dirty="0"/>
                        <a:t> - 1</a:t>
                      </a:r>
                    </a:p>
                  </a:txBody>
                  <a:tcPr marL="38100" marR="38100" marT="38100" marB="38100" anchor="ctr" horzOverflow="overflow">
                    <a:solidFill>
                      <a:schemeClr val="accent5">
                        <a:hueOff val="-444211"/>
                        <a:satOff val="-14915"/>
                        <a:lumOff val="2285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unsigned long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0..2</a:t>
                      </a:r>
                      <a:r>
                        <a:rPr sz="2000" baseline="31999" dirty="0"/>
                        <a:t>32</a:t>
                      </a:r>
                      <a:r>
                        <a:rPr sz="2000" dirty="0"/>
                        <a:t>-1</a:t>
                      </a:r>
                    </a:p>
                  </a:txBody>
                  <a:tcPr marL="38100" marR="38100" marT="38100" marB="38100" anchor="ctr" horzOverflow="overflow">
                    <a:solidFill>
                      <a:schemeClr val="accent5">
                        <a:hueOff val="-444211"/>
                        <a:satOff val="-14915"/>
                        <a:lumOff val="2285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1180">
                <a:tc>
                  <a:txBody>
                    <a:bodyPr/>
                    <a:lstStyle/>
                    <a:p>
                      <a:pPr algn="ctr" defTabSz="914400">
                        <a:tabLst>
                          <a:tab pos="1168400" algn="l"/>
                        </a:tabLst>
                        <a:defRPr sz="1800"/>
                      </a:pPr>
                      <a:r>
                        <a:rPr sz="3200" dirty="0">
                          <a:sym typeface="Helvetica Neue Light"/>
                        </a:rPr>
                        <a:t>64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long long</a:t>
                      </a:r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/>
                        <a:t>- 2</a:t>
                      </a:r>
                      <a:r>
                        <a:rPr sz="2000" baseline="31999"/>
                        <a:t>63</a:t>
                      </a:r>
                      <a:r>
                        <a:rPr sz="2000"/>
                        <a:t> .. 2</a:t>
                      </a:r>
                      <a:r>
                        <a:rPr sz="2000" baseline="31999"/>
                        <a:t>63</a:t>
                      </a:r>
                      <a:r>
                        <a:rPr sz="2000"/>
                        <a:t> - 1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unsigned long </a:t>
                      </a:r>
                      <a:r>
                        <a:rPr sz="2000" dirty="0" err="1"/>
                        <a:t>long</a:t>
                      </a:r>
                      <a:endParaRPr sz="2000" dirty="0"/>
                    </a:p>
                    <a:p>
                      <a:pPr algn="ctr">
                        <a:defRPr sz="21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2000" dirty="0"/>
                        <a:t>0..2</a:t>
                      </a:r>
                      <a:r>
                        <a:rPr sz="2000" baseline="31999" dirty="0"/>
                        <a:t>64</a:t>
                      </a:r>
                      <a:r>
                        <a:rPr sz="2000" dirty="0"/>
                        <a:t> -1</a:t>
                      </a:r>
                    </a:p>
                  </a:txBody>
                  <a:tcPr marL="38100" marR="38100" marT="38100" marB="3810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447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22930-C8E7-3AE9-1C29-29422D0F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623" y="3216483"/>
            <a:ext cx="8562474" cy="894306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indent="0" algn="ctr">
              <a:buNone/>
            </a:pPr>
            <a:r>
              <a:rPr lang="en-US" dirty="0"/>
              <a:t>Answer: Read and memorize the hardware manual for every computer architecture design from 1980 onward.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872BA0-30A5-7C2B-4F44-9105029D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How to determine memory (space) requirements when running my program?</a:t>
            </a:r>
          </a:p>
        </p:txBody>
      </p:sp>
      <p:pic>
        <p:nvPicPr>
          <p:cNvPr id="1026" name="Picture 2" descr="Apple II Basic Programming Manual Vtg PC Computer 1980s Guide Book 1981 |  Basic programming, Apple ii, Computer books">
            <a:extLst>
              <a:ext uri="{FF2B5EF4-FFF2-40B4-BE49-F238E27FC236}">
                <a16:creationId xmlns:a16="http://schemas.microsoft.com/office/drawing/2014/main" id="{B810588F-19F8-EE6D-5B7C-84ABC76D5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78" y="2089484"/>
            <a:ext cx="2358697" cy="349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73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861C-1625-AE74-132E-7518E421DA7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How much space?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90EE9-48DA-85FE-F92E-929DFE1D35D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lvl="0"/>
            <a:r>
              <a:rPr lang="en-US" dirty="0"/>
              <a:t>How to determine the amount of space for some type?</a:t>
            </a:r>
          </a:p>
          <a:p>
            <a:pPr lvl="0"/>
            <a:r>
              <a:rPr lang="en-US" dirty="0"/>
              <a:t>Operator </a:t>
            </a:r>
            <a:r>
              <a:rPr lang="en-US" dirty="0" err="1">
                <a:solidFill>
                  <a:schemeClr val="accent1"/>
                </a:solidFill>
              </a:rPr>
              <a:t>sizeof</a:t>
            </a:r>
            <a:r>
              <a:rPr lang="en-US" dirty="0"/>
              <a:t> gives </a:t>
            </a:r>
            <a:r>
              <a:rPr lang="en-US" dirty="0">
                <a:solidFill>
                  <a:schemeClr val="accent1"/>
                </a:solidFill>
              </a:rPr>
              <a:t>the number of bytes</a:t>
            </a:r>
            <a:r>
              <a:rPr lang="en-US" dirty="0"/>
              <a:t> needed for a type or a variable</a:t>
            </a:r>
          </a:p>
          <a:p>
            <a:pPr lvl="1"/>
            <a:r>
              <a:rPr lang="en-US" dirty="0"/>
              <a:t>You will need this later to dynamically allocate space!</a:t>
            </a:r>
          </a:p>
          <a:p>
            <a:pPr marL="0" lvl="0" indent="0">
              <a:buNone/>
            </a:pPr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(T)</a:t>
            </a:r>
          </a:p>
          <a:p>
            <a:pPr marL="0" indent="0">
              <a:buNone/>
            </a:pPr>
            <a:endParaRPr lang="en-US" sz="32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Examples: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int 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 err="1">
                <a:latin typeface="Consolas" panose="020B0609020204030204" pitchFamily="49" charset="0"/>
              </a:rPr>
              <a:t>sizeof</a:t>
            </a:r>
            <a:r>
              <a:rPr lang="en-US" sz="2800" dirty="0">
                <a:latin typeface="Consolas" panose="020B0609020204030204" pitchFamily="49" charset="0"/>
              </a:rPr>
              <a:t>(int);  </a:t>
            </a:r>
            <a:r>
              <a:rPr lang="en-US" sz="2800" dirty="0" err="1">
                <a:latin typeface="Consolas" panose="020B0609020204030204" pitchFamily="49" charset="0"/>
              </a:rPr>
              <a:t>sizeof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i</a:t>
            </a:r>
            <a:r>
              <a:rPr lang="en-US" sz="2800" dirty="0">
                <a:latin typeface="Consolas" panose="020B0609020204030204" pitchFamily="49" charset="0"/>
              </a:rPr>
              <a:t>); 	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4 on the machines we use in this course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70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D289-61B3-CCC6-D065-0950AFBCCF9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An Example Code to Check 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01B5-9A23-CF36-B857-9E0679D9A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/>
              <a:t>What will be printed?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BA9C7-EA38-25D7-D27B-AE32FE56B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6" y="2403031"/>
            <a:ext cx="5380873" cy="4044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667CCE0-2C39-6A31-A4DC-89F9A0A599D0}"/>
              </a:ext>
            </a:extLst>
          </p:cNvPr>
          <p:cNvSpPr/>
          <p:nvPr/>
        </p:nvSpPr>
        <p:spPr>
          <a:xfrm>
            <a:off x="6308558" y="3781926"/>
            <a:ext cx="894347" cy="834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6B792C-5EFD-CB87-0342-8E3FA9E8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544" y="4593065"/>
            <a:ext cx="2857500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8E62A3-38F8-E7AF-F804-3635EBC877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202" y="3935047"/>
            <a:ext cx="36703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5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530E-08B0-8CBD-B0E4-9DA6E452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7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Character (char)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3A7B-FC18-65B5-5461-22280AEFC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895" y="1667776"/>
            <a:ext cx="5783179" cy="48879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char has 8 bits (a byte)</a:t>
            </a:r>
          </a:p>
          <a:p>
            <a:r>
              <a:rPr lang="en-US" sz="2800" dirty="0">
                <a:solidFill>
                  <a:srgbClr val="0070C0"/>
                </a:solidFill>
              </a:rPr>
              <a:t>ASCII code</a:t>
            </a:r>
          </a:p>
          <a:p>
            <a:pPr lvl="1"/>
            <a:r>
              <a:rPr lang="en-US" sz="2800" dirty="0"/>
              <a:t>Characters are mapped to an integer in 0..127</a:t>
            </a:r>
          </a:p>
          <a:p>
            <a:pPr lvl="1"/>
            <a:r>
              <a:rPr lang="en-US" sz="2800" dirty="0"/>
              <a:t>An ASCII character can be stored in char</a:t>
            </a:r>
          </a:p>
          <a:p>
            <a:r>
              <a:rPr lang="en-US" sz="2800" dirty="0">
                <a:solidFill>
                  <a:srgbClr val="0070C0"/>
                </a:solidFill>
              </a:rPr>
              <a:t>Classes in ASCII</a:t>
            </a:r>
          </a:p>
          <a:p>
            <a:pPr lvl="1"/>
            <a:r>
              <a:rPr lang="en-US" sz="2800" dirty="0"/>
              <a:t>0..31: “Control” character (aka, non-printable)</a:t>
            </a:r>
          </a:p>
          <a:p>
            <a:pPr lvl="1"/>
            <a:r>
              <a:rPr lang="en-US" sz="2800" dirty="0"/>
              <a:t>48..57: Digits</a:t>
            </a:r>
          </a:p>
          <a:p>
            <a:pPr lvl="1"/>
            <a:r>
              <a:rPr lang="en-US" sz="2800" dirty="0"/>
              <a:t>65..90: Upper case letters</a:t>
            </a:r>
          </a:p>
          <a:p>
            <a:pPr lvl="1"/>
            <a:r>
              <a:rPr lang="en-US" sz="2800" dirty="0"/>
              <a:t>97..122: Lower case letters</a:t>
            </a:r>
          </a:p>
          <a:p>
            <a:endParaRPr lang="en-US" dirty="0"/>
          </a:p>
        </p:txBody>
      </p:sp>
      <p:pic>
        <p:nvPicPr>
          <p:cNvPr id="4" name="Screen Shot 2014-06-24 at 7.19.05 PM.png" descr="Screen Shot 2014-06-24 at 7.19.05 PM.png">
            <a:extLst>
              <a:ext uri="{FF2B5EF4-FFF2-40B4-BE49-F238E27FC236}">
                <a16:creationId xmlns:a16="http://schemas.microsoft.com/office/drawing/2014/main" id="{45CF1FFF-C0B6-8A19-D79E-79FCAF400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4" t="1010" r="1961" b="1412"/>
          <a:stretch>
            <a:fillRect/>
          </a:stretch>
        </p:blipFill>
        <p:spPr>
          <a:xfrm>
            <a:off x="7141033" y="1568950"/>
            <a:ext cx="4176672" cy="5085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99"/>
                </a:lnTo>
                <a:lnTo>
                  <a:pt x="0" y="21600"/>
                </a:lnTo>
                <a:lnTo>
                  <a:pt x="4487" y="21600"/>
                </a:lnTo>
                <a:lnTo>
                  <a:pt x="8974" y="21600"/>
                </a:lnTo>
                <a:lnTo>
                  <a:pt x="8974" y="10799"/>
                </a:lnTo>
                <a:lnTo>
                  <a:pt x="8974" y="0"/>
                </a:lnTo>
                <a:lnTo>
                  <a:pt x="4487" y="0"/>
                </a:lnTo>
                <a:lnTo>
                  <a:pt x="0" y="0"/>
                </a:lnTo>
                <a:close/>
                <a:moveTo>
                  <a:pt x="9744" y="0"/>
                </a:moveTo>
                <a:lnTo>
                  <a:pt x="9744" y="10799"/>
                </a:lnTo>
                <a:lnTo>
                  <a:pt x="9743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5672" y="0"/>
                </a:lnTo>
                <a:lnTo>
                  <a:pt x="9744" y="0"/>
                </a:ln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00011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0145-DBA4-5B8F-71EF-D99209E0CEA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BA87-B183-4595-9ECC-59D3BA595D9A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sz="2800" dirty="0"/>
              <a:t>65..90: Upper case letters</a:t>
            </a:r>
          </a:p>
          <a:p>
            <a:r>
              <a:rPr lang="en-US" dirty="0"/>
              <a:t>The character ‘H’ is none other than …. 72</a:t>
            </a:r>
          </a:p>
          <a:p>
            <a:endParaRPr lang="en-US" dirty="0"/>
          </a:p>
          <a:p>
            <a:pPr lvl="0"/>
            <a:r>
              <a:rPr lang="en-US" dirty="0"/>
              <a:t>Observe how…</a:t>
            </a:r>
          </a:p>
          <a:p>
            <a:pPr lvl="1"/>
            <a:r>
              <a:rPr lang="en-US" dirty="0"/>
              <a:t>‘0’ through ‘9’ are consecutive!</a:t>
            </a:r>
          </a:p>
          <a:p>
            <a:pPr lvl="1"/>
            <a:r>
              <a:rPr lang="en-US" dirty="0"/>
              <a:t>‘A’ through ‘Z’ are consecutive!</a:t>
            </a:r>
          </a:p>
          <a:p>
            <a:pPr lvl="1"/>
            <a:r>
              <a:rPr lang="en-US" dirty="0"/>
              <a:t>‘a’ through ‘z’ are consecutive!</a:t>
            </a:r>
          </a:p>
          <a:p>
            <a:pPr marL="0" lvl="0" indent="0" defTabSz="457200">
              <a:buNone/>
              <a:defRPr sz="1800"/>
            </a:pPr>
            <a:endParaRPr lang="en-US" sz="2800" dirty="0">
              <a:solidFill>
                <a:srgbClr val="7F87CF"/>
              </a:solidFill>
              <a:latin typeface="Consolas" panose="020B0609020204030204" pitchFamily="49" charset="0"/>
              <a:ea typeface="Courier"/>
              <a:cs typeface="Courier"/>
              <a:sym typeface="Courier"/>
            </a:endParaRPr>
          </a:p>
          <a:p>
            <a:pPr marL="0" lvl="0" indent="0" defTabSz="457200">
              <a:buNone/>
              <a:defRPr sz="1800"/>
            </a:pPr>
            <a:r>
              <a:rPr lang="en-US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char </a:t>
            </a:r>
            <a:r>
              <a:rPr lang="pl-PL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ch = </a:t>
            </a:r>
            <a:r>
              <a:rPr lang="en-US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'8'</a:t>
            </a:r>
            <a:r>
              <a:rPr lang="pl-PL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</a:p>
          <a:p>
            <a:pPr marL="0" lvl="0" indent="0" defTabSz="457200">
              <a:buNone/>
              <a:defRPr sz="1800"/>
            </a:pPr>
            <a:r>
              <a:rPr lang="pl-PL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int </a:t>
            </a:r>
            <a:r>
              <a:rPr lang="en-US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 </a:t>
            </a:r>
            <a:r>
              <a:rPr lang="pl-PL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x = ch – </a:t>
            </a:r>
            <a:r>
              <a:rPr lang="en-US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'0'</a:t>
            </a:r>
            <a:r>
              <a:rPr lang="pl-PL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;</a:t>
            </a:r>
            <a:r>
              <a:rPr lang="en-US" sz="2800" dirty="0">
                <a:solidFill>
                  <a:srgbClr val="7F87CF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	  	</a:t>
            </a:r>
            <a:r>
              <a:rPr lang="en-US" sz="2800" dirty="0">
                <a:solidFill>
                  <a:srgbClr val="C00000"/>
                </a:solidFill>
                <a:latin typeface="Consolas" panose="020B0609020204030204" pitchFamily="49" charset="0"/>
                <a:ea typeface="Courier"/>
                <a:cs typeface="Courier"/>
                <a:sym typeface="Courier"/>
              </a:rPr>
              <a:t>// What is the value of x?</a:t>
            </a:r>
            <a:endParaRPr lang="en-US" sz="1600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19584-44C2-AB6F-78DA-4E982CE28F5E}"/>
              </a:ext>
            </a:extLst>
          </p:cNvPr>
          <p:cNvSpPr txBox="1"/>
          <p:nvPr/>
        </p:nvSpPr>
        <p:spPr>
          <a:xfrm>
            <a:off x="6958264" y="3005213"/>
            <a:ext cx="4242867" cy="18261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Want to see ASCII table in your terminal?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man ascii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Consolas" panose="020B0609020204030204" pitchFamily="49" charset="0"/>
              <a:cs typeface="Arial" panose="020B0604020202020204" pitchFamily="34" charset="0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599161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343F1-B853-405B-645C-11307E0B6B5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Non-printable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0979-E68F-2F28-B882-FF3FDE497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sometimes useful</a:t>
            </a:r>
          </a:p>
          <a:p>
            <a:pPr lvl="1"/>
            <a:r>
              <a:rPr lang="en-US" dirty="0"/>
              <a:t>Showing the constant  (literal)</a:t>
            </a:r>
          </a:p>
          <a:p>
            <a:endParaRPr lang="en-US" dirty="0"/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2626834C-D32E-7B94-EFDC-3F52620567A2}"/>
              </a:ext>
            </a:extLst>
          </p:cNvPr>
          <p:cNvGraphicFramePr/>
          <p:nvPr/>
        </p:nvGraphicFramePr>
        <p:xfrm>
          <a:off x="2724722" y="2803358"/>
          <a:ext cx="7466025" cy="3881997"/>
        </p:xfrm>
        <a:graphic>
          <a:graphicData uri="http://schemas.openxmlformats.org/drawingml/2006/table">
            <a:tbl>
              <a:tblPr/>
              <a:tblGrid>
                <a:gridCol w="189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\n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>
                          <a:sym typeface="Helvetica Neue Light"/>
                        </a:rPr>
                        <a:t>newline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\r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>
                          <a:sym typeface="Helvetica Neue Light"/>
                        </a:rPr>
                        <a:t>carriage-return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\f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>
                          <a:sym typeface="Helvetica Neue Light"/>
                        </a:rPr>
                        <a:t>form-feed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\t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tabulation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\b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backspace</a:t>
                      </a: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\x7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audible bell</a:t>
                      </a:r>
                      <a:r>
                        <a:rPr lang="en-US" sz="2800" dirty="0">
                          <a:sym typeface="Helvetica Neue Light"/>
                        </a:rPr>
                        <a:t> (x</a:t>
                      </a:r>
                      <a:r>
                        <a:rPr lang="en-US" sz="2800" baseline="0" dirty="0">
                          <a:sym typeface="Helvetica Neue Light"/>
                        </a:rPr>
                        <a:t> indicates hexadecimal)</a:t>
                      </a:r>
                      <a:endParaRPr sz="28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3200111839"/>
                  </a:ext>
                </a:extLst>
              </a:tr>
              <a:tr h="55457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\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0</a:t>
                      </a:r>
                      <a:r>
                        <a:rPr sz="2800" dirty="0">
                          <a:latin typeface="Consolas" panose="020B0609020204030204" pitchFamily="49" charset="0"/>
                          <a:sym typeface="Helvetica Neue Light"/>
                        </a:rPr>
                        <a:t>7</a:t>
                      </a:r>
                      <a:r>
                        <a:rPr lang="en-US" sz="2800" dirty="0">
                          <a:latin typeface="Consolas" panose="020B0609020204030204" pitchFamily="49" charset="0"/>
                          <a:sym typeface="Helvetica Neue Light"/>
                        </a:rPr>
                        <a:t>'</a:t>
                      </a:r>
                      <a:endParaRPr sz="2800" dirty="0">
                        <a:latin typeface="Consolas" panose="020B0609020204030204" pitchFamily="49" charset="0"/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dirty="0">
                          <a:sym typeface="Helvetica Neue Light"/>
                        </a:rPr>
                        <a:t>audible bell</a:t>
                      </a:r>
                      <a:r>
                        <a:rPr lang="en-US" sz="2800" dirty="0">
                          <a:sym typeface="Helvetica Neue Light"/>
                        </a:rPr>
                        <a:t> (0</a:t>
                      </a:r>
                      <a:r>
                        <a:rPr lang="en-US" sz="2800" baseline="0" dirty="0">
                          <a:sym typeface="Helvetica Neue Light"/>
                        </a:rPr>
                        <a:t> indicates octal)</a:t>
                      </a:r>
                      <a:endParaRPr sz="2800" dirty="0">
                        <a:sym typeface="Helvetica Neue Light"/>
                      </a:endParaRPr>
                    </a:p>
                  </a:txBody>
                  <a:tcPr marL="38100" marR="38100" marT="38100" marB="38100" anchor="ctr" horzOverflow="overflow"/>
                </a:tc>
                <a:extLst>
                  <a:ext uri="{0D108BD9-81ED-4DB2-BD59-A6C34878D82A}">
                    <a16:rowId xmlns:a16="http://schemas.microsoft.com/office/drawing/2014/main" val="301282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71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9950-DCD3-DE70-50BD-D7E0EA97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104"/>
            <a:ext cx="10515600" cy="132556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Printing Code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10812-70B5-632E-2C11-D0885C29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7" y="2169694"/>
            <a:ext cx="6304872" cy="38814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231B7B8-A22F-42F0-28D5-45BE33373A99}"/>
              </a:ext>
            </a:extLst>
          </p:cNvPr>
          <p:cNvSpPr/>
          <p:nvPr/>
        </p:nvSpPr>
        <p:spPr>
          <a:xfrm>
            <a:off x="6587290" y="3634369"/>
            <a:ext cx="793224" cy="8166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74183A-1F79-0724-85E7-8A6DE6A8ED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375" y="3634369"/>
            <a:ext cx="4602635" cy="68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4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4469-9B5B-1195-31CC-91AF461996C1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Automatic Type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06A7-2745-FDEC-2127-A8BBE3BACCFE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When an operator has operands of different types, the operands are </a:t>
            </a:r>
            <a:r>
              <a:rPr lang="en-US" b="1" dirty="0"/>
              <a:t>automatically</a:t>
            </a:r>
            <a:r>
              <a:rPr lang="en-US" dirty="0"/>
              <a:t> converted to a common type by the compiler</a:t>
            </a:r>
          </a:p>
          <a:p>
            <a:pPr lvl="1"/>
            <a:r>
              <a:rPr lang="en-US" dirty="0"/>
              <a:t>In general, a lower rank operand is converted into the type of the higher rank one, where </a:t>
            </a:r>
          </a:p>
          <a:p>
            <a:pPr marL="3429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  char &lt; short &lt; int &lt; long &lt; long </a:t>
            </a:r>
            <a:r>
              <a:rPr lang="en-US" dirty="0" err="1">
                <a:solidFill>
                  <a:srgbClr val="0070C0"/>
                </a:solidFill>
              </a:rPr>
              <a:t>long</a:t>
            </a:r>
            <a:r>
              <a:rPr lang="en-US" dirty="0">
                <a:solidFill>
                  <a:srgbClr val="0070C0"/>
                </a:solidFill>
              </a:rPr>
              <a:t> &lt; float &lt; double &lt; long double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 gets converted to double before performing the addition in the expression </a:t>
            </a:r>
            <a:r>
              <a:rPr lang="en-US" dirty="0">
                <a:solidFill>
                  <a:srgbClr val="FF0000"/>
                </a:solidFill>
              </a:rPr>
              <a:t>1 + 2.5</a:t>
            </a:r>
            <a:endParaRPr lang="en-US" dirty="0"/>
          </a:p>
          <a:p>
            <a:r>
              <a:rPr lang="en-US" dirty="0"/>
              <a:t>Automatic conversion can also occur across assignments</a:t>
            </a:r>
          </a:p>
          <a:p>
            <a:pPr lvl="1"/>
            <a:r>
              <a:rPr lang="en-US" dirty="0"/>
              <a:t>The value of the expression on right hand side may be </a:t>
            </a:r>
            <a:r>
              <a:rPr lang="en-US" b="1" dirty="0"/>
              <a:t>widened</a:t>
            </a:r>
            <a:r>
              <a:rPr lang="en-US" dirty="0"/>
              <a:t> to the type of the LHS, e.g.,  </a:t>
            </a:r>
            <a:r>
              <a:rPr lang="en-US" dirty="0">
                <a:solidFill>
                  <a:srgbClr val="FF0000"/>
                </a:solidFill>
              </a:rPr>
              <a:t>double d = 1;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800" dirty="0"/>
              <a:t>Or </a:t>
            </a:r>
            <a:r>
              <a:rPr lang="en-US" sz="2800" b="1" dirty="0"/>
              <a:t>narrowed</a:t>
            </a:r>
            <a:r>
              <a:rPr lang="en-US" sz="2800" dirty="0"/>
              <a:t> (possibly with information loss), e.g.,  </a:t>
            </a:r>
            <a:r>
              <a:rPr lang="en-US" sz="2800" dirty="0">
                <a:solidFill>
                  <a:srgbClr val="FF0000"/>
                </a:solidFill>
              </a:rPr>
              <a:t>int </a:t>
            </a:r>
            <a:r>
              <a:rPr lang="en-US" sz="2800" dirty="0" err="1">
                <a:solidFill>
                  <a:srgbClr val="FF0000"/>
                </a:solidFill>
              </a:rPr>
              <a:t>i</a:t>
            </a:r>
            <a:r>
              <a:rPr lang="en-US" sz="2800" dirty="0">
                <a:solidFill>
                  <a:srgbClr val="FF0000"/>
                </a:solidFill>
              </a:rPr>
              <a:t> = 2.5;</a:t>
            </a:r>
          </a:p>
          <a:p>
            <a:r>
              <a:rPr lang="en-US" sz="2800" dirty="0">
                <a:solidFill>
                  <a:srgbClr val="0070C0"/>
                </a:solidFill>
              </a:rPr>
              <a:t>Read the book for more details!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273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D1EE-83B6-7A7C-340D-FC2B1312E90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Type Conversion Example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73A9C-3264-B454-AC3E-874F29E3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36" y="2163679"/>
            <a:ext cx="5791200" cy="3581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DB4B97D5-A75C-2248-A64A-88F1CDCC5063}"/>
              </a:ext>
            </a:extLst>
          </p:cNvPr>
          <p:cNvSpPr/>
          <p:nvPr/>
        </p:nvSpPr>
        <p:spPr>
          <a:xfrm>
            <a:off x="6657474" y="3400926"/>
            <a:ext cx="1050758" cy="7700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B67D0-D45C-4E0A-F572-A1C1A886D2F9}"/>
              </a:ext>
            </a:extLst>
          </p:cNvPr>
          <p:cNvSpPr txBox="1"/>
          <p:nvPr/>
        </p:nvSpPr>
        <p:spPr>
          <a:xfrm>
            <a:off x="7924799" y="3416968"/>
            <a:ext cx="1772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7356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D1EE-83B6-7A7C-340D-FC2B1312E90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Type Conversion Example 2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B4B97D5-A75C-2248-A64A-88F1CDCC5063}"/>
              </a:ext>
            </a:extLst>
          </p:cNvPr>
          <p:cNvSpPr/>
          <p:nvPr/>
        </p:nvSpPr>
        <p:spPr>
          <a:xfrm>
            <a:off x="6657474" y="3400926"/>
            <a:ext cx="1050758" cy="7700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B67D0-D45C-4E0A-F572-A1C1A886D2F9}"/>
              </a:ext>
            </a:extLst>
          </p:cNvPr>
          <p:cNvSpPr txBox="1"/>
          <p:nvPr/>
        </p:nvSpPr>
        <p:spPr>
          <a:xfrm>
            <a:off x="7928810" y="3416968"/>
            <a:ext cx="1772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0.5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D0EA0-8673-3034-D5A7-040054C28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5" y="2261185"/>
            <a:ext cx="6086475" cy="3667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27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F787-AEFD-B552-57EB-74DCE2209BD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Would this work?</a:t>
            </a:r>
          </a:p>
        </p:txBody>
      </p:sp>
      <p:sp>
        <p:nvSpPr>
          <p:cNvPr id="4" name="int x = 10;…">
            <a:extLst>
              <a:ext uri="{FF2B5EF4-FFF2-40B4-BE49-F238E27FC236}">
                <a16:creationId xmlns:a16="http://schemas.microsoft.com/office/drawing/2014/main" id="{006CB3CA-B762-B6F0-BBE8-E593B880FB30}"/>
              </a:ext>
            </a:extLst>
          </p:cNvPr>
          <p:cNvSpPr txBox="1"/>
          <p:nvPr/>
        </p:nvSpPr>
        <p:spPr>
          <a:xfrm>
            <a:off x="3348702" y="1909431"/>
            <a:ext cx="5935328" cy="841256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ctr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 z = (double)(x / y)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6983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8CEE-260D-0D94-F1A2-0A9D166E499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What About Booleans?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19878-A96B-6DDF-4F57-C26190C68AA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 K&amp;R and C89/C90 do not have a Boolean data type</a:t>
            </a:r>
          </a:p>
          <a:p>
            <a:pPr lvl="1"/>
            <a:r>
              <a:rPr lang="en-US" dirty="0"/>
              <a:t>0 “means” FALSE and anything else “means” TRUE</a:t>
            </a:r>
          </a:p>
          <a:p>
            <a:pPr lvl="1"/>
            <a:r>
              <a:rPr lang="en-US" dirty="0"/>
              <a:t>Common to use int or char to store Boolean values and define convenience macros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C99 introduced _Bool</a:t>
            </a:r>
            <a:endParaRPr lang="en-US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A variable of _Bool type is either 0 or 1</a:t>
            </a:r>
          </a:p>
          <a:p>
            <a:endParaRPr lang="en-US" dirty="0"/>
          </a:p>
        </p:txBody>
      </p:sp>
      <p:sp>
        <p:nvSpPr>
          <p:cNvPr id="4" name="#define TRUE  1…">
            <a:extLst>
              <a:ext uri="{FF2B5EF4-FFF2-40B4-BE49-F238E27FC236}">
                <a16:creationId xmlns:a16="http://schemas.microsoft.com/office/drawing/2014/main" id="{9F85C953-0986-A289-C54E-5CA5DE124CE8}"/>
              </a:ext>
            </a:extLst>
          </p:cNvPr>
          <p:cNvSpPr txBox="1"/>
          <p:nvPr/>
        </p:nvSpPr>
        <p:spPr>
          <a:xfrm>
            <a:off x="3405533" y="2939715"/>
            <a:ext cx="5035289" cy="1579920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/>
              <a:t>#define BOOL   char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dirty="0"/>
              <a:t>#define TRUE</a:t>
            </a:r>
            <a:r>
              <a:rPr lang="en-US" sz="3200" dirty="0"/>
              <a:t>		</a:t>
            </a:r>
            <a:r>
              <a:rPr sz="3200" dirty="0"/>
              <a:t>1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dirty="0"/>
              <a:t>#define FALSE 	0</a:t>
            </a:r>
          </a:p>
        </p:txBody>
      </p:sp>
    </p:spTree>
    <p:extLst>
      <p:ext uri="{BB962C8B-B14F-4D97-AF65-F5344CB8AC3E}">
        <p14:creationId xmlns:p14="http://schemas.microsoft.com/office/powerpoint/2010/main" val="9349012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59F7-1EF0-9174-9A95-E6C08B467563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Integers of specific sizes (C99)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843F0-D4E0-1C03-B6DA-E216C18E9988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</a:t>
            </a:r>
            <a:r>
              <a:rPr lang="en-US" dirty="0" err="1">
                <a:latin typeface="Consolas" panose="020B0609020204030204" pitchFamily="49" charset="0"/>
              </a:rPr>
              <a:t>stdint.h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int8_t 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signed 8 bits integers</a:t>
            </a:r>
            <a:endParaRPr lang="fr-F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int16_t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int32_t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int64_t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uint8_t       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unsigned 8 bits integers</a:t>
            </a:r>
            <a:endParaRPr lang="fr-FR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uint16_t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uint32_t</a:t>
            </a:r>
          </a:p>
          <a:p>
            <a:pPr marL="0" indent="0">
              <a:buNone/>
            </a:pPr>
            <a:r>
              <a:rPr lang="fr-FR" dirty="0">
                <a:latin typeface="Consolas" panose="020B0609020204030204" pitchFamily="49" charset="0"/>
              </a:rPr>
              <a:t>uint64_t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// Many projects have their own *standard* types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0156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F46A-FFA3-371C-170E-D19975D19E0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D65B-4CFB-3CD0-2AFF-72F2EFFA730C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/>
              <a:t>String is not a basic type</a:t>
            </a:r>
          </a:p>
          <a:p>
            <a:r>
              <a:rPr lang="en-US" dirty="0"/>
              <a:t>A string is an array of characters</a:t>
            </a:r>
          </a:p>
          <a:p>
            <a:pPr lvl="1"/>
            <a:r>
              <a:rPr lang="en-US" dirty="0"/>
              <a:t>Will be discussed more later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"Hello world!\n"</a:t>
            </a: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"Hello " "world!\n"   </a:t>
            </a:r>
            <a:r>
              <a:rPr lang="en-US" sz="3200" dirty="0">
                <a:solidFill>
                  <a:srgbClr val="0365C0"/>
                </a:solidFill>
                <a:latin typeface="Consolas" panose="020B0609020204030204" pitchFamily="49" charset="0"/>
                <a:sym typeface="Courier"/>
              </a:rPr>
              <a:t>// Useful for long strings</a:t>
            </a: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"It's \"Mickey\"\n"   </a:t>
            </a:r>
            <a:r>
              <a:rPr lang="en-US" sz="3200" dirty="0">
                <a:solidFill>
                  <a:srgbClr val="0365C0"/>
                </a:solidFill>
                <a:latin typeface="Consolas" panose="020B0609020204030204" pitchFamily="49" charset="0"/>
                <a:sym typeface="Courier"/>
              </a:rPr>
              <a:t>// Escape double quotations</a:t>
            </a:r>
          </a:p>
          <a:p>
            <a:pPr marL="0" indent="0">
              <a:buNone/>
            </a:pPr>
            <a:r>
              <a:rPr lang="en-US" sz="3200" dirty="0">
                <a:latin typeface="Consolas" panose="020B0609020204030204" pitchFamily="49" charset="0"/>
              </a:rPr>
              <a:t>"A bell \007\n"       </a:t>
            </a:r>
            <a:r>
              <a:rPr lang="en-US" sz="3200" dirty="0">
                <a:solidFill>
                  <a:srgbClr val="0365C0"/>
                </a:solidFill>
                <a:latin typeface="Consolas" panose="020B0609020204030204" pitchFamily="49" charset="0"/>
                <a:sym typeface="Courier"/>
              </a:rPr>
              <a:t>// Can use ASCII code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13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05D1-7963-4701-C9D8-2FDF9DC58AF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Be careful mixing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08DF-1CEF-E2D9-BC31-4B32D838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results may not be as expected!</a:t>
            </a:r>
          </a:p>
          <a:p>
            <a:pPr lvl="1"/>
            <a:r>
              <a:rPr lang="en-US" dirty="0"/>
              <a:t>What is the size (in bits) of each operand?</a:t>
            </a:r>
          </a:p>
          <a:p>
            <a:pPr lvl="1"/>
            <a:r>
              <a:rPr lang="en-US" dirty="0"/>
              <a:t>Are your operands signed or unsigned ?</a:t>
            </a:r>
          </a:p>
          <a:p>
            <a:endParaRPr lang="en-US" dirty="0"/>
          </a:p>
        </p:txBody>
      </p:sp>
      <p:sp>
        <p:nvSpPr>
          <p:cNvPr id="10" name="#define TRUE  1…">
            <a:extLst>
              <a:ext uri="{FF2B5EF4-FFF2-40B4-BE49-F238E27FC236}">
                <a16:creationId xmlns:a16="http://schemas.microsoft.com/office/drawing/2014/main" id="{6C6ABDAC-4B55-C1EE-EC11-A8C00C6F5F37}"/>
              </a:ext>
            </a:extLst>
          </p:cNvPr>
          <p:cNvSpPr txBox="1"/>
          <p:nvPr/>
        </p:nvSpPr>
        <p:spPr>
          <a:xfrm>
            <a:off x="658855" y="3320136"/>
            <a:ext cx="4917320" cy="2687915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_Bool b1;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char  b2, b3;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int	</a:t>
            </a:r>
            <a:r>
              <a:rPr lang="en-US" dirty="0" err="1"/>
              <a:t>i</a:t>
            </a:r>
            <a:r>
              <a:rPr lang="en-US" dirty="0"/>
              <a:t> = 256; // 0x100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dirty="0"/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b1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b2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algn="l" defTabSz="457200">
              <a:defRPr sz="24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dirty="0"/>
              <a:t>b3 = </a:t>
            </a:r>
            <a:r>
              <a:rPr lang="en-US" dirty="0" err="1"/>
              <a:t>i</a:t>
            </a:r>
            <a:r>
              <a:rPr lang="en-US" dirty="0"/>
              <a:t> != 0;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CCCEC-988D-C05D-A328-87C6A11FA9D5}"/>
              </a:ext>
            </a:extLst>
          </p:cNvPr>
          <p:cNvSpPr txBox="1"/>
          <p:nvPr/>
        </p:nvSpPr>
        <p:spPr>
          <a:xfrm>
            <a:off x="5794491" y="3475553"/>
            <a:ext cx="6362082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b1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1 because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not 0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b2 is 0 because lowest 8 bits in 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i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 Light"/>
              </a:rPr>
              <a:t> are 0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b3 is 1 because </a:t>
            </a:r>
            <a:r>
              <a:rPr lang="en-US" sz="28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not 0</a:t>
            </a: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 Light"/>
            </a:endParaRPr>
          </a:p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want b2 or b3?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154770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DB09-8905-429B-9F56-234F9EE9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Figure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1E7B0-0BE8-47C7-8EC6-28421CE5E87F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endParaRPr lang="en-US" dirty="0">
              <a:hlinkClick r:id="rId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https://i.imgflip.com/5wgm69.jpg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https://upload.wikimedia.org/wikipedia/commons/thumb/e/e0/SNice.svg/800px-SNice.svg.png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https://i.imgflip.com/1rflc0.jpg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https://st.depositphotos.com/1726977/1219/i/450/depositphotos_12193152-stock-photo-boney-skeleton-hands-working-a.jpg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4"/>
              </a:rPr>
              <a:t>https://sonder.com.au/wp-content/uploads/2020/10/quality-over-quantity-blog@2x.png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https://i.pinimg.com/736x/8b/f2/2a/8bf22a209224c73dd1618d6c12f2474d--basic-programming-apple-ii.jpg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6"/>
              </a:rPr>
              <a:t>https://humornama.com/wp-content/uploads/2020/12/You-Are-A-Good-Question-meme-template-of-Tanu-Weds-Manu-Returns-1024x576.jpg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3027</TotalTime>
  <Words>2201</Words>
  <Application>Microsoft Macintosh PowerPoint</Application>
  <PresentationFormat>Widescreen</PresentationFormat>
  <Paragraphs>358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-apple-system</vt:lpstr>
      <vt:lpstr>Arial</vt:lpstr>
      <vt:lpstr>Calibri</vt:lpstr>
      <vt:lpstr>Calibri Light</vt:lpstr>
      <vt:lpstr>Consolas</vt:lpstr>
      <vt:lpstr>Courier</vt:lpstr>
      <vt:lpstr>Helvetica Neue</vt:lpstr>
      <vt:lpstr>Helvetica Neue Light</vt:lpstr>
      <vt:lpstr>Office Theme</vt:lpstr>
      <vt:lpstr>CSE 3100: Systems Programming</vt:lpstr>
      <vt:lpstr>Lecture Overview</vt:lpstr>
      <vt:lpstr>Recall: What did an expression look like in Python?</vt:lpstr>
      <vt:lpstr>What does an expression look like in C?</vt:lpstr>
      <vt:lpstr>Tough Question Time: In Python can you tell if x, s and d are  the same data type?</vt:lpstr>
      <vt:lpstr>What about in C?</vt:lpstr>
      <vt:lpstr>Typing for expressions</vt:lpstr>
      <vt:lpstr>What is an advantage of a statically typed language?</vt:lpstr>
      <vt:lpstr>What is an advantage of a statically typed language?</vt:lpstr>
      <vt:lpstr>Where is the error in our code?</vt:lpstr>
      <vt:lpstr>Where is the error in our code?</vt:lpstr>
      <vt:lpstr>What would happen if we try the same code in C?</vt:lpstr>
      <vt:lpstr>Trying to compile wrongly typed C code:</vt:lpstr>
      <vt:lpstr>Statically Typed Languages</vt:lpstr>
      <vt:lpstr>Lecture Overview</vt:lpstr>
      <vt:lpstr>Expressions in C</vt:lpstr>
      <vt:lpstr>A Few Basic Data Types in C</vt:lpstr>
      <vt:lpstr>Constants (of basic types)</vt:lpstr>
      <vt:lpstr>Variables</vt:lpstr>
      <vt:lpstr>Operators</vt:lpstr>
      <vt:lpstr>The ++ and -- Operators in Practice</vt:lpstr>
      <vt:lpstr>Precedence and associativity</vt:lpstr>
      <vt:lpstr>Assignment operators</vt:lpstr>
      <vt:lpstr>Compound Operators</vt:lpstr>
      <vt:lpstr>Assignments ARE NOT Statements</vt:lpstr>
      <vt:lpstr>One more assignment example:</vt:lpstr>
      <vt:lpstr>Coding Assignment Example</vt:lpstr>
      <vt:lpstr>Lecture Overview</vt:lpstr>
      <vt:lpstr>Integer Data Types</vt:lpstr>
      <vt:lpstr>Consider x86_64 (64-bit architecture)</vt:lpstr>
      <vt:lpstr>Consider i386 (32-bit architecture)</vt:lpstr>
      <vt:lpstr>How to determine memory (space) requirements when running my program?</vt:lpstr>
      <vt:lpstr>How much space?</vt:lpstr>
      <vt:lpstr>An Example Code to Check Equality</vt:lpstr>
      <vt:lpstr>Character (char) Data Type</vt:lpstr>
      <vt:lpstr>So…</vt:lpstr>
      <vt:lpstr>Non-printable characters</vt:lpstr>
      <vt:lpstr>Printing Code Example</vt:lpstr>
      <vt:lpstr>Automatic Type Conversion</vt:lpstr>
      <vt:lpstr>Type Conversion Example 1</vt:lpstr>
      <vt:lpstr>Type Conversion Example 2</vt:lpstr>
      <vt:lpstr>Would this work?</vt:lpstr>
      <vt:lpstr>What About Booleans?</vt:lpstr>
      <vt:lpstr>Integers of specific sizes (C99)</vt:lpstr>
      <vt:lpstr>Strings</vt:lpstr>
      <vt:lpstr>Be careful mixing types</vt:lpstr>
      <vt:lpstr>Figure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3100: Systems Programming</dc:title>
  <dc:creator>Mahmood, Kaleel</dc:creator>
  <cp:lastModifiedBy>Zhang, Wei</cp:lastModifiedBy>
  <cp:revision>47</cp:revision>
  <dcterms:created xsi:type="dcterms:W3CDTF">2023-08-30T01:19:10Z</dcterms:created>
  <dcterms:modified xsi:type="dcterms:W3CDTF">2026-01-28T13:48:37Z</dcterms:modified>
</cp:coreProperties>
</file>