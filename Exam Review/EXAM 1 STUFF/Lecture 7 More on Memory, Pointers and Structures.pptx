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467" r:id="rId3"/>
    <p:sldId id="297" r:id="rId4"/>
    <p:sldId id="268" r:id="rId5"/>
    <p:sldId id="269" r:id="rId6"/>
    <p:sldId id="294" r:id="rId7"/>
    <p:sldId id="295" r:id="rId8"/>
    <p:sldId id="296" r:id="rId9"/>
    <p:sldId id="46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4" r:id="rId25"/>
    <p:sldId id="316" r:id="rId26"/>
    <p:sldId id="313" r:id="rId27"/>
    <p:sldId id="317" r:id="rId28"/>
    <p:sldId id="469" r:id="rId29"/>
    <p:sldId id="318" r:id="rId30"/>
    <p:sldId id="319" r:id="rId31"/>
    <p:sldId id="321" r:id="rId32"/>
    <p:sldId id="322" r:id="rId33"/>
    <p:sldId id="323" r:id="rId34"/>
    <p:sldId id="324" r:id="rId35"/>
    <p:sldId id="325" r:id="rId36"/>
    <p:sldId id="320" r:id="rId37"/>
    <p:sldId id="26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5781" autoAdjust="0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3A924-CE97-425A-A786-AE2D571B426D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F7F85-2320-42D5-873B-256BB844E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4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9D25-0B7F-B1CE-F52E-9BA180E51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0CE05-F75B-02D8-8A30-411F81134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4BF1-9131-BA65-857F-63169ABE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73C87-2B46-7F2A-D54F-B103EEB8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D531-CF50-EC02-D54F-90E5EF8A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9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4AE6-9797-FAFB-9776-3EDFC4AC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A617-9364-9892-D582-FA6A4C2DF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AB2B4-E407-7F20-2C03-3B9DEAA8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3465-F846-7A57-19E5-49775734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23432-705B-6524-3DA0-8955FF24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DD7B-EA2B-C58F-AC77-970C87C40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26374-B654-3D23-541D-35D8ACFBA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52D59-73F1-E990-97F9-26327F3C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C0430-3B2D-BB17-5CC8-1630F0F8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DA0FA-1DBA-CDD7-C34F-85772723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1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3800-5D5C-B70A-E398-0969312EC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52DBC-6D25-AF9C-A3DC-A94E0C8B2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E3C90-3909-A1E9-2AD8-1E22515C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35C4D-B429-57CF-1265-831FD1E1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6525F-FD69-74B8-5A7C-A93FB8C7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4C3E4-1EBF-7DAB-A0AC-A900BC04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7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D59C-4559-6D15-7730-DDCAC53A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EAB68-959E-B80E-E31C-BE1FC1E07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012B4-AC8E-A924-A4EB-4D9BD2988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F1374-4DF5-5DBF-D35B-F374C4A20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AD48C-1E35-C57C-D264-0706F96A0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B0A3E-A8B0-DACB-6187-46541889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14AE0-77CB-BC60-82FE-A9DC042B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DA030-00D2-34B9-4173-6A7B2308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2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C08D-4DED-F266-A1DB-A9284FD7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9A5C6-B5AC-CB1E-C483-C271866B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D328F-0119-811E-2172-E4F3E69D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A8566-40F3-1633-2B6B-D768D90B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7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8AC85-0553-EA33-E5A4-3FF985C56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E5CCA-3103-DB17-B61A-06494BEF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77A18-20AB-3E58-510F-7FCF4BC9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9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1EBF-410F-B5E9-5501-4CC5623B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7C07-E3C8-3CA6-FCCD-BE3D6996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800DF-3EF7-E8B2-4756-1E233BB3D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91134-9D61-11BC-13D9-CF67C8E1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921C1-8889-DDB0-C723-1AFBE307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ACF56-AEAE-7DD8-6F62-A5BDAEEC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36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757-32A7-35AE-29F5-E312AE05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62C0F-D056-223D-88F6-61C6D78BB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5E826-965D-A19B-F233-CBAC7BB06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48648-211E-CBEE-C76E-DC9313E4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187EC-4639-A166-253E-C1D61199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5C077-D90B-1D7E-83D9-5B88D79B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2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5B39-EE3B-FFD3-2F5E-EA7ED296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BB011-3B4A-9402-46B3-26A1773AD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7EAC-12DD-271D-B44B-6A2ACC3AD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6B88-1849-5016-6D8C-25D348960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2FB27-6A09-5D3C-ACAE-2962A672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5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3E93C-2C00-2AE1-994A-BE27EBE2B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92ECD-3BA7-D54F-15BA-433730C2E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2040E-C9C2-B662-63C1-8F5D2975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9B1C-0772-CFAD-1394-DD0380F0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89A3A-49EA-15D6-85ED-B3A582AD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1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23662-4C2E-DFA0-219E-2458A105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CB472-9163-5518-643D-4735C1C25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7181-79B3-4EFB-12A9-FE54C0578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572BF-C76E-4508-9D8B-FECC02DEE63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DDE42-872E-A541-37C2-C737F2B19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814DC-6659-CF02-0983-BC526E1D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4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img.memegenerator.net/instances/62930796.jpg" TargetMode="External"/><Relationship Id="rId2" Type="http://schemas.openxmlformats.org/officeDocument/2006/relationships/hyperlink" Target="https://i.kym-cdn.com/photos/images/newsfeed/001/608/838/9f2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grammerhumor.io/wp-content/uploads/2023/01/programmerhumor-io-python-memes-backend-memes-e1c8fbd8d3296f0-608x596.jpg" TargetMode="External"/><Relationship Id="rId5" Type="http://schemas.openxmlformats.org/officeDocument/2006/relationships/hyperlink" Target="https://mediaproxy.salon.com/width/1200/https:/media.salon.com/2013/07/2001_monolith.jpg" TargetMode="External"/><Relationship Id="rId4" Type="http://schemas.openxmlformats.org/officeDocument/2006/relationships/hyperlink" Target="https://i.kym-cdn.com/entries/icons/original/000/028/596/dsmGaKWMeHXe9QuJtq_ys30PNfTGnMsRuHuo_MUzGCg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3100: Systems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/>
              <a:t>Department </a:t>
            </a:r>
            <a:r>
              <a:rPr lang="en-US" dirty="0"/>
              <a:t>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853241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/>
              <a:t>Lecture 7 : More on Memory, Pointers and Structures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ACF0-B36E-0605-F6A0-C285873D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666"/>
            <a:ext cx="10515600" cy="1325563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Array Memory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5E5307-D978-36AF-F83D-D0EFD2AA9642}"/>
              </a:ext>
            </a:extLst>
          </p:cNvPr>
          <p:cNvSpPr txBox="1">
            <a:spLocks/>
          </p:cNvSpPr>
          <p:nvPr/>
        </p:nvSpPr>
        <p:spPr>
          <a:xfrm>
            <a:off x="838200" y="2958517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Pointer Arithmetic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651BD0-BD73-02F8-B368-60BA8DB8612E}"/>
              </a:ext>
            </a:extLst>
          </p:cNvPr>
          <p:cNvSpPr txBox="1">
            <a:spLocks/>
          </p:cNvSpPr>
          <p:nvPr/>
        </p:nvSpPr>
        <p:spPr>
          <a:xfrm>
            <a:off x="838200" y="4505368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E9ABD-F746-5DC7-FA40-E4329743A79B}"/>
              </a:ext>
            </a:extLst>
          </p:cNvPr>
          <p:cNvSpPr txBox="1"/>
          <p:nvPr/>
        </p:nvSpPr>
        <p:spPr>
          <a:xfrm>
            <a:off x="2147792" y="259847"/>
            <a:ext cx="81056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u="sng" dirty="0"/>
              <a:t>More on Memory Lecture Topics</a:t>
            </a:r>
          </a:p>
        </p:txBody>
      </p:sp>
    </p:spTree>
    <p:extLst>
      <p:ext uri="{BB962C8B-B14F-4D97-AF65-F5344CB8AC3E}">
        <p14:creationId xmlns:p14="http://schemas.microsoft.com/office/powerpoint/2010/main" val="3811406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E136-3177-5A44-38B2-C62AA7FB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941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Review from last lecture: Memory Allocation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DCEC02-9681-FF36-00F8-D20BA4B06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8476"/>
            <a:ext cx="9845893" cy="50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38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E136-3177-5A44-38B2-C62AA7FB223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Review from last lecture: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E05B-6EC3-A7AB-9036-5931A6926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3047"/>
            <a:ext cx="10515600" cy="279739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Two ways to create arrays:</a:t>
            </a:r>
          </a:p>
          <a:p>
            <a:pPr marL="514350" indent="-514350">
              <a:buAutoNum type="arabicPeriod"/>
            </a:pPr>
            <a:r>
              <a:rPr lang="en-US" dirty="0"/>
              <a:t>int x[3];</a:t>
            </a:r>
          </a:p>
          <a:p>
            <a:pPr marL="514350" indent="-514350">
              <a:buAutoNum type="arabicPeriod"/>
            </a:pPr>
            <a:r>
              <a:rPr lang="en-US" dirty="0"/>
              <a:t>int *x =  malloc(</a:t>
            </a:r>
            <a:r>
              <a:rPr lang="en-US" dirty="0" err="1"/>
              <a:t>sizeof</a:t>
            </a:r>
            <a:r>
              <a:rPr lang="en-US" dirty="0"/>
              <a:t>(int) * 3)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In functions why would we want to use malloc over the “[]” approach?</a:t>
            </a:r>
          </a:p>
        </p:txBody>
      </p:sp>
    </p:spTree>
    <p:extLst>
      <p:ext uri="{BB962C8B-B14F-4D97-AF65-F5344CB8AC3E}">
        <p14:creationId xmlns:p14="http://schemas.microsoft.com/office/powerpoint/2010/main" val="115358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96A65F-8133-CD47-296C-D491EC7E6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30" y="3253380"/>
            <a:ext cx="3643508" cy="24272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1D28A7-9D50-0CDC-689B-60A92825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426" y="167083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i="1" dirty="0"/>
              <a:t>In functions why would we want to use malloc over the “[]” approach?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5373C-F0F3-A423-403F-0A807A7FF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718" y="1730688"/>
            <a:ext cx="7027082" cy="498392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When we declare arrays in functions with the “[]” approach that memory is allocated from the stack. </a:t>
            </a:r>
          </a:p>
          <a:p>
            <a:r>
              <a:rPr lang="en-US" dirty="0"/>
              <a:t>The stack is a FIXED size, so we could actually run out of memory in a function call if we use an especially large “[]” array. </a:t>
            </a:r>
          </a:p>
          <a:p>
            <a:r>
              <a:rPr lang="en-US" dirty="0"/>
              <a:t>The heap is not a fixed size and in general larger.</a:t>
            </a:r>
          </a:p>
          <a:p>
            <a:r>
              <a:rPr lang="en-US" dirty="0"/>
              <a:t>Also extremely important: we cannot take non-static stack variables outside of the function call, like we can with malloc…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60E1E-93C2-BB2A-E3DA-8D39ED0E07DB}"/>
              </a:ext>
            </a:extLst>
          </p:cNvPr>
          <p:cNvSpPr txBox="1"/>
          <p:nvPr/>
        </p:nvSpPr>
        <p:spPr>
          <a:xfrm>
            <a:off x="959532" y="5143648"/>
            <a:ext cx="1173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Heap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B1E63-0013-F407-D885-2E431405208C}"/>
              </a:ext>
            </a:extLst>
          </p:cNvPr>
          <p:cNvSpPr txBox="1"/>
          <p:nvPr/>
        </p:nvSpPr>
        <p:spPr>
          <a:xfrm>
            <a:off x="469330" y="2698126"/>
            <a:ext cx="3643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Car Salesman: *slaps roof of heap*</a:t>
            </a:r>
          </a:p>
          <a:p>
            <a:pPr algn="ctr"/>
            <a:r>
              <a:rPr lang="en-US" sz="1400" dirty="0"/>
              <a:t>“This bad boy can hold so many arrays in it”</a:t>
            </a:r>
          </a:p>
        </p:txBody>
      </p:sp>
    </p:spTree>
    <p:extLst>
      <p:ext uri="{BB962C8B-B14F-4D97-AF65-F5344CB8AC3E}">
        <p14:creationId xmlns:p14="http://schemas.microsoft.com/office/powerpoint/2010/main" val="294733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B2AB-E16E-4D12-A5AB-BF7F6067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55" y="270788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Question: What will this code print 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2895B-2CFB-311B-CC2A-CBDC7354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62" y="1737767"/>
            <a:ext cx="5381628" cy="48494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EC21C5-AF20-1465-FBF6-D31E7A63472E}"/>
              </a:ext>
            </a:extLst>
          </p:cNvPr>
          <p:cNvSpPr/>
          <p:nvPr/>
        </p:nvSpPr>
        <p:spPr>
          <a:xfrm>
            <a:off x="1475599" y="4705432"/>
            <a:ext cx="757421" cy="549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6F7B49-D50F-9221-57E2-042913C1457D}"/>
              </a:ext>
            </a:extLst>
          </p:cNvPr>
          <p:cNvSpPr txBox="1"/>
          <p:nvPr/>
        </p:nvSpPr>
        <p:spPr>
          <a:xfrm>
            <a:off x="6008354" y="1619127"/>
            <a:ext cx="53062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Ideally we want: the solution to be {4,5,6} right?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1A0272E-95EE-E426-11D0-3A3896C8CBFA}"/>
              </a:ext>
            </a:extLst>
          </p:cNvPr>
          <p:cNvSpPr/>
          <p:nvPr/>
        </p:nvSpPr>
        <p:spPr>
          <a:xfrm>
            <a:off x="6007045" y="3065008"/>
            <a:ext cx="697246" cy="6200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7BC6F0-E684-E94A-9F94-C7E0F2AB28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164"/>
          <a:stretch/>
        </p:blipFill>
        <p:spPr>
          <a:xfrm>
            <a:off x="6793246" y="2849161"/>
            <a:ext cx="3619500" cy="11371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A7C590-9F03-7A41-9816-A11F3BE63A77}"/>
              </a:ext>
            </a:extLst>
          </p:cNvPr>
          <p:cNvSpPr txBox="1"/>
          <p:nvPr/>
        </p:nvSpPr>
        <p:spPr>
          <a:xfrm>
            <a:off x="6611412" y="4243080"/>
            <a:ext cx="410498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When you try to return stack variables from functions:</a:t>
            </a:r>
          </a:p>
        </p:txBody>
      </p:sp>
      <p:pic>
        <p:nvPicPr>
          <p:cNvPr id="1026" name="Picture 2" descr="THEY WILL NEVER TAKE ME ALIVE! - Rambo - Meme Generator">
            <a:extLst>
              <a:ext uri="{FF2B5EF4-FFF2-40B4-BE49-F238E27FC236}">
                <a16:creationId xmlns:a16="http://schemas.microsoft.com/office/drawing/2014/main" id="{E3E805AE-0F55-314D-78D2-070AA5D92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147" y="5000874"/>
            <a:ext cx="2565077" cy="177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46F0FA-72AC-BCA6-8B7D-B7CE9CE77B8B}"/>
              </a:ext>
            </a:extLst>
          </p:cNvPr>
          <p:cNvSpPr txBox="1"/>
          <p:nvPr/>
        </p:nvSpPr>
        <p:spPr>
          <a:xfrm>
            <a:off x="7613459" y="5608059"/>
            <a:ext cx="1813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 Variable</a:t>
            </a:r>
          </a:p>
        </p:txBody>
      </p:sp>
    </p:spTree>
    <p:extLst>
      <p:ext uri="{BB962C8B-B14F-4D97-AF65-F5344CB8AC3E}">
        <p14:creationId xmlns:p14="http://schemas.microsoft.com/office/powerpoint/2010/main" val="318337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712CE-A3BE-4068-4E1B-3FC668F9B02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Will this code work? If so why?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4A6E8-4A79-D867-1C8B-46A85C6A9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63" y="1820950"/>
            <a:ext cx="5530072" cy="49193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B31EFF-E211-1C38-4163-CF699AB5438E}"/>
              </a:ext>
            </a:extLst>
          </p:cNvPr>
          <p:cNvSpPr/>
          <p:nvPr/>
        </p:nvSpPr>
        <p:spPr>
          <a:xfrm>
            <a:off x="2086307" y="3214136"/>
            <a:ext cx="2072116" cy="133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1A10C-FE65-047C-5221-E1B8ED6E4F4D}"/>
              </a:ext>
            </a:extLst>
          </p:cNvPr>
          <p:cNvSpPr/>
          <p:nvPr/>
        </p:nvSpPr>
        <p:spPr>
          <a:xfrm>
            <a:off x="1642189" y="4843768"/>
            <a:ext cx="20721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CCC24-ACF6-358C-73E7-2A942092BA16}"/>
              </a:ext>
            </a:extLst>
          </p:cNvPr>
          <p:cNvSpPr txBox="1"/>
          <p:nvPr/>
        </p:nvSpPr>
        <p:spPr>
          <a:xfrm>
            <a:off x="6569593" y="2601919"/>
            <a:ext cx="450135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Answer: Yes because malloc takes memory from the heap NOT the stack. Once allocated by us, the heap memory is only freed by us.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61048A-23F2-5543-10CC-2D2A0B942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452" y="4350737"/>
            <a:ext cx="2733241" cy="13255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5748C0-833B-D48C-8F3A-F70DF9A3501A}"/>
              </a:ext>
            </a:extLst>
          </p:cNvPr>
          <p:cNvSpPr/>
          <p:nvPr/>
        </p:nvSpPr>
        <p:spPr>
          <a:xfrm>
            <a:off x="1766009" y="2601919"/>
            <a:ext cx="3724315" cy="2276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468A70-AC6C-4783-727A-D4D13BE034DA}"/>
              </a:ext>
            </a:extLst>
          </p:cNvPr>
          <p:cNvSpPr/>
          <p:nvPr/>
        </p:nvSpPr>
        <p:spPr>
          <a:xfrm>
            <a:off x="1408882" y="2225171"/>
            <a:ext cx="2919801" cy="184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2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66E7-5449-E37C-2817-C2BA3979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7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4800" i="1" dirty="0"/>
              <a:t>So should we just never use “[]” arrays </a:t>
            </a:r>
            <a:br>
              <a:rPr lang="en-US" sz="4800" i="1" dirty="0"/>
            </a:br>
            <a:r>
              <a:rPr lang="en-US" sz="4800" i="1" dirty="0"/>
              <a:t>that come from the stack?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2D719-64FB-BB99-F037-464358AEA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227" y="1834223"/>
            <a:ext cx="6730781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The answer is not that simple. </a:t>
            </a:r>
          </a:p>
          <a:p>
            <a:r>
              <a:rPr lang="en-US" dirty="0"/>
              <a:t>In this class we treat memory as one big block (with three different sections). </a:t>
            </a:r>
          </a:p>
          <a:p>
            <a:r>
              <a:rPr lang="en-US" dirty="0"/>
              <a:t>So it seems like it doesn’t matter if we are taking memory from the heap or the stack as both are just pieces from the same block.</a:t>
            </a:r>
          </a:p>
          <a:p>
            <a:r>
              <a:rPr lang="en-US" dirty="0"/>
              <a:t>In reality, stack memory can be accessed faster than the heap. You’ll learn about this more in an operating system class probably.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3A532B-6CC8-5522-EB98-81F438EB1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34" y="1825625"/>
            <a:ext cx="3676991" cy="446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0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ACF0-B36E-0605-F6A0-C285873D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666"/>
            <a:ext cx="10515600" cy="1325563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pPr algn="ctr"/>
            <a:r>
              <a:rPr lang="en-US" b="1" strike="sng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Array Memory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5E5307-D978-36AF-F83D-D0EFD2AA9642}"/>
              </a:ext>
            </a:extLst>
          </p:cNvPr>
          <p:cNvSpPr txBox="1">
            <a:spLocks/>
          </p:cNvSpPr>
          <p:nvPr/>
        </p:nvSpPr>
        <p:spPr>
          <a:xfrm>
            <a:off x="838200" y="2958517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Pointer Arithmetic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651BD0-BD73-02F8-B368-60BA8DB8612E}"/>
              </a:ext>
            </a:extLst>
          </p:cNvPr>
          <p:cNvSpPr txBox="1">
            <a:spLocks/>
          </p:cNvSpPr>
          <p:nvPr/>
        </p:nvSpPr>
        <p:spPr>
          <a:xfrm>
            <a:off x="838200" y="4505368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Structures</a:t>
            </a:r>
          </a:p>
        </p:txBody>
      </p:sp>
    </p:spTree>
    <p:extLst>
      <p:ext uri="{BB962C8B-B14F-4D97-AF65-F5344CB8AC3E}">
        <p14:creationId xmlns:p14="http://schemas.microsoft.com/office/powerpoint/2010/main" val="2547017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BB54-EFFB-5194-4A98-7E766F9C7EF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Pointers are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C3EB8-EAC2-3B59-E2AE-6FA760B38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0982" y="1825624"/>
            <a:ext cx="6832818" cy="461049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value</a:t>
            </a:r>
            <a:r>
              <a:rPr lang="en-US" b="1" i="1" dirty="0"/>
              <a:t> </a:t>
            </a:r>
            <a:r>
              <a:rPr lang="en-US" dirty="0"/>
              <a:t>of a pointer is a </a:t>
            </a:r>
            <a:r>
              <a:rPr lang="en-US" b="1" dirty="0"/>
              <a:t>byte address</a:t>
            </a:r>
            <a:endParaRPr lang="en-US" dirty="0"/>
          </a:p>
          <a:p>
            <a:pPr lvl="1"/>
            <a:r>
              <a:rPr lang="en-US" dirty="0"/>
              <a:t>Unsigned integer used to number bytes in memory</a:t>
            </a:r>
          </a:p>
          <a:p>
            <a:pPr lvl="1"/>
            <a:r>
              <a:rPr lang="en-US" dirty="0"/>
              <a:t>Range is between</a:t>
            </a:r>
          </a:p>
          <a:p>
            <a:pPr marL="685800" lvl="2" indent="0">
              <a:buNone/>
            </a:pPr>
            <a:r>
              <a:rPr lang="en-US" dirty="0"/>
              <a:t>0x00000000	and 0xFFFFFFFF  		[32-bit]</a:t>
            </a:r>
          </a:p>
          <a:p>
            <a:pPr marL="685800" lvl="2" indent="0">
              <a:buNone/>
            </a:pPr>
            <a:r>
              <a:rPr lang="en-US" dirty="0"/>
              <a:t>0x0000000000000000 and 0xFFFFFFFFFFFFFFFF  [64-bit]</a:t>
            </a:r>
          </a:p>
          <a:p>
            <a:pPr marL="685800" lvl="2" indent="0">
              <a:buNone/>
            </a:pPr>
            <a:endParaRPr lang="en-US" dirty="0"/>
          </a:p>
          <a:p>
            <a:r>
              <a:rPr lang="en-US" dirty="0"/>
              <a:t>If a pointer is an integer, you can do </a:t>
            </a:r>
            <a:r>
              <a:rPr lang="en-US" b="1" i="1" dirty="0">
                <a:solidFill>
                  <a:srgbClr val="0433FF"/>
                </a:solidFill>
              </a:rPr>
              <a:t>arithmetic</a:t>
            </a:r>
            <a:r>
              <a:rPr lang="en-US" b="1" i="1" dirty="0"/>
              <a:t>…</a:t>
            </a:r>
            <a:r>
              <a:rPr lang="en-US" i="1" dirty="0"/>
              <a:t> </a:t>
            </a:r>
          </a:p>
          <a:p>
            <a:r>
              <a:rPr lang="en-US" dirty="0"/>
              <a:t>To </a:t>
            </a:r>
            <a:r>
              <a:rPr lang="en-US" b="1" i="1" dirty="0">
                <a:solidFill>
                  <a:srgbClr val="0433FF"/>
                </a:solidFill>
              </a:rPr>
              <a:t>compute</a:t>
            </a:r>
            <a:r>
              <a:rPr lang="en-US" dirty="0"/>
              <a:t> other addresses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5B0A1-40CB-3C0D-7665-294BB8A99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99" y="1825624"/>
            <a:ext cx="3676991" cy="446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7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7798F-7991-A1D7-1985-950329EF521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Simple Pointer Example: What value is p pointing to?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C1A57-0592-E250-46C8-6DB8DC9C2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2" y="2083664"/>
            <a:ext cx="6710240" cy="38952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5410714-6F5C-7CA6-A141-FDD65468BB5A}"/>
              </a:ext>
            </a:extLst>
          </p:cNvPr>
          <p:cNvSpPr/>
          <p:nvPr/>
        </p:nvSpPr>
        <p:spPr>
          <a:xfrm>
            <a:off x="7007346" y="3649699"/>
            <a:ext cx="620066" cy="6318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D7136-A35A-CCD4-4E48-AABC2688BF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655"/>
          <a:stretch/>
        </p:blipFill>
        <p:spPr>
          <a:xfrm>
            <a:off x="7704156" y="3681094"/>
            <a:ext cx="4409632" cy="5690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BA036F8-3FA1-2787-19AE-77A0B232D132}"/>
              </a:ext>
            </a:extLst>
          </p:cNvPr>
          <p:cNvSpPr/>
          <p:nvPr/>
        </p:nvSpPr>
        <p:spPr>
          <a:xfrm>
            <a:off x="1687518" y="4137071"/>
            <a:ext cx="1153793" cy="581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2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880F-67A5-395D-4B75-CBB84AD3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u="sng" dirty="0"/>
              <a:t>There may be some confusion…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4779DD-3D02-DA86-8011-0315677D6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194421"/>
              </p:ext>
            </p:extLst>
          </p:nvPr>
        </p:nvGraphicFramePr>
        <p:xfrm>
          <a:off x="8099553" y="1280743"/>
          <a:ext cx="3345102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2551">
                  <a:extLst>
                    <a:ext uri="{9D8B030D-6E8A-4147-A177-3AD203B41FA5}">
                      <a16:colId xmlns:a16="http://schemas.microsoft.com/office/drawing/2014/main" val="1007991822"/>
                    </a:ext>
                  </a:extLst>
                </a:gridCol>
                <a:gridCol w="1672551">
                  <a:extLst>
                    <a:ext uri="{9D8B030D-6E8A-4147-A177-3AD203B41FA5}">
                      <a16:colId xmlns:a16="http://schemas.microsoft.com/office/drawing/2014/main" val="1932366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3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3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6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38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2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1004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7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1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61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307752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1B177-B58F-1A76-1517-5243D823B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55" y="1343818"/>
            <a:ext cx="7345378" cy="28506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Recall x is an integer pointer to an address in memory.</a:t>
            </a:r>
          </a:p>
          <a:p>
            <a:r>
              <a:rPr lang="en-US" dirty="0"/>
              <a:t>p = x + 1</a:t>
            </a:r>
          </a:p>
          <a:p>
            <a:r>
              <a:rPr lang="en-US" dirty="0"/>
              <a:t>It seems if we add 1 to it we should get </a:t>
            </a:r>
            <a:r>
              <a:rPr lang="en-US" dirty="0">
                <a:solidFill>
                  <a:srgbClr val="FF0000"/>
                </a:solidFill>
              </a:rPr>
              <a:t>993</a:t>
            </a:r>
            <a:r>
              <a:rPr lang="en-US" dirty="0"/>
              <a:t>.</a:t>
            </a:r>
          </a:p>
          <a:p>
            <a:r>
              <a:rPr lang="en-US" dirty="0"/>
              <a:t>But actually p is pointing to </a:t>
            </a:r>
            <a:r>
              <a:rPr lang="en-US" dirty="0">
                <a:solidFill>
                  <a:srgbClr val="FF0000"/>
                </a:solidFill>
              </a:rPr>
              <a:t>996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B88D5E-A8CB-5D7E-CF3A-2ABE4580670B}"/>
              </a:ext>
            </a:extLst>
          </p:cNvPr>
          <p:cNvCxnSpPr>
            <a:cxnSpLocks/>
          </p:cNvCxnSpPr>
          <p:nvPr/>
        </p:nvCxnSpPr>
        <p:spPr>
          <a:xfrm>
            <a:off x="7274974" y="5124113"/>
            <a:ext cx="1149868" cy="66716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9CC8A6-7637-BD26-DB45-BFFF63ECF66E}"/>
              </a:ext>
            </a:extLst>
          </p:cNvPr>
          <p:cNvSpPr txBox="1"/>
          <p:nvPr/>
        </p:nvSpPr>
        <p:spPr>
          <a:xfrm>
            <a:off x="6941394" y="4763439"/>
            <a:ext cx="124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74179-9088-20A7-4C90-7A3168962C03}"/>
              </a:ext>
            </a:extLst>
          </p:cNvPr>
          <p:cNvSpPr txBox="1"/>
          <p:nvPr/>
        </p:nvSpPr>
        <p:spPr>
          <a:xfrm>
            <a:off x="7129114" y="4240219"/>
            <a:ext cx="124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AB2B57-4C64-C74D-4A67-5EBA0279E1C1}"/>
              </a:ext>
            </a:extLst>
          </p:cNvPr>
          <p:cNvCxnSpPr>
            <a:cxnSpLocks/>
          </p:cNvCxnSpPr>
          <p:nvPr/>
        </p:nvCxnSpPr>
        <p:spPr>
          <a:xfrm>
            <a:off x="7462694" y="4538226"/>
            <a:ext cx="1149868" cy="66716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C826E4E-1108-3551-6F70-C63E37FC0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177" y="4327780"/>
            <a:ext cx="3163739" cy="237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84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EE7F-E0BB-0882-9756-2C2DB6F4F9A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Adding a pointer and an integer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2CAD-D0D6-19B6-4E43-8B61B2A4A3FE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Add an integer to a pointer, the result is a pointer of </a:t>
            </a:r>
            <a:r>
              <a:rPr lang="en-US" dirty="0">
                <a:solidFill>
                  <a:srgbClr val="0433FF"/>
                </a:solidFill>
              </a:rPr>
              <a:t>the same type</a:t>
            </a:r>
          </a:p>
          <a:p>
            <a:pPr lvl="1"/>
            <a:r>
              <a:rPr lang="en-US" dirty="0">
                <a:solidFill>
                  <a:srgbClr val="0433FF"/>
                </a:solidFill>
              </a:rPr>
              <a:t>It is different from regular integer addition</a:t>
            </a:r>
          </a:p>
          <a:p>
            <a:pPr lvl="1"/>
            <a:r>
              <a:rPr lang="en-US" dirty="0">
                <a:solidFill>
                  <a:srgbClr val="0433FF"/>
                </a:solidFill>
              </a:rPr>
              <a:t>The integer is </a:t>
            </a:r>
            <a:r>
              <a:rPr lang="en-US" b="1" dirty="0">
                <a:solidFill>
                  <a:srgbClr val="FF0000"/>
                </a:solidFill>
              </a:rPr>
              <a:t>automatically scaled </a:t>
            </a:r>
            <a:r>
              <a:rPr lang="en-US" dirty="0">
                <a:solidFill>
                  <a:srgbClr val="0433FF"/>
                </a:solidFill>
              </a:rPr>
              <a:t>by the size of the type pointed t</a:t>
            </a:r>
            <a:r>
              <a:rPr lang="en-US" dirty="0">
                <a:solidFill>
                  <a:schemeClr val="accent1"/>
                </a:solidFill>
              </a:rPr>
              <a:t>o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Suppose p is a pointer to type T, and k is an integer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Then both </a:t>
            </a:r>
            <a:r>
              <a:rPr lang="en-US" dirty="0">
                <a:solidFill>
                  <a:srgbClr val="0433FF"/>
                </a:solidFill>
                <a:latin typeface="Consolas" panose="020B0609020204030204" pitchFamily="49" charset="0"/>
              </a:rPr>
              <a:t>p + k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rgbClr val="0433FF"/>
                </a:solidFill>
                <a:latin typeface="Consolas" panose="020B0609020204030204" pitchFamily="49" charset="0"/>
              </a:rPr>
              <a:t> k + p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Are valid expressions that evaluate to a pointer to type T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Have a byte address equal to</a:t>
            </a:r>
          </a:p>
          <a:p>
            <a:pPr marL="0" indent="0">
              <a:buNone/>
            </a:pPr>
            <a:r>
              <a:rPr lang="en-US" dirty="0">
                <a:solidFill>
                  <a:srgbClr val="0433FF"/>
                </a:solidFill>
                <a:latin typeface="Consolas" panose="020B0609020204030204" pitchFamily="49" charset="0"/>
              </a:rPr>
              <a:t>(unsigned long)(address stored in p) + k *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55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3F94-E966-D46C-719A-621C89A1C1E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Can we actually see the addresses?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C242A-96B2-C690-364E-C519F152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11" y="1925195"/>
            <a:ext cx="7166055" cy="45179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F611D4-3DC3-BFC8-B6F9-A265C7D3F09E}"/>
              </a:ext>
            </a:extLst>
          </p:cNvPr>
          <p:cNvSpPr/>
          <p:nvPr/>
        </p:nvSpPr>
        <p:spPr>
          <a:xfrm>
            <a:off x="2112433" y="5693833"/>
            <a:ext cx="5308600" cy="804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31ACDF-AC00-7745-2689-EAA46E982E59}"/>
              </a:ext>
            </a:extLst>
          </p:cNvPr>
          <p:cNvSpPr/>
          <p:nvPr/>
        </p:nvSpPr>
        <p:spPr>
          <a:xfrm>
            <a:off x="2112433" y="6008774"/>
            <a:ext cx="5308600" cy="804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94927-8FEE-713C-3FBB-A7C07B64285F}"/>
              </a:ext>
            </a:extLst>
          </p:cNvPr>
          <p:cNvSpPr/>
          <p:nvPr/>
        </p:nvSpPr>
        <p:spPr>
          <a:xfrm>
            <a:off x="1917700" y="4089400"/>
            <a:ext cx="1600200" cy="84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9773F95-044C-D489-609A-D4B9F6C6EE92}"/>
              </a:ext>
            </a:extLst>
          </p:cNvPr>
          <p:cNvSpPr/>
          <p:nvPr/>
        </p:nvSpPr>
        <p:spPr>
          <a:xfrm>
            <a:off x="7734300" y="3793067"/>
            <a:ext cx="901700" cy="7704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20B985-AC0B-AD4E-0D04-FC2A6C12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34" y="3883511"/>
            <a:ext cx="3357034" cy="58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02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F73A-CF25-4DE0-5E43-6EFCC2B0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69464"/>
            <a:ext cx="10515600" cy="102314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Pointer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BD9F5-0486-1754-AE3C-ECD42EFA4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933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p is a pointer to an </a:t>
            </a: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, and its value is 1000 </a:t>
            </a:r>
          </a:p>
          <a:p>
            <a:pPr marL="0" indent="0">
              <a:buNone/>
            </a:pPr>
            <a:r>
              <a:rPr lang="en-US" dirty="0"/>
              <a:t>p + 1 is not the next byte address. </a:t>
            </a:r>
          </a:p>
          <a:p>
            <a:pPr marL="0" indent="0">
              <a:buNone/>
            </a:pPr>
            <a:r>
              <a:rPr lang="en-US" dirty="0"/>
              <a:t>It is the address of next item (of type </a:t>
            </a: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D8890B-5583-CCD8-4603-6EE5C208E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12" y="2864113"/>
            <a:ext cx="9443055" cy="39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89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A347-5119-67E7-5311-D25E1B08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Pointers 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B0E87-3696-D2A5-44E8-2800521F6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633" y="1053392"/>
            <a:ext cx="10515600" cy="1603375"/>
          </a:xfrm>
        </p:spPr>
        <p:txBody>
          <a:bodyPr/>
          <a:lstStyle/>
          <a:p>
            <a:r>
              <a:rPr lang="en-US" dirty="0"/>
              <a:t>Subtract one pointer from another: both must have the </a:t>
            </a:r>
            <a:r>
              <a:rPr lang="en-US" dirty="0">
                <a:solidFill>
                  <a:schemeClr val="accent1"/>
                </a:solidFill>
              </a:rPr>
              <a:t>same</a:t>
            </a:r>
            <a:r>
              <a:rPr lang="en-US" dirty="0"/>
              <a:t> type</a:t>
            </a:r>
          </a:p>
          <a:p>
            <a:r>
              <a:rPr lang="en-US" dirty="0"/>
              <a:t>The result is </a:t>
            </a:r>
            <a:r>
              <a:rPr lang="en-US" dirty="0">
                <a:solidFill>
                  <a:schemeClr val="accent1"/>
                </a:solidFill>
              </a:rPr>
              <a:t>the number of data items</a:t>
            </a:r>
            <a:r>
              <a:rPr lang="en-US" dirty="0"/>
              <a:t> between the two pointers!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Not the number of bytes</a:t>
            </a:r>
          </a:p>
          <a:p>
            <a:endParaRPr lang="en-US" dirty="0"/>
          </a:p>
        </p:txBody>
      </p:sp>
      <p:sp>
        <p:nvSpPr>
          <p:cNvPr id="4" name="Shape 1202">
            <a:extLst>
              <a:ext uri="{FF2B5EF4-FFF2-40B4-BE49-F238E27FC236}">
                <a16:creationId xmlns:a16="http://schemas.microsoft.com/office/drawing/2014/main" id="{C39DE44F-79D2-8B91-FB75-704E897405ED}"/>
              </a:ext>
            </a:extLst>
          </p:cNvPr>
          <p:cNvSpPr/>
          <p:nvPr/>
        </p:nvSpPr>
        <p:spPr>
          <a:xfrm>
            <a:off x="304359" y="2548078"/>
            <a:ext cx="7213382" cy="406265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sz="24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#include &lt;</a:t>
            </a:r>
            <a:r>
              <a:rPr sz="2400" dirty="0" err="1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stdio.h</a:t>
            </a:r>
            <a:r>
              <a:rPr sz="24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&gt;</a:t>
            </a:r>
            <a:endParaRPr sz="2400" dirty="0"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sz="24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#include &lt;</a:t>
            </a:r>
            <a:r>
              <a:rPr sz="2400" dirty="0" err="1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stdlib.h</a:t>
            </a:r>
            <a:r>
              <a:rPr sz="24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&gt;</a:t>
            </a:r>
            <a:endParaRPr sz="2400" dirty="0"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endParaRPr sz="2400" dirty="0"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sz="2400" dirty="0" err="1">
                <a:solidFill>
                  <a:srgbClr val="96A7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main()</a:t>
            </a:r>
            <a:r>
              <a:rPr lang="en-US"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{</a:t>
            </a:r>
            <a:endParaRPr sz="2400" dirty="0"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	</a:t>
            </a:r>
            <a:r>
              <a:rPr sz="2400" dirty="0" err="1">
                <a:solidFill>
                  <a:srgbClr val="96A7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rgbClr val="96A7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*</a:t>
            </a:r>
            <a:r>
              <a:rPr lang="en-US" sz="2400" dirty="0">
                <a:solidFill>
                  <a:srgbClr val="788E95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p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= </a:t>
            </a:r>
            <a:r>
              <a:rPr sz="2400" dirty="0" err="1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malloc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(</a:t>
            </a:r>
            <a:r>
              <a:rPr sz="2400" dirty="0" err="1">
                <a:solidFill>
                  <a:srgbClr val="D7601B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sizeof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(</a:t>
            </a:r>
            <a:r>
              <a:rPr sz="2400" dirty="0" err="1">
                <a:solidFill>
                  <a:srgbClr val="96A7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)*</a:t>
            </a:r>
            <a:r>
              <a:rPr sz="2400" dirty="0">
                <a:solidFill>
                  <a:srgbClr val="E5493D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10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);</a:t>
            </a:r>
            <a:endParaRPr sz="2400" dirty="0"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	</a:t>
            </a:r>
            <a:r>
              <a:rPr sz="2400" dirty="0" err="1">
                <a:solidFill>
                  <a:srgbClr val="96A7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rgbClr val="96A7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*</a:t>
            </a:r>
            <a:r>
              <a:rPr lang="en-US" sz="2400" dirty="0">
                <a:solidFill>
                  <a:srgbClr val="788E95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last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=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lang="en-US" sz="2400" dirty="0">
                <a:solidFill>
                  <a:srgbClr val="788E95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p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+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E5493D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9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;</a:t>
            </a:r>
            <a:endParaRPr sz="2400" dirty="0"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	</a:t>
            </a:r>
            <a:r>
              <a:rPr sz="2400" dirty="0" err="1">
                <a:solidFill>
                  <a:srgbClr val="96A7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</a:t>
            </a:r>
            <a:r>
              <a:rPr sz="2400" dirty="0" err="1">
                <a:solidFill>
                  <a:srgbClr val="788E95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dist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=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last</a:t>
            </a:r>
            <a:r>
              <a:rPr sz="24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-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p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;</a:t>
            </a:r>
            <a:r>
              <a:rPr lang="en-US"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// both are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*</a:t>
            </a:r>
            <a:endParaRPr sz="2400" dirty="0">
              <a:solidFill>
                <a:schemeClr val="accent1"/>
              </a:solidFill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	</a:t>
            </a:r>
            <a:r>
              <a:rPr sz="2400" dirty="0" err="1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printf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(</a:t>
            </a:r>
            <a:r>
              <a:rPr sz="2400" dirty="0">
                <a:solidFill>
                  <a:srgbClr val="E5493D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"Distance is %d</a:t>
            </a:r>
            <a:r>
              <a:rPr sz="24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\n</a:t>
            </a:r>
            <a:r>
              <a:rPr sz="2400" dirty="0">
                <a:solidFill>
                  <a:srgbClr val="E5493D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"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,</a:t>
            </a:r>
            <a:r>
              <a:rPr sz="2400" dirty="0" err="1">
                <a:solidFill>
                  <a:srgbClr val="788E95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dist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);</a:t>
            </a:r>
            <a:endParaRPr lang="en-US" sz="2400" dirty="0">
              <a:solidFill>
                <a:srgbClr val="6A8188"/>
              </a:solidFill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free(p);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	</a:t>
            </a:r>
            <a:endParaRPr lang="en-US" sz="2400" dirty="0"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400" dirty="0">
                <a:solidFill>
                  <a:srgbClr val="D7601B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</a:t>
            </a:r>
            <a:r>
              <a:rPr sz="2400" dirty="0">
                <a:solidFill>
                  <a:srgbClr val="D7601B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return</a:t>
            </a:r>
            <a:r>
              <a:rPr sz="2400" dirty="0"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sz="2400" dirty="0">
                <a:solidFill>
                  <a:srgbClr val="E5493D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0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;</a:t>
            </a:r>
            <a:endParaRPr sz="2400" dirty="0"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}</a:t>
            </a:r>
          </a:p>
        </p:txBody>
      </p:sp>
      <p:sp>
        <p:nvSpPr>
          <p:cNvPr id="5" name="Shape 1203">
            <a:extLst>
              <a:ext uri="{FF2B5EF4-FFF2-40B4-BE49-F238E27FC236}">
                <a16:creationId xmlns:a16="http://schemas.microsoft.com/office/drawing/2014/main" id="{88AC633F-1894-29DE-FBB2-7C5242312612}"/>
              </a:ext>
            </a:extLst>
          </p:cNvPr>
          <p:cNvSpPr/>
          <p:nvPr/>
        </p:nvSpPr>
        <p:spPr>
          <a:xfrm>
            <a:off x="9646066" y="3009027"/>
            <a:ext cx="1628649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4000" dirty="0"/>
              <a:t>Output</a:t>
            </a:r>
          </a:p>
        </p:txBody>
      </p:sp>
      <p:sp>
        <p:nvSpPr>
          <p:cNvPr id="6" name="Shape 1204">
            <a:extLst>
              <a:ext uri="{FF2B5EF4-FFF2-40B4-BE49-F238E27FC236}">
                <a16:creationId xmlns:a16="http://schemas.microsoft.com/office/drawing/2014/main" id="{431323DF-FFE2-A708-6CE6-01D40F268A3A}"/>
              </a:ext>
            </a:extLst>
          </p:cNvPr>
          <p:cNvSpPr/>
          <p:nvPr/>
        </p:nvSpPr>
        <p:spPr>
          <a:xfrm>
            <a:off x="9121229" y="3691904"/>
            <a:ext cx="2858699" cy="1723549"/>
          </a:xfrm>
          <a:prstGeom prst="rect">
            <a:avLst/>
          </a:prstGeom>
          <a:solidFill>
            <a:srgbClr val="002B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/>
            </a:pPr>
            <a:r>
              <a:rPr sz="2800" dirty="0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$ </a:t>
            </a:r>
            <a:r>
              <a:rPr lang="en-US" sz="2800" dirty="0" err="1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g</a:t>
            </a:r>
            <a:r>
              <a:rPr sz="2800" dirty="0" err="1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cc</a:t>
            </a:r>
            <a:r>
              <a:rPr sz="2800" dirty="0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 </a:t>
            </a:r>
            <a:r>
              <a:rPr sz="2800" dirty="0" err="1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ptrsub.c</a:t>
            </a:r>
            <a:r>
              <a:rPr sz="2800" dirty="0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 </a:t>
            </a:r>
          </a:p>
          <a:p>
            <a:pPr lvl="0"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/>
            </a:pPr>
            <a:r>
              <a:rPr sz="2800" dirty="0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$ ./</a:t>
            </a:r>
            <a:r>
              <a:rPr sz="2800" dirty="0" err="1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a.out</a:t>
            </a:r>
            <a:r>
              <a:rPr sz="2800" dirty="0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 </a:t>
            </a:r>
          </a:p>
          <a:p>
            <a:pPr lvl="0"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/>
            </a:pPr>
            <a:r>
              <a:rPr sz="2800" dirty="0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Distance is 9</a:t>
            </a:r>
          </a:p>
          <a:p>
            <a:pPr lvl="0"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800"/>
            </a:pPr>
            <a:r>
              <a:rPr sz="2800" dirty="0">
                <a:solidFill>
                  <a:srgbClr val="839496"/>
                </a:solidFill>
                <a:latin typeface="Consolas" panose="020B0609020204030204" pitchFamily="49" charset="0"/>
                <a:ea typeface="Andale Mono"/>
                <a:cs typeface="Andale Mono"/>
                <a:sym typeface="Andale Mono"/>
              </a:rPr>
              <a:t>$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5E7320-7081-A367-FD02-662D1A2C2F26}"/>
              </a:ext>
            </a:extLst>
          </p:cNvPr>
          <p:cNvSpPr/>
          <p:nvPr/>
        </p:nvSpPr>
        <p:spPr>
          <a:xfrm>
            <a:off x="7860371" y="4201234"/>
            <a:ext cx="944963" cy="939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98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F300-BFBE-323A-1B01-92E25B45D4A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Pointer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E5B2-7455-EE80-1C99-22F21EC38FC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You can also compare two pointers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&lt;   &gt;   &lt;=   &gt;=   !=   ==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Check boundary conditions in arrays</a:t>
            </a:r>
          </a:p>
          <a:p>
            <a:pPr lvl="1"/>
            <a:r>
              <a:rPr lang="en-US" dirty="0"/>
              <a:t>Manually manage memory blocks</a:t>
            </a:r>
          </a:p>
          <a:p>
            <a:r>
              <a:rPr lang="en-US" dirty="0"/>
              <a:t>Semantics</a:t>
            </a:r>
          </a:p>
          <a:p>
            <a:pPr lvl="1"/>
            <a:r>
              <a:rPr lang="en-US" dirty="0"/>
              <a:t>Simply based on memory layout</a:t>
            </a:r>
          </a:p>
          <a:p>
            <a:pPr lvl="1"/>
            <a:r>
              <a:rPr lang="en-US" dirty="0"/>
              <a:t>Compare bits in pointers as </a:t>
            </a:r>
            <a:r>
              <a:rPr lang="en-US"/>
              <a:t>unsigned integers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32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542F-9D5B-434D-783F-9A67FD8B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Effect of casting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04F3A-18C6-2DDD-967E-04C56970C160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If you cast a pointer type…</a:t>
            </a:r>
          </a:p>
          <a:p>
            <a:pPr lvl="1"/>
            <a:r>
              <a:rPr lang="en-US" dirty="0"/>
              <a:t>Any subsequent pointer arithmetic will use the type you chose</a:t>
            </a:r>
          </a:p>
          <a:p>
            <a:r>
              <a:rPr lang="en-US" dirty="0"/>
              <a:t>Do not want scaling? Casting a pointer to (</a:t>
            </a:r>
            <a:r>
              <a:rPr lang="en-US" b="1" dirty="0"/>
              <a:t>char *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Because </a:t>
            </a:r>
            <a:r>
              <a:rPr lang="en-US" dirty="0" err="1"/>
              <a:t>sizeof</a:t>
            </a:r>
            <a:r>
              <a:rPr lang="en-US" dirty="0"/>
              <a:t>(char) is 1</a:t>
            </a:r>
          </a:p>
          <a:p>
            <a:pPr marL="0" lvl="0" indent="0" defTabSz="457200">
              <a:buNone/>
              <a:defRPr sz="1800"/>
            </a:pPr>
            <a:endParaRPr lang="en-US" sz="2800" dirty="0">
              <a:solidFill>
                <a:srgbClr val="C00000"/>
              </a:solidFill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marL="0" lvl="0" indent="0" defTabSz="457200">
              <a:buNone/>
              <a:defRPr sz="1800"/>
            </a:pPr>
            <a:r>
              <a:rPr lang="en-US" sz="28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 int * t;</a:t>
            </a:r>
          </a:p>
          <a:p>
            <a:pPr marL="0" lvl="0" indent="0" defTabSz="457200">
              <a:buNone/>
              <a:defRPr sz="1800"/>
            </a:pPr>
            <a:r>
              <a:rPr lang="en-US" sz="28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 char * p = (char *) t + 8; 	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// 8 is not scaled</a:t>
            </a:r>
          </a:p>
          <a:p>
            <a:pPr marL="0" lvl="0" indent="0" defTabSz="457200">
              <a:buNone/>
              <a:defRPr sz="1800"/>
            </a:pPr>
            <a:r>
              <a:rPr lang="en-US" sz="28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 char * q = (char *) (t + 8); // 8 is scaled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609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3708-3C04-83DF-213A-3CEC1C9A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33" y="85725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Arrays and Pointers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89A9F-5E92-65F7-2B7D-B57073C5A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933" y="1546225"/>
            <a:ext cx="10515600" cy="4351338"/>
          </a:xfrm>
        </p:spPr>
        <p:txBody>
          <a:bodyPr/>
          <a:lstStyle/>
          <a:p>
            <a:r>
              <a:rPr lang="en-US" dirty="0"/>
              <a:t>Arrays and pointers can often be used interchangeably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4C0EC-E33C-3E15-7CE4-00512D21D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42" y="2145234"/>
            <a:ext cx="8377782" cy="4068241"/>
          </a:xfrm>
          <a:prstGeom prst="rect">
            <a:avLst/>
          </a:prstGeom>
        </p:spPr>
      </p:pic>
      <p:sp>
        <p:nvSpPr>
          <p:cNvPr id="6" name="Callout: Line with No Border 5">
            <a:extLst>
              <a:ext uri="{FF2B5EF4-FFF2-40B4-BE49-F238E27FC236}">
                <a16:creationId xmlns:a16="http://schemas.microsoft.com/office/drawing/2014/main" id="{B930AB4D-FE65-C4E2-DD17-92DB6BE3F5D5}"/>
              </a:ext>
            </a:extLst>
          </p:cNvPr>
          <p:cNvSpPr/>
          <p:nvPr/>
        </p:nvSpPr>
        <p:spPr>
          <a:xfrm>
            <a:off x="1887362" y="6304653"/>
            <a:ext cx="9027343" cy="507831"/>
          </a:xfrm>
          <a:prstGeom prst="callout1">
            <a:avLst>
              <a:gd name="adj1" fmla="val -4140"/>
              <a:gd name="adj2" fmla="val 50153"/>
              <a:gd name="adj3" fmla="val -115500"/>
              <a:gd name="adj4" fmla="val 48104"/>
            </a:avLst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"array of int" becomes "pointer to int" (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array decay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5271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B298-6F62-91CE-00D4-4DE75B6E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2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Arrays and Pointers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5DC-5F6A-E2B9-A37D-FED8BBCA1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358"/>
            <a:ext cx="10515600" cy="4351338"/>
          </a:xfrm>
        </p:spPr>
        <p:txBody>
          <a:bodyPr/>
          <a:lstStyle/>
          <a:p>
            <a:r>
              <a:rPr lang="en-US" dirty="0"/>
              <a:t>Equivalent ways of initializing an array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F691F3-4DDD-8850-5525-ACE12739C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843" y="2065724"/>
            <a:ext cx="8698313" cy="491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68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9CE2-C3D7-6ED3-9CA1-86E6AC4F8D2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Are arrays and pointers the same?</a:t>
            </a:r>
          </a:p>
        </p:txBody>
      </p:sp>
      <p:pic>
        <p:nvPicPr>
          <p:cNvPr id="3074" name="Picture 2" descr="Well Yes, But Actually No | Know Your Meme">
            <a:extLst>
              <a:ext uri="{FF2B5EF4-FFF2-40B4-BE49-F238E27FC236}">
                <a16:creationId xmlns:a16="http://schemas.microsoft.com/office/drawing/2014/main" id="{998D0078-F8DC-4B0D-C156-97AE28119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838324"/>
            <a:ext cx="7467600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3BD450-7F44-646B-ED70-A27640B8B300}"/>
              </a:ext>
            </a:extLst>
          </p:cNvPr>
          <p:cNvSpPr/>
          <p:nvPr/>
        </p:nvSpPr>
        <p:spPr>
          <a:xfrm>
            <a:off x="3229833" y="5243083"/>
            <a:ext cx="5313724" cy="678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2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675C5-EEA0-380E-946C-DD7D957C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609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Visualization of Pointer vs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64E9-399E-E14F-C656-2A5337C64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255"/>
            <a:ext cx="10515600" cy="535395"/>
          </a:xfrm>
        </p:spPr>
        <p:txBody>
          <a:bodyPr/>
          <a:lstStyle/>
          <a:p>
            <a:r>
              <a:rPr lang="en-US" dirty="0"/>
              <a:t>In this visualization x in an array and p is a pointer.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658E0D-743C-B490-5654-3548FD186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181983"/>
              </p:ext>
            </p:extLst>
          </p:nvPr>
        </p:nvGraphicFramePr>
        <p:xfrm>
          <a:off x="4423449" y="2100951"/>
          <a:ext cx="3345102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2551">
                  <a:extLst>
                    <a:ext uri="{9D8B030D-6E8A-4147-A177-3AD203B41FA5}">
                      <a16:colId xmlns:a16="http://schemas.microsoft.com/office/drawing/2014/main" val="1007991822"/>
                    </a:ext>
                  </a:extLst>
                </a:gridCol>
                <a:gridCol w="1672551">
                  <a:extLst>
                    <a:ext uri="{9D8B030D-6E8A-4147-A177-3AD203B41FA5}">
                      <a16:colId xmlns:a16="http://schemas.microsoft.com/office/drawing/2014/main" val="1932366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3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3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6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38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2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1004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7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1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61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3077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140BB7-EECF-3110-1BA2-56CFDB78F7B8}"/>
              </a:ext>
            </a:extLst>
          </p:cNvPr>
          <p:cNvSpPr txBox="1"/>
          <p:nvPr/>
        </p:nvSpPr>
        <p:spPr>
          <a:xfrm>
            <a:off x="3803383" y="5713502"/>
            <a:ext cx="124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AB7E8-DD5B-638E-0201-2FE8ADA0022F}"/>
              </a:ext>
            </a:extLst>
          </p:cNvPr>
          <p:cNvSpPr txBox="1"/>
          <p:nvPr/>
        </p:nvSpPr>
        <p:spPr>
          <a:xfrm>
            <a:off x="4054678" y="3580727"/>
            <a:ext cx="124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E0F595-A927-BF69-8BF1-19E977FAE349}"/>
              </a:ext>
            </a:extLst>
          </p:cNvPr>
          <p:cNvCxnSpPr>
            <a:cxnSpLocks/>
          </p:cNvCxnSpPr>
          <p:nvPr/>
        </p:nvCxnSpPr>
        <p:spPr>
          <a:xfrm flipH="1">
            <a:off x="5626100" y="4118386"/>
            <a:ext cx="1251103" cy="2371314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eft Brace 8">
            <a:extLst>
              <a:ext uri="{FF2B5EF4-FFF2-40B4-BE49-F238E27FC236}">
                <a16:creationId xmlns:a16="http://schemas.microsoft.com/office/drawing/2014/main" id="{BE29AE9C-CBA2-6EEE-4B72-31D25EFF045F}"/>
              </a:ext>
            </a:extLst>
          </p:cNvPr>
          <p:cNvSpPr/>
          <p:nvPr/>
        </p:nvSpPr>
        <p:spPr>
          <a:xfrm>
            <a:off x="4161367" y="5185833"/>
            <a:ext cx="321733" cy="157855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16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627F-CAE8-9D35-3F9D-674ADA5D0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07" y="1"/>
            <a:ext cx="10515600" cy="116556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Arrays and pointers are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the same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F0EF0-3D0C-D874-6131-A2B163B9A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112" y="1253978"/>
            <a:ext cx="9409775" cy="553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82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7371-8E13-B9D1-3D99-39051A2700D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Code example to further illustrate the point…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7BC53-F50A-A87B-0753-D0EEE8048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0" y="2134907"/>
            <a:ext cx="5983142" cy="326881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3CD054-5200-C586-DEC4-F54F1C6B8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097990"/>
              </p:ext>
            </p:extLst>
          </p:nvPr>
        </p:nvGraphicFramePr>
        <p:xfrm>
          <a:off x="7009670" y="2026387"/>
          <a:ext cx="3345102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2551">
                  <a:extLst>
                    <a:ext uri="{9D8B030D-6E8A-4147-A177-3AD203B41FA5}">
                      <a16:colId xmlns:a16="http://schemas.microsoft.com/office/drawing/2014/main" val="1007991822"/>
                    </a:ext>
                  </a:extLst>
                </a:gridCol>
                <a:gridCol w="1672551">
                  <a:extLst>
                    <a:ext uri="{9D8B030D-6E8A-4147-A177-3AD203B41FA5}">
                      <a16:colId xmlns:a16="http://schemas.microsoft.com/office/drawing/2014/main" val="1932366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3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3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6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38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2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1004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7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1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61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307752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6E8D031A-3614-017B-A644-6A5539C14E3D}"/>
              </a:ext>
            </a:extLst>
          </p:cNvPr>
          <p:cNvSpPr/>
          <p:nvPr/>
        </p:nvSpPr>
        <p:spPr>
          <a:xfrm>
            <a:off x="35320" y="3119948"/>
            <a:ext cx="549425" cy="5258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97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7371-8E13-B9D1-3D99-39051A2700D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Code example to further illustrate the point…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7BC53-F50A-A87B-0753-D0EEE8048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0" y="2134907"/>
            <a:ext cx="5983142" cy="326881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3CD054-5200-C586-DEC4-F54F1C6B8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186941"/>
              </p:ext>
            </p:extLst>
          </p:nvPr>
        </p:nvGraphicFramePr>
        <p:xfrm>
          <a:off x="7009670" y="2026387"/>
          <a:ext cx="3345102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2551">
                  <a:extLst>
                    <a:ext uri="{9D8B030D-6E8A-4147-A177-3AD203B41FA5}">
                      <a16:colId xmlns:a16="http://schemas.microsoft.com/office/drawing/2014/main" val="1007991822"/>
                    </a:ext>
                  </a:extLst>
                </a:gridCol>
                <a:gridCol w="1672551">
                  <a:extLst>
                    <a:ext uri="{9D8B030D-6E8A-4147-A177-3AD203B41FA5}">
                      <a16:colId xmlns:a16="http://schemas.microsoft.com/office/drawing/2014/main" val="1932366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3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3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6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38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2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1004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7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1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61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3077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4BE9E2-A5E2-378B-DE5F-6707FCF58AE6}"/>
              </a:ext>
            </a:extLst>
          </p:cNvPr>
          <p:cNvSpPr txBox="1"/>
          <p:nvPr/>
        </p:nvSpPr>
        <p:spPr>
          <a:xfrm>
            <a:off x="6389604" y="5638938"/>
            <a:ext cx="124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81DF4-5832-B361-C072-9A9E3F099971}"/>
              </a:ext>
            </a:extLst>
          </p:cNvPr>
          <p:cNvSpPr txBox="1"/>
          <p:nvPr/>
        </p:nvSpPr>
        <p:spPr>
          <a:xfrm>
            <a:off x="6640899" y="3506163"/>
            <a:ext cx="124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CAE085E-EBB4-7F7E-366C-B9BB70EE579E}"/>
              </a:ext>
            </a:extLst>
          </p:cNvPr>
          <p:cNvSpPr/>
          <p:nvPr/>
        </p:nvSpPr>
        <p:spPr>
          <a:xfrm>
            <a:off x="6747588" y="5111269"/>
            <a:ext cx="321733" cy="157855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A961B65E-E357-8655-404D-A13A054B3743}"/>
              </a:ext>
            </a:extLst>
          </p:cNvPr>
          <p:cNvSpPr/>
          <p:nvPr/>
        </p:nvSpPr>
        <p:spPr>
          <a:xfrm>
            <a:off x="35320" y="3832229"/>
            <a:ext cx="549425" cy="5258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06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7371-8E13-B9D1-3D99-39051A2700D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Code example to further illustrate the point…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7BC53-F50A-A87B-0753-D0EEE8048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0" y="2134907"/>
            <a:ext cx="5983142" cy="326881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3CD054-5200-C586-DEC4-F54F1C6B8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300106"/>
              </p:ext>
            </p:extLst>
          </p:nvPr>
        </p:nvGraphicFramePr>
        <p:xfrm>
          <a:off x="7009670" y="2026387"/>
          <a:ext cx="3345102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2551">
                  <a:extLst>
                    <a:ext uri="{9D8B030D-6E8A-4147-A177-3AD203B41FA5}">
                      <a16:colId xmlns:a16="http://schemas.microsoft.com/office/drawing/2014/main" val="1007991822"/>
                    </a:ext>
                  </a:extLst>
                </a:gridCol>
                <a:gridCol w="1672551">
                  <a:extLst>
                    <a:ext uri="{9D8B030D-6E8A-4147-A177-3AD203B41FA5}">
                      <a16:colId xmlns:a16="http://schemas.microsoft.com/office/drawing/2014/main" val="1932366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3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3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6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1012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38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2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  <a:sym typeface="Helvetica Neue"/>
                        </a:rPr>
                        <a:t>1004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7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1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61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992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3077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4BE9E2-A5E2-378B-DE5F-6707FCF58AE6}"/>
              </a:ext>
            </a:extLst>
          </p:cNvPr>
          <p:cNvSpPr txBox="1"/>
          <p:nvPr/>
        </p:nvSpPr>
        <p:spPr>
          <a:xfrm>
            <a:off x="6389604" y="5638938"/>
            <a:ext cx="124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81DF4-5832-B361-C072-9A9E3F099971}"/>
              </a:ext>
            </a:extLst>
          </p:cNvPr>
          <p:cNvSpPr txBox="1"/>
          <p:nvPr/>
        </p:nvSpPr>
        <p:spPr>
          <a:xfrm>
            <a:off x="6640899" y="3506163"/>
            <a:ext cx="124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5B04F6-F269-D31C-34EE-31CB68935C0F}"/>
              </a:ext>
            </a:extLst>
          </p:cNvPr>
          <p:cNvCxnSpPr>
            <a:cxnSpLocks/>
          </p:cNvCxnSpPr>
          <p:nvPr/>
        </p:nvCxnSpPr>
        <p:spPr>
          <a:xfrm flipH="1">
            <a:off x="8212321" y="4043822"/>
            <a:ext cx="1251103" cy="2371314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eft Brace 8">
            <a:extLst>
              <a:ext uri="{FF2B5EF4-FFF2-40B4-BE49-F238E27FC236}">
                <a16:creationId xmlns:a16="http://schemas.microsoft.com/office/drawing/2014/main" id="{1CAE085E-EBB4-7F7E-366C-B9BB70EE579E}"/>
              </a:ext>
            </a:extLst>
          </p:cNvPr>
          <p:cNvSpPr/>
          <p:nvPr/>
        </p:nvSpPr>
        <p:spPr>
          <a:xfrm>
            <a:off x="6747588" y="5111269"/>
            <a:ext cx="321733" cy="157855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C70D989-6C61-7A91-715B-D68DB9CB0CAE}"/>
              </a:ext>
            </a:extLst>
          </p:cNvPr>
          <p:cNvSpPr/>
          <p:nvPr/>
        </p:nvSpPr>
        <p:spPr>
          <a:xfrm>
            <a:off x="54943" y="4546482"/>
            <a:ext cx="549425" cy="5258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35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1173-FC44-9FB4-1CAE-C003FC92F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017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Showing the Address for Further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2AC44-BFE3-0ABD-1A42-DA0D8A0C1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580"/>
            <a:ext cx="10515600" cy="4351338"/>
          </a:xfrm>
        </p:spPr>
        <p:txBody>
          <a:bodyPr/>
          <a:lstStyle/>
          <a:p>
            <a:r>
              <a:rPr lang="en-US" dirty="0"/>
              <a:t>We can actually print out the address to see that the pointer is point to the address AND the array value is stored at that address: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4EBE232-E51C-FD0B-E661-EC7558479C18}"/>
              </a:ext>
            </a:extLst>
          </p:cNvPr>
          <p:cNvSpPr/>
          <p:nvPr/>
        </p:nvSpPr>
        <p:spPr>
          <a:xfrm>
            <a:off x="6037132" y="5082936"/>
            <a:ext cx="1036059" cy="7809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EFD93E-9684-E165-A046-A4D43E58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450" y="5953772"/>
            <a:ext cx="6067425" cy="76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34669A-6A04-48C5-493F-CB23B3A21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559" y="2351805"/>
            <a:ext cx="6361555" cy="26412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2181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ACF0-B36E-0605-F6A0-C285873D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666"/>
            <a:ext cx="10515600" cy="1325563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pPr algn="ctr"/>
            <a:r>
              <a:rPr lang="en-US" b="1" strike="sng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Array Memory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5E5307-D978-36AF-F83D-D0EFD2AA9642}"/>
              </a:ext>
            </a:extLst>
          </p:cNvPr>
          <p:cNvSpPr txBox="1">
            <a:spLocks/>
          </p:cNvSpPr>
          <p:nvPr/>
        </p:nvSpPr>
        <p:spPr>
          <a:xfrm>
            <a:off x="838200" y="2958517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trike="sng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Pointer Arithmetic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651BD0-BD73-02F8-B368-60BA8DB8612E}"/>
              </a:ext>
            </a:extLst>
          </p:cNvPr>
          <p:cNvSpPr txBox="1">
            <a:spLocks/>
          </p:cNvSpPr>
          <p:nvPr/>
        </p:nvSpPr>
        <p:spPr>
          <a:xfrm>
            <a:off x="838200" y="4505368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Structures</a:t>
            </a:r>
          </a:p>
        </p:txBody>
      </p:sp>
    </p:spTree>
    <p:extLst>
      <p:ext uri="{BB962C8B-B14F-4D97-AF65-F5344CB8AC3E}">
        <p14:creationId xmlns:p14="http://schemas.microsoft.com/office/powerpoint/2010/main" val="183860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0E95-F176-7C16-E180-EF6DC2FC7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410"/>
            <a:ext cx="10515600" cy="1325563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Structures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0F34EB-A5E7-7C9F-2C51-A32C1D8A7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521" y="1902085"/>
            <a:ext cx="6956258" cy="463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19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AC4B3-99C8-EA06-0CE7-E6F1A8C87DD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7DA1-CA98-CB09-3AD5-B195B708F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342" y="1825625"/>
            <a:ext cx="5812458" cy="47910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sz="2800" dirty="0"/>
              <a:t>Mechanism to define new types</a:t>
            </a:r>
          </a:p>
          <a:p>
            <a:pPr lvl="1"/>
            <a:r>
              <a:rPr lang="en-US" sz="2800" dirty="0"/>
              <a:t>Also known as “compound types”</a:t>
            </a:r>
          </a:p>
          <a:p>
            <a:pPr lvl="1"/>
            <a:r>
              <a:rPr lang="en-US" sz="2800" dirty="0"/>
              <a:t>Used to aggregate related variables of different types</a:t>
            </a:r>
          </a:p>
          <a:p>
            <a:pPr>
              <a:spcBef>
                <a:spcPts val="1100"/>
              </a:spcBef>
            </a:pPr>
            <a:r>
              <a:rPr lang="en-US" sz="2800" dirty="0"/>
              <a:t>Structures type declaration</a:t>
            </a:r>
          </a:p>
          <a:p>
            <a:pPr lvl="1">
              <a:spcBef>
                <a:spcPts val="1100"/>
              </a:spcBef>
            </a:pPr>
            <a:r>
              <a:rPr lang="en-US" sz="2800" dirty="0"/>
              <a:t>Structures can have a </a:t>
            </a:r>
            <a:r>
              <a:rPr lang="en-US" sz="2800" b="1" dirty="0">
                <a:solidFill>
                  <a:schemeClr val="accent1"/>
                </a:solidFill>
              </a:rPr>
              <a:t>type name</a:t>
            </a:r>
          </a:p>
          <a:p>
            <a:pPr lvl="1">
              <a:spcBef>
                <a:spcPts val="1100"/>
              </a:spcBef>
            </a:pPr>
            <a:r>
              <a:rPr lang="en-US" sz="2800" dirty="0"/>
              <a:t>Can have “members” of any type</a:t>
            </a:r>
          </a:p>
          <a:p>
            <a:pPr lvl="2">
              <a:spcBef>
                <a:spcPts val="1100"/>
              </a:spcBef>
            </a:pPr>
            <a:r>
              <a:rPr lang="en-US" sz="2800" dirty="0"/>
              <a:t>Basic types</a:t>
            </a:r>
          </a:p>
          <a:p>
            <a:pPr lvl="2">
              <a:spcBef>
                <a:spcPts val="1100"/>
              </a:spcBef>
            </a:pPr>
            <a:r>
              <a:rPr lang="en-US" sz="2800" dirty="0"/>
              <a:t>Pointers</a:t>
            </a:r>
          </a:p>
          <a:p>
            <a:pPr lvl="2">
              <a:spcBef>
                <a:spcPts val="1100"/>
              </a:spcBef>
            </a:pPr>
            <a:r>
              <a:rPr lang="en-US" sz="2800" dirty="0"/>
              <a:t>Arrays</a:t>
            </a:r>
          </a:p>
          <a:p>
            <a:pPr lvl="2">
              <a:spcBef>
                <a:spcPts val="1100"/>
              </a:spcBef>
            </a:pPr>
            <a:r>
              <a:rPr lang="en-US" sz="2800" dirty="0"/>
              <a:t>Other structures</a:t>
            </a:r>
          </a:p>
          <a:p>
            <a:pPr>
              <a:spcBef>
                <a:spcPts val="1100"/>
              </a:spcBef>
            </a:pPr>
            <a:r>
              <a:rPr lang="en-US" sz="2800" dirty="0"/>
              <a:t>Structure variable definition</a:t>
            </a:r>
          </a:p>
          <a:p>
            <a:pPr lvl="1">
              <a:spcBef>
                <a:spcPts val="1100"/>
              </a:spcBef>
            </a:pPr>
            <a:r>
              <a:rPr lang="en-US" sz="2800" dirty="0"/>
              <a:t>Specifies </a:t>
            </a:r>
            <a:r>
              <a:rPr lang="en-US" sz="2800" b="1" dirty="0">
                <a:solidFill>
                  <a:srgbClr val="FF0000"/>
                </a:solidFill>
              </a:rPr>
              <a:t>variable name</a:t>
            </a:r>
          </a:p>
          <a:p>
            <a:endParaRPr lang="en-US" dirty="0"/>
          </a:p>
        </p:txBody>
      </p:sp>
      <p:sp>
        <p:nvSpPr>
          <p:cNvPr id="4" name="Shape 1252">
            <a:extLst>
              <a:ext uri="{FF2B5EF4-FFF2-40B4-BE49-F238E27FC236}">
                <a16:creationId xmlns:a16="http://schemas.microsoft.com/office/drawing/2014/main" id="{42D23469-1DBB-C127-D6B6-15C52B7616E2}"/>
              </a:ext>
            </a:extLst>
          </p:cNvPr>
          <p:cNvSpPr/>
          <p:nvPr/>
        </p:nvSpPr>
        <p:spPr>
          <a:xfrm>
            <a:off x="156411" y="2590800"/>
            <a:ext cx="5181600" cy="32101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/>
            <a:miter lim="400000"/>
          </a:ln>
          <a:effectLst>
            <a:outerShdw blurRad="152400" dist="88900" dir="2700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5536" tIns="65536" rIns="65536" bIns="65536">
            <a:spAutoFit/>
          </a:bodyPr>
          <a:lstStyle/>
          <a:p>
            <a:pPr lvl="0" algn="l" defTabSz="457200">
              <a:defRPr sz="1800"/>
            </a:pPr>
            <a:r>
              <a:rPr sz="2000" dirty="0" err="1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struct</a:t>
            </a: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student_grade</a:t>
            </a: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{</a:t>
            </a:r>
          </a:p>
          <a:p>
            <a:pPr lvl="1" indent="0" algn="l" defTabSz="457200">
              <a:defRPr sz="1800"/>
            </a:pP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   char *name;</a:t>
            </a:r>
            <a:endParaRPr sz="2000" dirty="0">
              <a:solidFill>
                <a:srgbClr val="788E95"/>
              </a:solidFill>
              <a:latin typeface="Consolas" panose="020B0609020204030204" pitchFamily="49" charset="0"/>
              <a:sym typeface="Courier"/>
            </a:endParaRPr>
          </a:p>
          <a:p>
            <a:pPr lvl="1" indent="0" algn="l" defTabSz="457200">
              <a:defRPr sz="1800"/>
            </a:pP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   </a:t>
            </a:r>
            <a:r>
              <a:rPr sz="2000" dirty="0" err="1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int</a:t>
            </a: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id</a:t>
            </a: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;</a:t>
            </a:r>
            <a:endParaRPr lang="en-US" sz="2000" dirty="0">
              <a:solidFill>
                <a:srgbClr val="788E95"/>
              </a:solidFill>
              <a:latin typeface="Consolas" panose="020B0609020204030204" pitchFamily="49" charset="0"/>
              <a:sym typeface="Courier"/>
            </a:endParaRPr>
          </a:p>
          <a:p>
            <a:pPr lvl="1" indent="0" algn="l" defTabSz="457200">
              <a:defRPr sz="1800"/>
            </a:pP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   char grade[3];</a:t>
            </a:r>
            <a:endParaRPr sz="2000" dirty="0">
              <a:solidFill>
                <a:srgbClr val="788E95"/>
              </a:solidFill>
              <a:latin typeface="Consolas" panose="020B0609020204030204" pitchFamily="49" charset="0"/>
              <a:sym typeface="Courier"/>
            </a:endParaRPr>
          </a:p>
          <a:p>
            <a:pPr lvl="0" algn="l" defTabSz="457200">
              <a:defRPr sz="1800"/>
            </a:pP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};</a:t>
            </a:r>
          </a:p>
          <a:p>
            <a:pPr lvl="0" algn="l" defTabSz="457200">
              <a:defRPr sz="1800"/>
            </a:pP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…</a:t>
            </a:r>
          </a:p>
          <a:p>
            <a:pPr lvl="0" algn="l" defTabSz="457200">
              <a:defRPr sz="1800"/>
            </a:pPr>
            <a:r>
              <a:rPr sz="2000" dirty="0" err="1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struct</a:t>
            </a: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000" dirty="0" err="1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student_grade</a:t>
            </a: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student1</a:t>
            </a:r>
            <a:r>
              <a:rPr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;</a:t>
            </a:r>
            <a:endParaRPr lang="en-US" sz="2000" dirty="0">
              <a:solidFill>
                <a:srgbClr val="788E95"/>
              </a:solidFill>
              <a:latin typeface="Consolas" panose="020B0609020204030204" pitchFamily="49" charset="0"/>
              <a:sym typeface="Courier"/>
            </a:endParaRPr>
          </a:p>
          <a:p>
            <a:pPr algn="l" defTabSz="457200">
              <a:defRPr sz="1800"/>
            </a:pP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struct </a:t>
            </a:r>
            <a:r>
              <a:rPr lang="en-US" sz="2000" dirty="0" err="1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student_grade</a:t>
            </a: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student2, student3</a:t>
            </a: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;</a:t>
            </a:r>
          </a:p>
          <a:p>
            <a:pPr algn="l" defTabSz="457200">
              <a:defRPr sz="1800"/>
            </a:pPr>
            <a:r>
              <a:rPr lang="en-US" sz="2000" dirty="0" err="1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struct</a:t>
            </a: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000" dirty="0" err="1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student_grade</a:t>
            </a: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all</a:t>
            </a:r>
            <a:r>
              <a:rPr lang="en-US" sz="2000" dirty="0">
                <a:solidFill>
                  <a:srgbClr val="788E95"/>
                </a:solidFill>
                <a:latin typeface="Consolas" panose="020B0609020204030204" pitchFamily="49" charset="0"/>
                <a:sym typeface="Courier"/>
              </a:rPr>
              <a:t>[200];</a:t>
            </a:r>
          </a:p>
        </p:txBody>
      </p:sp>
    </p:spTree>
    <p:extLst>
      <p:ext uri="{BB962C8B-B14F-4D97-AF65-F5344CB8AC3E}">
        <p14:creationId xmlns:p14="http://schemas.microsoft.com/office/powerpoint/2010/main" val="6912440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B8A28-1AA1-1C7E-00F8-F4FBABFF7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035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Structure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4B3D9-6A1B-B416-7957-671269BA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31" y="1653313"/>
            <a:ext cx="10882537" cy="53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6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CE79-5974-A7BA-FA50-5D719F37A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563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Example: Array of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AEC38-10B9-BA4B-E770-9A85BF16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845" y="1727512"/>
            <a:ext cx="471884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Member name is a char array </a:t>
            </a:r>
          </a:p>
          <a:p>
            <a:r>
              <a:rPr lang="en-US" dirty="0"/>
              <a:t>Caveats</a:t>
            </a:r>
          </a:p>
          <a:p>
            <a:pPr lvl="1"/>
            <a:r>
              <a:rPr lang="en-US" dirty="0"/>
              <a:t>Names cannot be more than </a:t>
            </a:r>
            <a:r>
              <a:rPr lang="en-US" dirty="0">
                <a:solidFill>
                  <a:srgbClr val="FF0000"/>
                </a:solidFill>
              </a:rPr>
              <a:t>31</a:t>
            </a:r>
            <a:r>
              <a:rPr lang="en-US" dirty="0"/>
              <a:t> characters long</a:t>
            </a:r>
          </a:p>
          <a:p>
            <a:pPr lvl="1"/>
            <a:r>
              <a:rPr lang="en-US" dirty="0"/>
              <a:t>Four persons in family</a:t>
            </a:r>
          </a:p>
          <a:p>
            <a:pPr lvl="2"/>
            <a:r>
              <a:rPr lang="en-US" dirty="0"/>
              <a:t>Indexed 0..3</a:t>
            </a:r>
          </a:p>
          <a:p>
            <a:r>
              <a:rPr lang="en-US" dirty="0"/>
              <a:t>Array of structures for the whole family</a:t>
            </a:r>
          </a:p>
          <a:p>
            <a:pPr lvl="1"/>
            <a:r>
              <a:rPr lang="en-US" dirty="0"/>
              <a:t>Nested initializers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66FA1-AC92-3720-988D-C8E22CE8A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1" y="1554836"/>
            <a:ext cx="4535331" cy="516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51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1765-A904-90DC-63B6-316D03EDC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274" y="365125"/>
            <a:ext cx="6224526" cy="1325563"/>
          </a:xfrm>
        </p:spPr>
        <p:txBody>
          <a:bodyPr/>
          <a:lstStyle/>
          <a:p>
            <a:pPr algn="ctr"/>
            <a:r>
              <a:rPr lang="en-US" u="sng" dirty="0"/>
              <a:t>typedef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283F5-BEDF-43C1-8434-F874E994C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74" y="1825625"/>
            <a:ext cx="6224526" cy="43513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Struct names can become long</a:t>
            </a:r>
          </a:p>
          <a:p>
            <a:r>
              <a:rPr lang="en-US" dirty="0"/>
              <a:t>C provide the ability to define type abbreviations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typedef</a:t>
            </a:r>
            <a:r>
              <a:rPr lang="en-US" dirty="0"/>
              <a:t> declaration</a:t>
            </a:r>
          </a:p>
          <a:p>
            <a:pPr lvl="2"/>
            <a:r>
              <a:rPr lang="en-US" dirty="0"/>
              <a:t>Give existing type new type name</a:t>
            </a:r>
          </a:p>
          <a:p>
            <a:r>
              <a:rPr lang="en-US" dirty="0"/>
              <a:t>Make code more readable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Structure and typedef declarations often combined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66C30-0781-FA8B-14E7-9C6A8BD36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6" y="867306"/>
            <a:ext cx="4796662" cy="3620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5F8E32-833E-C3A9-FB69-0C4A54A5E6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13"/>
          <a:stretch/>
        </p:blipFill>
        <p:spPr>
          <a:xfrm>
            <a:off x="259982" y="4755378"/>
            <a:ext cx="4536680" cy="170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64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C8A1-12A5-9A29-902A-BFBA6400E6A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Operations on 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DAA5A-9566-11EA-937B-0EB8EF8EE642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/>
              <a:t>Assignment</a:t>
            </a:r>
          </a:p>
          <a:p>
            <a:pPr lvl="1"/>
            <a:r>
              <a:rPr lang="en-US" dirty="0"/>
              <a:t>All struct members copied</a:t>
            </a:r>
          </a:p>
          <a:p>
            <a:r>
              <a:rPr lang="en-US" dirty="0"/>
              <a:t>Can be passed to functions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By value</a:t>
            </a:r>
          </a:p>
          <a:p>
            <a:pPr lvl="1"/>
            <a:r>
              <a:rPr lang="en-US" dirty="0"/>
              <a:t>Even if some members are arrays!</a:t>
            </a:r>
          </a:p>
          <a:p>
            <a:r>
              <a:rPr lang="en-US" dirty="0"/>
              <a:t>Can be returned from a function</a:t>
            </a:r>
          </a:p>
          <a:p>
            <a:endParaRPr lang="en-US" dirty="0"/>
          </a:p>
          <a:p>
            <a:r>
              <a:rPr lang="en-US" dirty="0"/>
              <a:t>If pass by value, cannot change members in functions</a:t>
            </a:r>
          </a:p>
          <a:p>
            <a:r>
              <a:rPr lang="en-US" dirty="0"/>
              <a:t>Passing or returning large structures can be costly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Use pointers to structures!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904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9D61-9AA1-7751-DA11-6426503F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90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Structure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5079-1E1E-C935-3B53-F79CCB092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690" y="1044657"/>
            <a:ext cx="10515600" cy="4351338"/>
          </a:xfrm>
        </p:spPr>
        <p:txBody>
          <a:bodyPr/>
          <a:lstStyle/>
          <a:p>
            <a:r>
              <a:rPr lang="en-US" dirty="0"/>
              <a:t>Structure members are </a:t>
            </a:r>
            <a:r>
              <a:rPr lang="en-US" b="1" i="1" dirty="0">
                <a:solidFill>
                  <a:schemeClr val="accent1"/>
                </a:solidFill>
              </a:rPr>
              <a:t>aligned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for the natural types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6886A-AEED-79A7-9D66-B49A3155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451" y="1744031"/>
            <a:ext cx="8339054" cy="506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11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C900-E72E-2F27-E704-5C0D84FD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Lecture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E3D44-E688-1870-A276-B357E678C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186" y="1825625"/>
            <a:ext cx="6687613" cy="478709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/>
              <a:t>As a language C offers an extremely large amount of control over the code you program.</a:t>
            </a:r>
          </a:p>
          <a:p>
            <a:r>
              <a:rPr lang="en-US" dirty="0"/>
              <a:t>This also makes it very challenging to learn and pick up. </a:t>
            </a:r>
          </a:p>
          <a:p>
            <a:r>
              <a:rPr lang="en-US" dirty="0"/>
              <a:t>You </a:t>
            </a:r>
            <a:r>
              <a:rPr lang="en-US" b="1" u="sng" dirty="0"/>
              <a:t>DO NOT </a:t>
            </a:r>
            <a:r>
              <a:rPr lang="en-US" dirty="0"/>
              <a:t>want to be like the meme shown on this slide.</a:t>
            </a:r>
          </a:p>
          <a:p>
            <a:r>
              <a:rPr lang="en-US" dirty="0"/>
              <a:t>You should understand how to use pointers, arrays and which variables use which memory.</a:t>
            </a:r>
          </a:p>
          <a:p>
            <a:r>
              <a:rPr lang="en-US" dirty="0"/>
              <a:t>Understand how to create structures in C.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963BD-F83C-FC27-10D9-E43D891579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432" b="1798"/>
          <a:stretch/>
        </p:blipFill>
        <p:spPr>
          <a:xfrm>
            <a:off x="347315" y="3049309"/>
            <a:ext cx="4069144" cy="2503807"/>
          </a:xfrm>
          <a:prstGeom prst="rect">
            <a:avLst/>
          </a:prstGeom>
        </p:spPr>
      </p:pic>
      <p:pic>
        <p:nvPicPr>
          <p:cNvPr id="1026" name="Picture 2" descr="pointers – ProgrammerHumor.io">
            <a:extLst>
              <a:ext uri="{FF2B5EF4-FFF2-40B4-BE49-F238E27FC236}">
                <a16:creationId xmlns:a16="http://schemas.microsoft.com/office/drawing/2014/main" id="{00363D03-C1A1-25DF-1FD1-E7AA29B71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25"/>
          <a:stretch/>
        </p:blipFill>
        <p:spPr bwMode="auto">
          <a:xfrm>
            <a:off x="347315" y="1983434"/>
            <a:ext cx="4122650" cy="106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989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DB09-8905-429B-9F56-234F9EE9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E7B0-0BE8-47C7-8EC6-28421CE5E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880" y="1813851"/>
            <a:ext cx="1051560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https://i.kym-cdn.com/photos/images/newsfeed/001/608/838/9f2.jpg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3"/>
              </a:rPr>
              <a:t>https://img.memegenerator.net/instances/62930796.jpg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4"/>
              </a:rPr>
              <a:t>https://i.kym-cdn.com/entries/icons/original/000/028/596/dsmGaKWMeHXe9QuJtq_ys30PNfTGnMsRuHuo_MUzGCg.jpg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5"/>
              </a:rPr>
              <a:t>https://mediaproxy.salon.com/width/1200/https://media.salon.com/2013/07/2001_monolith.jpg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6"/>
              </a:rPr>
              <a:t>https://programmerhumor.io/wp-content/uploads/2023/01/programmerhumor-io-python-memes-backend-memes-e1c8fbd8d3296f0-608x596.jpg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5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4434</TotalTime>
  <Words>1475</Words>
  <Application>Microsoft Macintosh PowerPoint</Application>
  <PresentationFormat>Widescreen</PresentationFormat>
  <Paragraphs>261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Consolas</vt:lpstr>
      <vt:lpstr>Office Theme</vt:lpstr>
      <vt:lpstr>CSE 3100: Systems Programming</vt:lpstr>
      <vt:lpstr>1. Array Memory</vt:lpstr>
      <vt:lpstr>Review from last lecture: Memory Allocation</vt:lpstr>
      <vt:lpstr>Review from last lecture: Memory Allocation</vt:lpstr>
      <vt:lpstr>In functions why would we want to use malloc over the “[]” approach?</vt:lpstr>
      <vt:lpstr>Question: What will this code print out</vt:lpstr>
      <vt:lpstr>Will this code work? If so why?</vt:lpstr>
      <vt:lpstr>So should we just never use “[]” arrays  that come from the stack?</vt:lpstr>
      <vt:lpstr>1. Array Memory</vt:lpstr>
      <vt:lpstr>Pointers are addresses</vt:lpstr>
      <vt:lpstr>Simple Pointer Example: What value is p pointing to?</vt:lpstr>
      <vt:lpstr>There may be some confusion…</vt:lpstr>
      <vt:lpstr>Adding a pointer and an integer</vt:lpstr>
      <vt:lpstr>Can we actually see the addresses?</vt:lpstr>
      <vt:lpstr>Pointer Addition</vt:lpstr>
      <vt:lpstr>Pointers Subtraction</vt:lpstr>
      <vt:lpstr>Pointer comparisons</vt:lpstr>
      <vt:lpstr>Effect of casting types</vt:lpstr>
      <vt:lpstr>Arrays and Pointers 1</vt:lpstr>
      <vt:lpstr>Arrays and Pointers 2</vt:lpstr>
      <vt:lpstr>Are arrays and pointers the same?</vt:lpstr>
      <vt:lpstr>Visualization of Pointer vs Array</vt:lpstr>
      <vt:lpstr>Arrays and pointers are NOT the same</vt:lpstr>
      <vt:lpstr>Code example to further illustrate the point…</vt:lpstr>
      <vt:lpstr>Code example to further illustrate the point…</vt:lpstr>
      <vt:lpstr>Code example to further illustrate the point…</vt:lpstr>
      <vt:lpstr>Showing the Address for Further Proof</vt:lpstr>
      <vt:lpstr>1. Array Memory</vt:lpstr>
      <vt:lpstr>Structures</vt:lpstr>
      <vt:lpstr>Structures</vt:lpstr>
      <vt:lpstr>Structure Example</vt:lpstr>
      <vt:lpstr>Example: Array of Structures</vt:lpstr>
      <vt:lpstr>typedef</vt:lpstr>
      <vt:lpstr>Operations on struct</vt:lpstr>
      <vt:lpstr>Structure Alignment</vt:lpstr>
      <vt:lpstr>Lecture Conclusions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3100: Systems Programming</dc:title>
  <dc:creator>Mahmood, Kaleel</dc:creator>
  <cp:lastModifiedBy>Zhang, Wei</cp:lastModifiedBy>
  <cp:revision>578</cp:revision>
  <dcterms:created xsi:type="dcterms:W3CDTF">2023-01-27T23:53:51Z</dcterms:created>
  <dcterms:modified xsi:type="dcterms:W3CDTF">2026-02-09T03:07:48Z</dcterms:modified>
</cp:coreProperties>
</file>