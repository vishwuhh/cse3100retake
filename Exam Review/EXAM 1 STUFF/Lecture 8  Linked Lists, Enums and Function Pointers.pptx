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7" r:id="rId2"/>
    <p:sldId id="298" r:id="rId3"/>
    <p:sldId id="297" r:id="rId4"/>
    <p:sldId id="275" r:id="rId5"/>
    <p:sldId id="276" r:id="rId6"/>
    <p:sldId id="277" r:id="rId7"/>
    <p:sldId id="274" r:id="rId8"/>
    <p:sldId id="279" r:id="rId9"/>
    <p:sldId id="270" r:id="rId10"/>
    <p:sldId id="271" r:id="rId11"/>
    <p:sldId id="268" r:id="rId12"/>
    <p:sldId id="272" r:id="rId13"/>
    <p:sldId id="273" r:id="rId14"/>
    <p:sldId id="280" r:id="rId15"/>
    <p:sldId id="281" r:id="rId16"/>
    <p:sldId id="282" r:id="rId17"/>
    <p:sldId id="284" r:id="rId18"/>
    <p:sldId id="285" r:id="rId19"/>
    <p:sldId id="286" r:id="rId20"/>
    <p:sldId id="288" r:id="rId21"/>
    <p:sldId id="289" r:id="rId22"/>
    <p:sldId id="290" r:id="rId23"/>
    <p:sldId id="291" r:id="rId24"/>
    <p:sldId id="292" r:id="rId25"/>
    <p:sldId id="304" r:id="rId26"/>
    <p:sldId id="305" r:id="rId27"/>
    <p:sldId id="306" r:id="rId28"/>
    <p:sldId id="307" r:id="rId29"/>
    <p:sldId id="296" r:id="rId30"/>
    <p:sldId id="294" r:id="rId31"/>
    <p:sldId id="301" r:id="rId32"/>
    <p:sldId id="302" r:id="rId33"/>
    <p:sldId id="299" r:id="rId34"/>
    <p:sldId id="300" r:id="rId35"/>
    <p:sldId id="303" r:id="rId36"/>
    <p:sldId id="308" r:id="rId37"/>
    <p:sldId id="267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5878" autoAdjust="0"/>
  </p:normalViewPr>
  <p:slideViewPr>
    <p:cSldViewPr snapToGrid="0">
      <p:cViewPr varScale="1">
        <p:scale>
          <a:sx n="108" d="100"/>
          <a:sy n="108" d="100"/>
        </p:scale>
        <p:origin x="73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F3A924-CE97-425A-A786-AE2D571B426D}" type="datetimeFigureOut">
              <a:rPr lang="en-US" smtClean="0"/>
              <a:t>2/11/25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0F7F85-2320-42D5-873B-256BB844E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146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09D25-0B7F-B1CE-F52E-9BA180E518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C0CE05-F75B-02D8-8A30-411F81134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F4BF1-9131-BA65-857F-63169ABE4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572BF-C76E-4508-9D8B-FECC02DEE63E}" type="datetimeFigureOut">
              <a:rPr lang="en-US" smtClean="0"/>
              <a:t>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73C87-2B46-7F2A-D54F-B103EEB8C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5D531-CF50-EC02-D54F-90E5EF8A1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B30E7-6FA1-4879-A6E2-A42A4829A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89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34AE6-9797-FAFB-9776-3EDFC4AC2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DA617-9364-9892-D582-FA6A4C2DF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2AB2B4-E407-7F20-2C03-3B9DEAA8A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572BF-C76E-4508-9D8B-FECC02DEE63E}" type="datetimeFigureOut">
              <a:rPr lang="en-US" smtClean="0"/>
              <a:t>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343465-F846-7A57-19E5-49775734B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23432-705B-6524-3DA0-8955FF241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B30E7-6FA1-4879-A6E2-A42A4829A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093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CDD7B-EA2B-C58F-AC77-970C87C40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326374-B654-3D23-541D-35D8ACFBAE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52D59-73F1-E990-97F9-26327F3CF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572BF-C76E-4508-9D8B-FECC02DEE63E}" type="datetimeFigureOut">
              <a:rPr lang="en-US" smtClean="0"/>
              <a:t>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C0430-3B2D-BB17-5CC8-1630F0F88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9DA0FA-1DBA-CDD7-C34F-857727235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B30E7-6FA1-4879-A6E2-A42A4829A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513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83800-5D5C-B70A-E398-0969312EC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52DBC-6D25-AF9C-A3DC-A94E0C8B29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8E3C90-3909-A1E9-2AD8-1E22515C83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C35C4D-B429-57CF-1265-831FD1E10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572BF-C76E-4508-9D8B-FECC02DEE63E}" type="datetimeFigureOut">
              <a:rPr lang="en-US" smtClean="0"/>
              <a:t>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16525F-FD69-74B8-5A7C-A93FB8C76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D4C3E4-1EBF-7DAB-A0AC-A900BC04C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B30E7-6FA1-4879-A6E2-A42A4829A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178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9D59C-4559-6D15-7730-DDCAC53A1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EAB68-959E-B80E-E31C-BE1FC1E076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A012B4-AC8E-A924-A4EB-4D9BD2988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1F1374-4DF5-5DBF-D35B-F374C4A203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0AD48C-1E35-C57C-D264-0706F96A02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5B0A3E-A8B0-DACB-6187-465418895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572BF-C76E-4508-9D8B-FECC02DEE63E}" type="datetimeFigureOut">
              <a:rPr lang="en-US" smtClean="0"/>
              <a:t>2/11/25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D14AE0-77CB-BC60-82FE-A9DC042B4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ADA030-00D2-34B9-4173-6A7B23086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B30E7-6FA1-4879-A6E2-A42A4829A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327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1C08D-4DED-F266-A1DB-A9284FD73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09A5C6-B5AC-CB1E-C483-C271866BE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572BF-C76E-4508-9D8B-FECC02DEE63E}" type="datetimeFigureOut">
              <a:rPr lang="en-US" smtClean="0"/>
              <a:t>2/11/25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ED328F-0119-811E-2172-E4F3E69D4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AA8566-40F3-1633-2B6B-D768D90B9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B30E7-6FA1-4879-A6E2-A42A4829A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672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98AC85-0553-EA33-E5A4-3FF985C56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572BF-C76E-4508-9D8B-FECC02DEE63E}" type="datetimeFigureOut">
              <a:rPr lang="en-US" smtClean="0"/>
              <a:t>2/11/25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4E5CCA-3103-DB17-B61A-06494BEFA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77A18-20AB-3E58-510F-7FCF4BC98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B30E7-6FA1-4879-A6E2-A42A4829A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196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41EBF-410F-B5E9-5501-4CC5623B4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47C07-E3C8-3CA6-FCCD-BE3D6996A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A800DF-3EF7-E8B2-4756-1E233BB3D4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591134-9D61-11BC-13D9-CF67C8E18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572BF-C76E-4508-9D8B-FECC02DEE63E}" type="datetimeFigureOut">
              <a:rPr lang="en-US" smtClean="0"/>
              <a:t>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F921C1-8889-DDB0-C723-1AFBE307F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ACF56-AEAE-7DD8-6F62-A5BDAEEC0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B30E7-6FA1-4879-A6E2-A42A4829A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036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72757-32A7-35AE-29F5-E312AE05A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A62C0F-D056-223D-88F6-61C6D78BBD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C5E826-965D-A19B-F233-CBAC7BB063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E48648-211E-CBEE-C76E-DC9313E4A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572BF-C76E-4508-9D8B-FECC02DEE63E}" type="datetimeFigureOut">
              <a:rPr lang="en-US" smtClean="0"/>
              <a:t>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C187EC-4639-A166-253E-C1D61199F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15C077-D90B-1D7E-83D9-5B88D79B3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B30E7-6FA1-4879-A6E2-A42A4829A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425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D5B39-EE3B-FFD3-2F5E-EA7ED2965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2BB011-3B4A-9402-46B3-26A1773AD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A7EAC-12DD-271D-B44B-6A2ACC3AD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572BF-C76E-4508-9D8B-FECC02DEE63E}" type="datetimeFigureOut">
              <a:rPr lang="en-US" smtClean="0"/>
              <a:t>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16B88-1849-5016-6D8C-25D348960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2FB27-6A09-5D3C-ACAE-2962A672C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B30E7-6FA1-4879-A6E2-A42A4829A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259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83E93C-2C00-2AE1-994A-BE27EBE2BF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892ECD-3BA7-D54F-15BA-433730C2E2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2040E-C9C2-B662-63C1-8F5D2975A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572BF-C76E-4508-9D8B-FECC02DEE63E}" type="datetimeFigureOut">
              <a:rPr lang="en-US" smtClean="0"/>
              <a:t>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E9B1C-0772-CFAD-1394-DD0380F08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89A3A-49EA-15D6-85ED-B3A582AD8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B30E7-6FA1-4879-A6E2-A42A4829A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917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523662-4C2E-DFA0-219E-2458A1054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CCB472-9163-5518-643D-4735C1C25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97181-79B3-4EFB-12A9-FE54C05788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9572BF-C76E-4508-9D8B-FECC02DEE63E}" type="datetimeFigureOut">
              <a:rPr lang="en-US" smtClean="0"/>
              <a:t>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FDDE42-872E-A541-37C2-C737F2B197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814DC-6659-CF02-0983-BC526E1D30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B30E7-6FA1-4879-A6E2-A42A4829A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349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programmercave0.github.io/assets/Memes-Linkedlist/llmeme2.jpg" TargetMode="External"/><Relationship Id="rId2" Type="http://schemas.openxmlformats.org/officeDocument/2006/relationships/hyperlink" Target="http://www.zentut.com/c-tutorial/c-linked-list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dlememe.com/wp-content/uploads/2021/10/spiderman-pointing-meme-idlememe-2.jpg" TargetMode="External"/><Relationship Id="rId5" Type="http://schemas.openxmlformats.org/officeDocument/2006/relationships/hyperlink" Target="https://akashicseer.com/wp-content/uploads/2022/02/pirate-what-is-this-fool.jpg" TargetMode="External"/><Relationship Id="rId4" Type="http://schemas.openxmlformats.org/officeDocument/2006/relationships/hyperlink" Target="https://programmercave0.github.io/assets/Memes-Linkedlist/llmeme6.jp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3C04B-99DA-465F-9622-6B3B5A36CF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839902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</p:spPr>
        <p:txBody>
          <a:bodyPr>
            <a:normAutofit/>
          </a:bodyPr>
          <a:lstStyle/>
          <a:p>
            <a:r>
              <a:rPr lang="en-US" sz="4800" dirty="0"/>
              <a:t>CSE 3100: Systems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245AFA-748C-4441-9A3A-253D6A215D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0693" y="5202238"/>
            <a:ext cx="9144000" cy="1655762"/>
          </a:xfrm>
        </p:spPr>
        <p:txBody>
          <a:bodyPr/>
          <a:lstStyle/>
          <a:p>
            <a:r>
              <a:rPr lang="en-US"/>
              <a:t>Department </a:t>
            </a:r>
            <a:r>
              <a:rPr lang="en-US" dirty="0"/>
              <a:t>of Computer Science and Engineering</a:t>
            </a:r>
          </a:p>
          <a:p>
            <a:r>
              <a:rPr lang="en-US" dirty="0"/>
              <a:t>University of Connecticut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2CB5F35-6329-406D-89BD-C9BBF92B1EAD}"/>
              </a:ext>
            </a:extLst>
          </p:cNvPr>
          <p:cNvSpPr txBox="1">
            <a:spLocks/>
          </p:cNvSpPr>
          <p:nvPr/>
        </p:nvSpPr>
        <p:spPr>
          <a:xfrm>
            <a:off x="0" y="2853241"/>
            <a:ext cx="12192000" cy="9398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dirty="0"/>
              <a:t>Lecture 8 : Linked Lists, Enums and Function Pointers</a:t>
            </a:r>
          </a:p>
        </p:txBody>
      </p:sp>
    </p:spTree>
    <p:extLst>
      <p:ext uri="{BB962C8B-B14F-4D97-AF65-F5344CB8AC3E}">
        <p14:creationId xmlns:p14="http://schemas.microsoft.com/office/powerpoint/2010/main" val="2521234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275BD-DCB2-B706-A755-44EA67656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834" y="2023003"/>
            <a:ext cx="10515600" cy="1325563"/>
          </a:xfr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/>
              <a:t>1. Linked Lists and Structures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849D93B-736F-32BD-0914-B1439D29AFE5}"/>
              </a:ext>
            </a:extLst>
          </p:cNvPr>
          <p:cNvSpPr txBox="1">
            <a:spLocks/>
          </p:cNvSpPr>
          <p:nvPr/>
        </p:nvSpPr>
        <p:spPr>
          <a:xfrm>
            <a:off x="897467" y="3538537"/>
            <a:ext cx="10515600" cy="132556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2. Enumeration Types and Constants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6AD6EC-6908-0477-63D7-FAA2DBDECA52}"/>
              </a:ext>
            </a:extLst>
          </p:cNvPr>
          <p:cNvSpPr txBox="1">
            <a:spLocks/>
          </p:cNvSpPr>
          <p:nvPr/>
        </p:nvSpPr>
        <p:spPr>
          <a:xfrm>
            <a:off x="897467" y="5114925"/>
            <a:ext cx="10515600" cy="132556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US" dirty="0"/>
              <a:t>3. Function Pointers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0EADE41-07A6-46F3-DB5F-8BA23481F6C8}"/>
              </a:ext>
            </a:extLst>
          </p:cNvPr>
          <p:cNvSpPr txBox="1">
            <a:spLocks/>
          </p:cNvSpPr>
          <p:nvPr/>
        </p:nvSpPr>
        <p:spPr>
          <a:xfrm>
            <a:off x="867834" y="339725"/>
            <a:ext cx="10515600" cy="1325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US" dirty="0">
                <a:solidFill>
                  <a:schemeClr val="tx1"/>
                </a:solidFill>
              </a:rPr>
              <a:t>Today’s Lecture Topics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9107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275BD-DCB2-B706-A755-44EA67656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000" y="2867025"/>
            <a:ext cx="10515600" cy="1325563"/>
          </a:xfr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/>
              <a:t>1. Linked Lists and Structures</a:t>
            </a:r>
          </a:p>
        </p:txBody>
      </p:sp>
    </p:spTree>
    <p:extLst>
      <p:ext uri="{BB962C8B-B14F-4D97-AF65-F5344CB8AC3E}">
        <p14:creationId xmlns:p14="http://schemas.microsoft.com/office/powerpoint/2010/main" val="3835915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1BE71-74DD-D633-E2EF-DAD47DF5F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3158"/>
            <a:ext cx="10515600" cy="1325563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Review from last lecture…structures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53E75C-D35D-0674-16AC-D98887972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116" y="1831975"/>
            <a:ext cx="5057635" cy="478366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C66DFBD-793E-17A3-CEC5-DEA5AB2CA0AD}"/>
              </a:ext>
            </a:extLst>
          </p:cNvPr>
          <p:cNvSpPr/>
          <p:nvPr/>
        </p:nvSpPr>
        <p:spPr>
          <a:xfrm>
            <a:off x="723899" y="3691466"/>
            <a:ext cx="5482167" cy="14605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E1A2AF-7F1E-419D-0D23-636DD3FBBDD7}"/>
              </a:ext>
            </a:extLst>
          </p:cNvPr>
          <p:cNvSpPr/>
          <p:nvPr/>
        </p:nvSpPr>
        <p:spPr>
          <a:xfrm>
            <a:off x="723898" y="5253566"/>
            <a:ext cx="5482167" cy="14605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A04EF5FF-EACF-5434-A9C4-BA75BE4F1ACA}"/>
              </a:ext>
            </a:extLst>
          </p:cNvPr>
          <p:cNvSpPr/>
          <p:nvPr/>
        </p:nvSpPr>
        <p:spPr>
          <a:xfrm>
            <a:off x="5604934" y="2294467"/>
            <a:ext cx="848051" cy="1346200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D86D4F-C468-1A7F-7F37-27C23EE14601}"/>
              </a:ext>
            </a:extLst>
          </p:cNvPr>
          <p:cNvSpPr txBox="1"/>
          <p:nvPr/>
        </p:nvSpPr>
        <p:spPr>
          <a:xfrm>
            <a:off x="6452985" y="2294467"/>
            <a:ext cx="4339167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Here we define a student structure and some related variables </a:t>
            </a:r>
          </a:p>
        </p:txBody>
      </p:sp>
    </p:spTree>
    <p:extLst>
      <p:ext uri="{BB962C8B-B14F-4D97-AF65-F5344CB8AC3E}">
        <p14:creationId xmlns:p14="http://schemas.microsoft.com/office/powerpoint/2010/main" val="3321368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1BE71-74DD-D633-E2EF-DAD47DF5F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3158"/>
            <a:ext cx="10515600" cy="1325563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Structures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53E75C-D35D-0674-16AC-D98887972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116" y="1831975"/>
            <a:ext cx="5057635" cy="478366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C66DFBD-793E-17A3-CEC5-DEA5AB2CA0AD}"/>
              </a:ext>
            </a:extLst>
          </p:cNvPr>
          <p:cNvSpPr/>
          <p:nvPr/>
        </p:nvSpPr>
        <p:spPr>
          <a:xfrm>
            <a:off x="714701" y="1790701"/>
            <a:ext cx="5482167" cy="19261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E1A2AF-7F1E-419D-0D23-636DD3FBBDD7}"/>
              </a:ext>
            </a:extLst>
          </p:cNvPr>
          <p:cNvSpPr/>
          <p:nvPr/>
        </p:nvSpPr>
        <p:spPr>
          <a:xfrm>
            <a:off x="714700" y="3716867"/>
            <a:ext cx="5482167" cy="14605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A04EF5FF-EACF-5434-A9C4-BA75BE4F1ACA}"/>
              </a:ext>
            </a:extLst>
          </p:cNvPr>
          <p:cNvSpPr/>
          <p:nvPr/>
        </p:nvSpPr>
        <p:spPr>
          <a:xfrm>
            <a:off x="5516725" y="5446184"/>
            <a:ext cx="848051" cy="1118658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D86D4F-C468-1A7F-7F37-27C23EE14601}"/>
              </a:ext>
            </a:extLst>
          </p:cNvPr>
          <p:cNvSpPr txBox="1"/>
          <p:nvPr/>
        </p:nvSpPr>
        <p:spPr>
          <a:xfrm>
            <a:off x="6364776" y="5405348"/>
            <a:ext cx="4339167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 main create an instance of the student structure and call the set grades function.</a:t>
            </a:r>
          </a:p>
        </p:txBody>
      </p:sp>
    </p:spTree>
    <p:extLst>
      <p:ext uri="{BB962C8B-B14F-4D97-AF65-F5344CB8AC3E}">
        <p14:creationId xmlns:p14="http://schemas.microsoft.com/office/powerpoint/2010/main" val="2350053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1BE71-74DD-D633-E2EF-DAD47DF5F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3158"/>
            <a:ext cx="10515600" cy="1325563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Structures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53E75C-D35D-0674-16AC-D98887972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116" y="1831975"/>
            <a:ext cx="5057635" cy="478366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C66DFBD-793E-17A3-CEC5-DEA5AB2CA0AD}"/>
              </a:ext>
            </a:extLst>
          </p:cNvPr>
          <p:cNvSpPr/>
          <p:nvPr/>
        </p:nvSpPr>
        <p:spPr>
          <a:xfrm>
            <a:off x="714701" y="1790701"/>
            <a:ext cx="5482167" cy="19261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E1A2AF-7F1E-419D-0D23-636DD3FBBDD7}"/>
              </a:ext>
            </a:extLst>
          </p:cNvPr>
          <p:cNvSpPr/>
          <p:nvPr/>
        </p:nvSpPr>
        <p:spPr>
          <a:xfrm>
            <a:off x="536900" y="5155141"/>
            <a:ext cx="5482167" cy="14605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A04EF5FF-EACF-5434-A9C4-BA75BE4F1ACA}"/>
              </a:ext>
            </a:extLst>
          </p:cNvPr>
          <p:cNvSpPr/>
          <p:nvPr/>
        </p:nvSpPr>
        <p:spPr>
          <a:xfrm>
            <a:off x="5555884" y="3841751"/>
            <a:ext cx="848051" cy="1118658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D86D4F-C468-1A7F-7F37-27C23EE14601}"/>
              </a:ext>
            </a:extLst>
          </p:cNvPr>
          <p:cNvSpPr txBox="1"/>
          <p:nvPr/>
        </p:nvSpPr>
        <p:spPr>
          <a:xfrm>
            <a:off x="6403935" y="3349447"/>
            <a:ext cx="5073364" cy="30469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Here we have the set grades function where we take a pointer to a student object.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Note how C allows TWO different (but operationally equal) ways to set the variables of a structure when only a pointer is given.</a:t>
            </a:r>
          </a:p>
        </p:txBody>
      </p:sp>
    </p:spTree>
    <p:extLst>
      <p:ext uri="{BB962C8B-B14F-4D97-AF65-F5344CB8AC3E}">
        <p14:creationId xmlns:p14="http://schemas.microsoft.com/office/powerpoint/2010/main" val="2918719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1BE71-74DD-D633-E2EF-DAD47DF5F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3158"/>
            <a:ext cx="10515600" cy="1325563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Structures Example Entire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53E75C-D35D-0674-16AC-D98887972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550" y="1820332"/>
            <a:ext cx="5057635" cy="478366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ight Brace 4">
            <a:extLst>
              <a:ext uri="{FF2B5EF4-FFF2-40B4-BE49-F238E27FC236}">
                <a16:creationId xmlns:a16="http://schemas.microsoft.com/office/drawing/2014/main" id="{5705A04A-C3E3-A2C2-6A61-72890ADB3E3F}"/>
              </a:ext>
            </a:extLst>
          </p:cNvPr>
          <p:cNvSpPr/>
          <p:nvPr/>
        </p:nvSpPr>
        <p:spPr>
          <a:xfrm>
            <a:off x="5084234" y="2315634"/>
            <a:ext cx="848051" cy="1346200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E52A3CE2-D879-B764-152F-EA86A8E23964}"/>
              </a:ext>
            </a:extLst>
          </p:cNvPr>
          <p:cNvSpPr/>
          <p:nvPr/>
        </p:nvSpPr>
        <p:spPr>
          <a:xfrm>
            <a:off x="5160434" y="3786716"/>
            <a:ext cx="848051" cy="1346200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A0E01863-4CF1-473D-4134-7718B3ABC418}"/>
              </a:ext>
            </a:extLst>
          </p:cNvPr>
          <p:cNvSpPr/>
          <p:nvPr/>
        </p:nvSpPr>
        <p:spPr>
          <a:xfrm>
            <a:off x="5247949" y="5218642"/>
            <a:ext cx="848051" cy="1346200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E66FBB-DA6A-FD0A-2397-41B61718B9A1}"/>
              </a:ext>
            </a:extLst>
          </p:cNvPr>
          <p:cNvSpPr txBox="1"/>
          <p:nvPr/>
        </p:nvSpPr>
        <p:spPr>
          <a:xfrm>
            <a:off x="5932285" y="2623347"/>
            <a:ext cx="5359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Code to define a structure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FEE47C-95D6-CDD3-69B3-0A9C3E9FA7F0}"/>
              </a:ext>
            </a:extLst>
          </p:cNvPr>
          <p:cNvSpPr txBox="1"/>
          <p:nvPr/>
        </p:nvSpPr>
        <p:spPr>
          <a:xfrm>
            <a:off x="5932285" y="4167720"/>
            <a:ext cx="5359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Function that operates on a pointer to a structure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78B4FB-277C-D313-0B2F-2CC458EA3BCF}"/>
              </a:ext>
            </a:extLst>
          </p:cNvPr>
          <p:cNvSpPr txBox="1"/>
          <p:nvPr/>
        </p:nvSpPr>
        <p:spPr>
          <a:xfrm>
            <a:off x="6059285" y="5660909"/>
            <a:ext cx="535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Main where we instantiate the structure</a:t>
            </a:r>
          </a:p>
        </p:txBody>
      </p:sp>
    </p:spTree>
    <p:extLst>
      <p:ext uri="{BB962C8B-B14F-4D97-AF65-F5344CB8AC3E}">
        <p14:creationId xmlns:p14="http://schemas.microsoft.com/office/powerpoint/2010/main" val="1736937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4DC78-09DB-9872-15F9-94E080BC11C5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/>
              <a:t>Structures in C in practice: Linked Lists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EBABF1-D479-263D-10E3-024A7FE787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389"/>
          <a:stretch/>
        </p:blipFill>
        <p:spPr>
          <a:xfrm>
            <a:off x="3581400" y="1968181"/>
            <a:ext cx="5448301" cy="4555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365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7F765-E2DE-4852-89AC-BF66F66AD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3746" y="341988"/>
            <a:ext cx="6232849" cy="1325563"/>
          </a:xfrm>
        </p:spPr>
        <p:txBody>
          <a:bodyPr>
            <a:normAutofit/>
          </a:bodyPr>
          <a:lstStyle/>
          <a:p>
            <a:pPr algn="ctr"/>
            <a:r>
              <a:rPr lang="en-US" sz="6600" u="sng" dirty="0"/>
              <a:t>Singly Linked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66DC8-3B14-4F0D-BAAE-8D53DE8B65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265" y="3784337"/>
            <a:ext cx="10963470" cy="2113384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dirty="0"/>
              <a:t>Linear collection of data elements as nodes. </a:t>
            </a:r>
          </a:p>
          <a:p>
            <a:r>
              <a:rPr lang="en-US" dirty="0"/>
              <a:t>Each node contains a value and a pointer to the next element. </a:t>
            </a:r>
          </a:p>
          <a:p>
            <a:r>
              <a:rPr lang="en-US" dirty="0"/>
              <a:t>The last element points to a terminator to show that the end of the list has been reached. 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6BCFFAD0-BDBD-49E1-8E42-9F28ABF913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5988" y="1951127"/>
            <a:ext cx="9060024" cy="910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AFB8449-D531-42AF-866E-A7C200A9F301}"/>
              </a:ext>
            </a:extLst>
          </p:cNvPr>
          <p:cNvSpPr txBox="1"/>
          <p:nvPr/>
        </p:nvSpPr>
        <p:spPr>
          <a:xfrm>
            <a:off x="2276670" y="6596390"/>
            <a:ext cx="7781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Figure Source: https://upload.wikimedia.org/wikipedia/commons/thumb/6/6d/Singly-linked-list.svg/1920px-Singly-linked-list.svg.png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C2D8F5-D26C-4486-BB7C-5986A1F96653}"/>
              </a:ext>
            </a:extLst>
          </p:cNvPr>
          <p:cNvSpPr txBox="1"/>
          <p:nvPr/>
        </p:nvSpPr>
        <p:spPr>
          <a:xfrm>
            <a:off x="9601200" y="1581795"/>
            <a:ext cx="1212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Terminator</a:t>
            </a:r>
          </a:p>
        </p:txBody>
      </p:sp>
    </p:spTree>
    <p:extLst>
      <p:ext uri="{BB962C8B-B14F-4D97-AF65-F5344CB8AC3E}">
        <p14:creationId xmlns:p14="http://schemas.microsoft.com/office/powerpoint/2010/main" val="1946188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94EFD41-C0D6-4E9A-A73A-DD6AAF701F3E}"/>
              </a:ext>
            </a:extLst>
          </p:cNvPr>
          <p:cNvSpPr txBox="1">
            <a:spLocks/>
          </p:cNvSpPr>
          <p:nvPr/>
        </p:nvSpPr>
        <p:spPr>
          <a:xfrm>
            <a:off x="0" y="75876"/>
            <a:ext cx="121920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u="sng" dirty="0"/>
              <a:t>Simple Single Linked List Example</a:t>
            </a:r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8CD1880E-6658-444F-9DED-1D8E23727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5253" y="2070022"/>
            <a:ext cx="6206412" cy="623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FB11BE58-64EF-42FE-9877-37FFFD73DF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143"/>
          <a:stretch/>
        </p:blipFill>
        <p:spPr bwMode="auto">
          <a:xfrm>
            <a:off x="2312127" y="2070022"/>
            <a:ext cx="1232418" cy="623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35DCAB5-E7C9-4431-B0C9-66F98934D2B8}"/>
              </a:ext>
            </a:extLst>
          </p:cNvPr>
          <p:cNvSpPr txBox="1"/>
          <p:nvPr/>
        </p:nvSpPr>
        <p:spPr>
          <a:xfrm>
            <a:off x="2394936" y="2151126"/>
            <a:ext cx="44577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4495F2-8A48-4DC8-8E2C-2AE8693951E1}"/>
              </a:ext>
            </a:extLst>
          </p:cNvPr>
          <p:cNvSpPr txBox="1"/>
          <p:nvPr/>
        </p:nvSpPr>
        <p:spPr>
          <a:xfrm>
            <a:off x="2217420" y="1682028"/>
            <a:ext cx="1670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New Element</a:t>
            </a:r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FE2922C4-5E8E-4C5D-B1F0-23622ED27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6422" y="3616586"/>
            <a:ext cx="6206412" cy="623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>
            <a:extLst>
              <a:ext uri="{FF2B5EF4-FFF2-40B4-BE49-F238E27FC236}">
                <a16:creationId xmlns:a16="http://schemas.microsoft.com/office/drawing/2014/main" id="{959CB4EA-D2CA-43E0-A3BB-48F42792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143"/>
          <a:stretch/>
        </p:blipFill>
        <p:spPr bwMode="auto">
          <a:xfrm>
            <a:off x="2312127" y="3616586"/>
            <a:ext cx="1232418" cy="623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3DEF4AB-92BD-4783-A378-9E057E93D8FE}"/>
              </a:ext>
            </a:extLst>
          </p:cNvPr>
          <p:cNvSpPr txBox="1"/>
          <p:nvPr/>
        </p:nvSpPr>
        <p:spPr>
          <a:xfrm>
            <a:off x="2394936" y="3697690"/>
            <a:ext cx="44577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5</a:t>
            </a:r>
          </a:p>
        </p:txBody>
      </p:sp>
      <p:pic>
        <p:nvPicPr>
          <p:cNvPr id="26" name="Picture 2">
            <a:extLst>
              <a:ext uri="{FF2B5EF4-FFF2-40B4-BE49-F238E27FC236}">
                <a16:creationId xmlns:a16="http://schemas.microsoft.com/office/drawing/2014/main" id="{ED25FE93-C436-46B9-8871-92524F0965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97" r="70331"/>
          <a:stretch/>
        </p:blipFill>
        <p:spPr bwMode="auto">
          <a:xfrm>
            <a:off x="3501546" y="3616585"/>
            <a:ext cx="606490" cy="623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77068B-6FDF-4770-89A3-ADA56875F000}"/>
              </a:ext>
            </a:extLst>
          </p:cNvPr>
          <p:cNvSpPr txBox="1"/>
          <p:nvPr/>
        </p:nvSpPr>
        <p:spPr>
          <a:xfrm>
            <a:off x="2809215" y="3152892"/>
            <a:ext cx="686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Inserting at the head of the list is easy! What is the time complexity?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E004B5-1D6B-48FD-99B5-2B957E06BA95}"/>
              </a:ext>
            </a:extLst>
          </p:cNvPr>
          <p:cNvSpPr txBox="1"/>
          <p:nvPr/>
        </p:nvSpPr>
        <p:spPr>
          <a:xfrm>
            <a:off x="1651519" y="4904345"/>
            <a:ext cx="9405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Now I want to insert at an arbitrary location, e.g. after node value 37. What is the time complexity?</a:t>
            </a:r>
          </a:p>
        </p:txBody>
      </p:sp>
      <p:pic>
        <p:nvPicPr>
          <p:cNvPr id="29" name="Picture 2">
            <a:extLst>
              <a:ext uri="{FF2B5EF4-FFF2-40B4-BE49-F238E27FC236}">
                <a16:creationId xmlns:a16="http://schemas.microsoft.com/office/drawing/2014/main" id="{1F7E60AD-2DE9-4357-AE19-4F23D7404B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337" y="5884865"/>
            <a:ext cx="6206412" cy="623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rrow: Curved Down 6">
            <a:extLst>
              <a:ext uri="{FF2B5EF4-FFF2-40B4-BE49-F238E27FC236}">
                <a16:creationId xmlns:a16="http://schemas.microsoft.com/office/drawing/2014/main" id="{DEC3DECF-3EF4-4CCD-BD22-32E7E461F60C}"/>
              </a:ext>
            </a:extLst>
          </p:cNvPr>
          <p:cNvSpPr/>
          <p:nvPr/>
        </p:nvSpPr>
        <p:spPr>
          <a:xfrm>
            <a:off x="4381815" y="5485934"/>
            <a:ext cx="1298820" cy="458996"/>
          </a:xfrm>
          <a:prstGeom prst="curvedDown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Arrow: Curved Down 32">
            <a:extLst>
              <a:ext uri="{FF2B5EF4-FFF2-40B4-BE49-F238E27FC236}">
                <a16:creationId xmlns:a16="http://schemas.microsoft.com/office/drawing/2014/main" id="{547B90B4-C36A-4313-B02A-C5522F232560}"/>
              </a:ext>
            </a:extLst>
          </p:cNvPr>
          <p:cNvSpPr/>
          <p:nvPr/>
        </p:nvSpPr>
        <p:spPr>
          <a:xfrm>
            <a:off x="2658371" y="5502173"/>
            <a:ext cx="1298820" cy="458996"/>
          </a:xfrm>
          <a:prstGeom prst="curvedDown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Arrow: Curved Down 33">
            <a:extLst>
              <a:ext uri="{FF2B5EF4-FFF2-40B4-BE49-F238E27FC236}">
                <a16:creationId xmlns:a16="http://schemas.microsoft.com/office/drawing/2014/main" id="{4FEA46CC-0185-4567-9704-4DC200268DBF}"/>
              </a:ext>
            </a:extLst>
          </p:cNvPr>
          <p:cNvSpPr/>
          <p:nvPr/>
        </p:nvSpPr>
        <p:spPr>
          <a:xfrm>
            <a:off x="6243579" y="5462344"/>
            <a:ext cx="1298820" cy="458996"/>
          </a:xfrm>
          <a:prstGeom prst="curvedDown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6" name="Picture 2">
            <a:extLst>
              <a:ext uri="{FF2B5EF4-FFF2-40B4-BE49-F238E27FC236}">
                <a16:creationId xmlns:a16="http://schemas.microsoft.com/office/drawing/2014/main" id="{2F55B1B8-EB42-452F-B0AF-C6F772BEF6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143"/>
          <a:stretch/>
        </p:blipFill>
        <p:spPr bwMode="auto">
          <a:xfrm>
            <a:off x="7174540" y="5903103"/>
            <a:ext cx="1232418" cy="623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4D252A3-C119-4F66-B3B3-D5C3E68F25E9}"/>
              </a:ext>
            </a:extLst>
          </p:cNvPr>
          <p:cNvSpPr txBox="1"/>
          <p:nvPr/>
        </p:nvSpPr>
        <p:spPr>
          <a:xfrm>
            <a:off x="7195633" y="5930852"/>
            <a:ext cx="548640" cy="5486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  5</a:t>
            </a:r>
          </a:p>
        </p:txBody>
      </p:sp>
      <p:pic>
        <p:nvPicPr>
          <p:cNvPr id="38" name="Picture 2">
            <a:extLst>
              <a:ext uri="{FF2B5EF4-FFF2-40B4-BE49-F238E27FC236}">
                <a16:creationId xmlns:a16="http://schemas.microsoft.com/office/drawing/2014/main" id="{5CD44DBD-470F-4D3B-920F-59CF48BDE3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97" r="70331"/>
          <a:stretch/>
        </p:blipFill>
        <p:spPr bwMode="auto">
          <a:xfrm>
            <a:off x="8406958" y="5903103"/>
            <a:ext cx="606490" cy="623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2">
            <a:extLst>
              <a:ext uri="{FF2B5EF4-FFF2-40B4-BE49-F238E27FC236}">
                <a16:creationId xmlns:a16="http://schemas.microsoft.com/office/drawing/2014/main" id="{34FB1578-E3BE-4C82-9FC1-D877BB9DE4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748"/>
          <a:stretch/>
        </p:blipFill>
        <p:spPr bwMode="auto">
          <a:xfrm>
            <a:off x="9013448" y="5903103"/>
            <a:ext cx="636263" cy="623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869D4CF-5FD8-4890-A2B5-EFE3FAAC5F17}"/>
              </a:ext>
            </a:extLst>
          </p:cNvPr>
          <p:cNvSpPr txBox="1"/>
          <p:nvPr/>
        </p:nvSpPr>
        <p:spPr>
          <a:xfrm>
            <a:off x="10759748" y="5368676"/>
            <a:ext cx="12988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i="1" dirty="0"/>
              <a:t>O(n)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5F30D3-9668-4B9A-B005-D18C1AC7201A}"/>
              </a:ext>
            </a:extLst>
          </p:cNvPr>
          <p:cNvSpPr txBox="1"/>
          <p:nvPr/>
        </p:nvSpPr>
        <p:spPr>
          <a:xfrm>
            <a:off x="10750419" y="3579497"/>
            <a:ext cx="12988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i="1" dirty="0"/>
              <a:t>O(1)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CAFFD6-2E70-9722-EE8F-09B5AA549661}"/>
              </a:ext>
            </a:extLst>
          </p:cNvPr>
          <p:cNvSpPr/>
          <p:nvPr/>
        </p:nvSpPr>
        <p:spPr>
          <a:xfrm>
            <a:off x="2133600" y="1682027"/>
            <a:ext cx="1629833" cy="114160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418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7" grpId="0" animBg="1"/>
      <p:bldP spid="33" grpId="0" animBg="1"/>
      <p:bldP spid="34" grpId="0" animBg="1"/>
      <p:bldP spid="37" grpId="0" animBg="1"/>
      <p:bldP spid="8" grpId="0"/>
      <p:bldP spid="4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C0DF1-6A85-024E-42E8-001A2DF5D719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Linked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D9704-7A86-A24C-21F1-19EF7C870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81410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</a:rPr>
              <a:t>// A data structure that consists of a chain of nodes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</a:rPr>
              <a:t>// Starting from head, a node has a reference to the next node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  <a:latin typeface="Consolas" panose="020B0609020204030204" pitchFamily="49" charset="0"/>
              </a:rPr>
              <a:t>typedef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struct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</a:rPr>
              <a:t>node_tag</a:t>
            </a:r>
            <a:r>
              <a:rPr lang="en-US" sz="1600" dirty="0">
                <a:solidFill>
                  <a:schemeClr val="accent1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  <a:latin typeface="Consolas" panose="020B0609020204030204" pitchFamily="49" charset="0"/>
              </a:rPr>
              <a:t>   int    v;					</a:t>
            </a:r>
            <a:r>
              <a:rPr lang="en-US" sz="1600" dirty="0">
                <a:solidFill>
                  <a:schemeClr val="accent5"/>
                </a:solidFill>
                <a:latin typeface="Consolas" panose="020B0609020204030204" pitchFamily="49" charset="0"/>
              </a:rPr>
              <a:t>// data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  <a:latin typeface="Consolas" panose="020B0609020204030204" pitchFamily="49" charset="0"/>
              </a:rPr>
              <a:t>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struct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</a:rPr>
              <a:t>node_tag</a:t>
            </a:r>
            <a:r>
              <a:rPr lang="en-US" sz="1600" dirty="0">
                <a:solidFill>
                  <a:schemeClr val="accent1"/>
                </a:solidFill>
                <a:latin typeface="Consolas" panose="020B0609020204030204" pitchFamily="49" charset="0"/>
              </a:rPr>
              <a:t> * next;</a:t>
            </a:r>
            <a:r>
              <a:rPr lang="en-US" sz="1600" dirty="0">
                <a:solidFill>
                  <a:schemeClr val="accent5"/>
                </a:solidFill>
                <a:latin typeface="Consolas" panose="020B0609020204030204" pitchFamily="49" charset="0"/>
              </a:rPr>
              <a:t>	// A pointer to this type of struct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  <a:latin typeface="Consolas" panose="020B0609020204030204" pitchFamily="49" charset="0"/>
              </a:rPr>
              <a:t>} node; 					   </a:t>
            </a:r>
            <a:r>
              <a:rPr lang="en-US" sz="1600" dirty="0">
                <a:solidFill>
                  <a:schemeClr val="accent5"/>
                </a:solidFill>
                <a:latin typeface="Consolas" panose="020B0609020204030204" pitchFamily="49" charset="0"/>
              </a:rPr>
              <a:t>// Define a type. Easier to use.</a:t>
            </a:r>
            <a:endParaRPr lang="en-US" sz="1600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Linked List - Node">
            <a:extLst>
              <a:ext uri="{FF2B5EF4-FFF2-40B4-BE49-F238E27FC236}">
                <a16:creationId xmlns:a16="http://schemas.microsoft.com/office/drawing/2014/main" id="{B3126371-15C4-4935-8BEA-45C5ADD67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4641" y="4998845"/>
            <a:ext cx="7379184" cy="1660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3320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A8251-8BB2-D9EE-6082-F5CCF81EC868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Linked List Head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EDE52-95CA-BB31-D0E6-AA94E0932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6832" y="1825625"/>
            <a:ext cx="7056967" cy="327977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lang="en-US" sz="2800" dirty="0">
                <a:solidFill>
                  <a:srgbClr val="0365C0"/>
                </a:solidFill>
                <a:latin typeface="Consolas" panose="020B0609020204030204" pitchFamily="49" charset="0"/>
              </a:rPr>
              <a:t>node * head; 	</a:t>
            </a:r>
            <a:r>
              <a:rPr lang="en-US" sz="2800" dirty="0">
                <a:solidFill>
                  <a:srgbClr val="C82506"/>
                </a:solidFill>
                <a:latin typeface="Consolas" panose="020B0609020204030204" pitchFamily="49" charset="0"/>
              </a:rPr>
              <a:t>// head is a pointer, not a node!</a:t>
            </a:r>
          </a:p>
          <a:p>
            <a:pPr marL="0" lvl="0" indent="0">
              <a:buNone/>
            </a:pPr>
            <a:endParaRPr lang="en-US" sz="2800" dirty="0">
              <a:solidFill>
                <a:srgbClr val="C82506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r>
              <a:rPr lang="en-US" sz="2800" dirty="0">
                <a:solidFill>
                  <a:srgbClr val="0365C0"/>
                </a:solidFill>
                <a:latin typeface="Consolas" panose="020B0609020204030204" pitchFamily="49" charset="0"/>
              </a:rPr>
              <a:t>head = NULL;  </a:t>
            </a:r>
            <a:r>
              <a:rPr lang="en-US" sz="2800" dirty="0">
                <a:solidFill>
                  <a:srgbClr val="C82506"/>
                </a:solidFill>
                <a:latin typeface="Consolas" panose="020B0609020204030204" pitchFamily="49" charset="0"/>
              </a:rPr>
              <a:t>// at beginning, it is empty</a:t>
            </a:r>
            <a:endParaRPr lang="en-US" sz="2800" dirty="0">
              <a:solidFill>
                <a:srgbClr val="0365C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After adding nodes into the list: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315AE6-8C1D-CBF7-C9BE-FCFBFD8DB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68" y="1825625"/>
            <a:ext cx="3606800" cy="42548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7B64D3-92A5-625E-A591-31CD204F1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9116" y="5240337"/>
            <a:ext cx="6432397" cy="145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564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34A25-36A6-5F6F-1AA2-C23A181F1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267"/>
            <a:ext cx="10515600" cy="1325563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Creating a Node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84784-368E-8612-F72C-5BEA95CAE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67025"/>
            <a:ext cx="10515600" cy="393170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lang="en-US" sz="2800" dirty="0">
                <a:solidFill>
                  <a:srgbClr val="0365C0"/>
                </a:solidFill>
                <a:latin typeface="Consolas" panose="020B0609020204030204" pitchFamily="49" charset="0"/>
              </a:rPr>
              <a:t>node * </a:t>
            </a:r>
            <a:r>
              <a:rPr lang="en-US" sz="2800" dirty="0" err="1">
                <a:solidFill>
                  <a:srgbClr val="0365C0"/>
                </a:solidFill>
                <a:latin typeface="Consolas" panose="020B0609020204030204" pitchFamily="49" charset="0"/>
              </a:rPr>
              <a:t>new_node</a:t>
            </a:r>
            <a:r>
              <a:rPr lang="en-US" sz="2800" dirty="0">
                <a:solidFill>
                  <a:srgbClr val="0365C0"/>
                </a:solidFill>
                <a:latin typeface="Consolas" panose="020B0609020204030204" pitchFamily="49" charset="0"/>
              </a:rPr>
              <a:t>(int v)     </a:t>
            </a:r>
            <a:r>
              <a:rPr lang="en-US" sz="2800" dirty="0">
                <a:solidFill>
                  <a:srgbClr val="C82506"/>
                </a:solidFill>
                <a:latin typeface="Consolas" panose="020B0609020204030204" pitchFamily="49" charset="0"/>
              </a:rPr>
              <a:t>// create a node for value v</a:t>
            </a:r>
            <a:endParaRPr lang="en-US" sz="2800" dirty="0">
              <a:solidFill>
                <a:srgbClr val="0365C0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r>
              <a:rPr lang="en-US" sz="2800" dirty="0">
                <a:solidFill>
                  <a:srgbClr val="0365C0"/>
                </a:solidFill>
                <a:latin typeface="Consolas" panose="020B0609020204030204" pitchFamily="49" charset="0"/>
              </a:rPr>
              <a:t>{</a:t>
            </a:r>
          </a:p>
          <a:p>
            <a:pPr marL="0" lvl="0" indent="0">
              <a:buNone/>
            </a:pPr>
            <a:r>
              <a:rPr lang="en-US" sz="2800" dirty="0">
                <a:solidFill>
                  <a:srgbClr val="0365C0"/>
                </a:solidFill>
                <a:latin typeface="Consolas" panose="020B0609020204030204" pitchFamily="49" charset="0"/>
              </a:rPr>
              <a:t>    node	* p = malloc(</a:t>
            </a:r>
            <a:r>
              <a:rPr lang="en-US" sz="2800" dirty="0" err="1">
                <a:solidFill>
                  <a:srgbClr val="0365C0"/>
                </a:solidFill>
                <a:latin typeface="Consolas" panose="020B0609020204030204" pitchFamily="49" charset="0"/>
              </a:rPr>
              <a:t>sizeof</a:t>
            </a:r>
            <a:r>
              <a:rPr lang="en-US" sz="2800" dirty="0">
                <a:solidFill>
                  <a:srgbClr val="0365C0"/>
                </a:solidFill>
                <a:latin typeface="Consolas" panose="020B0609020204030204" pitchFamily="49" charset="0"/>
              </a:rPr>
              <a:t>(node)); </a:t>
            </a:r>
            <a:r>
              <a:rPr lang="en-US" sz="2800" dirty="0">
                <a:solidFill>
                  <a:srgbClr val="C82506"/>
                </a:solidFill>
                <a:latin typeface="Consolas" panose="020B0609020204030204" pitchFamily="49" charset="0"/>
              </a:rPr>
              <a:t>// Allocate memory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365C0"/>
                </a:solidFill>
                <a:latin typeface="Consolas" panose="020B0609020204030204" pitchFamily="49" charset="0"/>
              </a:rPr>
              <a:t>    assert(p != NULL);		</a:t>
            </a:r>
            <a:r>
              <a:rPr lang="en-US" sz="2800" dirty="0">
                <a:solidFill>
                  <a:srgbClr val="C82506"/>
                </a:solidFill>
                <a:latin typeface="Consolas" panose="020B0609020204030204" pitchFamily="49" charset="0"/>
              </a:rPr>
              <a:t>// you can be nicer</a:t>
            </a:r>
          </a:p>
          <a:p>
            <a:pPr marL="0" lvl="0" indent="0">
              <a:buNone/>
            </a:pPr>
            <a:r>
              <a:rPr lang="en-US" sz="2800" dirty="0">
                <a:solidFill>
                  <a:srgbClr val="C82506"/>
                </a:solidFill>
                <a:latin typeface="Consolas" panose="020B0609020204030204" pitchFamily="49" charset="0"/>
              </a:rPr>
              <a:t>    </a:t>
            </a:r>
          </a:p>
          <a:p>
            <a:pPr marL="0" lvl="0" indent="0">
              <a:buNone/>
            </a:pPr>
            <a:r>
              <a:rPr lang="en-US" sz="2800" dirty="0">
                <a:solidFill>
                  <a:srgbClr val="C82506"/>
                </a:solidFill>
                <a:latin typeface="Consolas" panose="020B0609020204030204" pitchFamily="49" charset="0"/>
              </a:rPr>
              <a:t>    // Set the value in the node.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365C0"/>
                </a:solidFill>
                <a:latin typeface="Consolas" panose="020B0609020204030204" pitchFamily="49" charset="0"/>
              </a:rPr>
              <a:t>    </a:t>
            </a:r>
            <a:r>
              <a:rPr lang="en-US" sz="2800" b="1" dirty="0">
                <a:solidFill>
                  <a:srgbClr val="C00000"/>
                </a:solidFill>
                <a:latin typeface="Consolas" panose="020B0609020204030204" pitchFamily="49" charset="0"/>
              </a:rPr>
              <a:t>p-&gt;v</a:t>
            </a:r>
            <a:r>
              <a:rPr lang="en-US" sz="2800" dirty="0">
                <a:solidFill>
                  <a:srgbClr val="0365C0"/>
                </a:solidFill>
                <a:latin typeface="Consolas" panose="020B0609020204030204" pitchFamily="49" charset="0"/>
              </a:rPr>
              <a:t> = v;			</a:t>
            </a:r>
            <a:r>
              <a:rPr lang="en-US" sz="2800" dirty="0">
                <a:solidFill>
                  <a:srgbClr val="C82506"/>
                </a:solidFill>
                <a:latin typeface="Consolas" panose="020B0609020204030204" pitchFamily="49" charset="0"/>
              </a:rPr>
              <a:t>// you could do (*p).v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365C0"/>
                </a:solidFill>
                <a:latin typeface="Consolas" panose="020B0609020204030204" pitchFamily="49" charset="0"/>
              </a:rPr>
              <a:t>    p-&gt;next = NULL;  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365C0"/>
                </a:solidFill>
                <a:latin typeface="Consolas" panose="020B0609020204030204" pitchFamily="49" charset="0"/>
              </a:rPr>
              <a:t>    return p;			</a:t>
            </a:r>
            <a:r>
              <a:rPr lang="en-US" sz="2800" dirty="0">
                <a:solidFill>
                  <a:srgbClr val="C82506"/>
                </a:solidFill>
                <a:latin typeface="Consolas" panose="020B0609020204030204" pitchFamily="49" charset="0"/>
              </a:rPr>
              <a:t>// return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365C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822C5F0-7658-4B1C-958E-193E24060FF4}"/>
              </a:ext>
            </a:extLst>
          </p:cNvPr>
          <p:cNvGrpSpPr/>
          <p:nvPr/>
        </p:nvGrpSpPr>
        <p:grpSpPr>
          <a:xfrm>
            <a:off x="3580666" y="1497591"/>
            <a:ext cx="5200002" cy="1170418"/>
            <a:chOff x="7744408" y="6250205"/>
            <a:chExt cx="5200002" cy="1170418"/>
          </a:xfrm>
        </p:grpSpPr>
        <p:pic>
          <p:nvPicPr>
            <p:cNvPr id="5" name="Picture 4" descr="Linked List - Node">
              <a:extLst>
                <a:ext uri="{FF2B5EF4-FFF2-40B4-BE49-F238E27FC236}">
                  <a16:creationId xmlns:a16="http://schemas.microsoft.com/office/drawing/2014/main" id="{077EA2FE-E87C-4F75-BA5E-18840B9665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44408" y="6250205"/>
              <a:ext cx="5200002" cy="11704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284DA79-996C-44B1-9C87-A7454A950856}"/>
                </a:ext>
              </a:extLst>
            </p:cNvPr>
            <p:cNvSpPr txBox="1"/>
            <p:nvPr/>
          </p:nvSpPr>
          <p:spPr>
            <a:xfrm>
              <a:off x="10133045" y="7017859"/>
              <a:ext cx="273697" cy="348813"/>
            </a:xfrm>
            <a:prstGeom prst="rect">
              <a:avLst/>
            </a:prstGeom>
            <a:solidFill>
              <a:srgbClr val="F4F4F4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="horz" wrap="square" lIns="50800" tIns="50800" rIns="50800" bIns="50800" numCol="1" spcCol="38100" rtlCol="0" anchor="ctr">
              <a:sp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4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Helvetica Neue Light"/>
                </a:defRPr>
              </a:lvl1pPr>
              <a:lvl2pPr marL="0" marR="0" indent="26670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4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Helvetica Neue Light"/>
                </a:defRPr>
              </a:lvl2pPr>
              <a:lvl3pPr marL="0" marR="0" indent="53340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4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Helvetica Neue Light"/>
                </a:defRPr>
              </a:lvl3pPr>
              <a:lvl4pPr marL="0" marR="0" indent="80010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4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Helvetica Neue Light"/>
                </a:defRPr>
              </a:lvl4pPr>
              <a:lvl5pPr marL="0" marR="0" indent="106680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4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Helvetica Neue Light"/>
                </a:defRPr>
              </a:lvl5pPr>
              <a:lvl6pPr marL="0" marR="0" indent="133350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4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Helvetica Neue Light"/>
                </a:defRPr>
              </a:lvl6pPr>
              <a:lvl7pPr marL="0" marR="0" indent="161290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4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Helvetica Neue Light"/>
                </a:defRPr>
              </a:lvl7pPr>
              <a:lvl8pPr marL="0" marR="0" indent="187960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4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Helvetica Neue Light"/>
                </a:defRPr>
              </a:lvl8pPr>
              <a:lvl9pPr marL="0" marR="0" indent="214630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4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Helvetica Neue Light"/>
                </a:defRPr>
              </a:lvl9pPr>
            </a:lstStyle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600" dirty="0"/>
                <a:t>V</a:t>
              </a:r>
              <a:endPara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86750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D8787-442E-62A7-4C9A-596A4267C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US" u="sng" dirty="0"/>
              <a:t>Adding a new node to a linked list (Prepend)</a:t>
            </a:r>
          </a:p>
        </p:txBody>
      </p:sp>
      <p:pic>
        <p:nvPicPr>
          <p:cNvPr id="4" name="Picture 3" descr="Add a node into an empty linked list">
            <a:extLst>
              <a:ext uri="{FF2B5EF4-FFF2-40B4-BE49-F238E27FC236}">
                <a16:creationId xmlns:a16="http://schemas.microsoft.com/office/drawing/2014/main" id="{59BBE1DD-7E26-4F7C-828C-8F3BC178B9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598" y="1465074"/>
            <a:ext cx="8504137" cy="206216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dd a new node at the beginning of a non-empty linked list">
            <a:extLst>
              <a:ext uri="{FF2B5EF4-FFF2-40B4-BE49-F238E27FC236}">
                <a16:creationId xmlns:a16="http://schemas.microsoft.com/office/drawing/2014/main" id="{4B984DBE-3EC5-4D97-AE59-8E3D2FCFE1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253" y="4073336"/>
            <a:ext cx="7704983" cy="268695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6B0267-5FD0-28B5-A5FC-9DA071FDB418}"/>
              </a:ext>
            </a:extLst>
          </p:cNvPr>
          <p:cNvSpPr txBox="1"/>
          <p:nvPr/>
        </p:nvSpPr>
        <p:spPr>
          <a:xfrm>
            <a:off x="3276600" y="1092200"/>
            <a:ext cx="5300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When the linked list starts as empty: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40EFD8-D60F-1F32-85CE-3C8105C6E1C0}"/>
              </a:ext>
            </a:extLst>
          </p:cNvPr>
          <p:cNvSpPr txBox="1"/>
          <p:nvPr/>
        </p:nvSpPr>
        <p:spPr>
          <a:xfrm>
            <a:off x="3445933" y="3648492"/>
            <a:ext cx="5300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When you want to replace the head:</a:t>
            </a:r>
          </a:p>
        </p:txBody>
      </p:sp>
    </p:spTree>
    <p:extLst>
      <p:ext uri="{BB962C8B-B14F-4D97-AF65-F5344CB8AC3E}">
        <p14:creationId xmlns:p14="http://schemas.microsoft.com/office/powerpoint/2010/main" val="1197573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18669-09F2-DE8B-2EB6-FCC61249C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700" y="1"/>
            <a:ext cx="10515600" cy="972154"/>
          </a:xfrm>
        </p:spPr>
        <p:txBody>
          <a:bodyPr/>
          <a:lstStyle/>
          <a:p>
            <a:pPr algn="ctr"/>
            <a:r>
              <a:rPr lang="en-US" u="sng" dirty="0"/>
              <a:t>Adding a new node to a linked list (Prepend)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61C3B-8E02-36B7-59DA-595F5886C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1700" y="3752245"/>
            <a:ext cx="10515600" cy="296650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lvl="0" indent="0">
              <a:buNone/>
            </a:pPr>
            <a:r>
              <a:rPr lang="en-US" sz="2800" dirty="0">
                <a:solidFill>
                  <a:srgbClr val="0365C0"/>
                </a:solidFill>
                <a:latin typeface="Consolas" panose="020B0609020204030204" pitchFamily="49" charset="0"/>
              </a:rPr>
              <a:t>node * prepend(node * head, node * </a:t>
            </a:r>
            <a:r>
              <a:rPr lang="en-US" sz="2800" dirty="0" err="1">
                <a:solidFill>
                  <a:srgbClr val="0365C0"/>
                </a:solidFill>
                <a:latin typeface="Consolas" panose="020B0609020204030204" pitchFamily="49" charset="0"/>
              </a:rPr>
              <a:t>newnode</a:t>
            </a:r>
            <a:r>
              <a:rPr lang="en-US" sz="2800" dirty="0">
                <a:solidFill>
                  <a:srgbClr val="0365C0"/>
                </a:solidFill>
                <a:latin typeface="Consolas" panose="020B0609020204030204" pitchFamily="49" charset="0"/>
              </a:rPr>
              <a:t>) </a:t>
            </a:r>
          </a:p>
          <a:p>
            <a:pPr marL="0" lvl="0" indent="0">
              <a:buNone/>
            </a:pPr>
            <a:r>
              <a:rPr lang="en-US" sz="2800" dirty="0">
                <a:solidFill>
                  <a:srgbClr val="0365C0"/>
                </a:solidFill>
                <a:latin typeface="Consolas" panose="020B0609020204030204" pitchFamily="49" charset="0"/>
              </a:rPr>
              <a:t>{</a:t>
            </a:r>
          </a:p>
          <a:p>
            <a:pPr marL="0" lvl="0" indent="0">
              <a:buNone/>
            </a:pPr>
            <a:r>
              <a:rPr lang="en-US" sz="2800" dirty="0">
                <a:solidFill>
                  <a:srgbClr val="0365C0"/>
                </a:solidFill>
                <a:latin typeface="Consolas" panose="020B0609020204030204" pitchFamily="49" charset="0"/>
              </a:rPr>
              <a:t>    </a:t>
            </a:r>
            <a:r>
              <a:rPr lang="en-US" sz="2800" dirty="0" err="1">
                <a:solidFill>
                  <a:srgbClr val="0365C0"/>
                </a:solidFill>
                <a:latin typeface="Consolas" panose="020B0609020204030204" pitchFamily="49" charset="0"/>
              </a:rPr>
              <a:t>newnode</a:t>
            </a:r>
            <a:r>
              <a:rPr lang="en-US" sz="2800" dirty="0">
                <a:solidFill>
                  <a:srgbClr val="0365C0"/>
                </a:solidFill>
                <a:latin typeface="Consolas" panose="020B0609020204030204" pitchFamily="49" charset="0"/>
              </a:rPr>
              <a:t>-&gt;next = head;   </a:t>
            </a:r>
            <a:r>
              <a:rPr lang="en-US" sz="2800" dirty="0">
                <a:solidFill>
                  <a:srgbClr val="C82506"/>
                </a:solidFill>
                <a:latin typeface="Consolas" panose="020B0609020204030204" pitchFamily="49" charset="0"/>
              </a:rPr>
              <a:t>// works even if the list is empty</a:t>
            </a:r>
            <a:endParaRPr lang="en-US" sz="2800" dirty="0">
              <a:solidFill>
                <a:srgbClr val="0365C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365C0"/>
                </a:solidFill>
                <a:latin typeface="Consolas" panose="020B0609020204030204" pitchFamily="49" charset="0"/>
              </a:rPr>
              <a:t>    return </a:t>
            </a:r>
            <a:r>
              <a:rPr lang="en-US" sz="2800" dirty="0" err="1">
                <a:solidFill>
                  <a:srgbClr val="0365C0"/>
                </a:solidFill>
                <a:latin typeface="Consolas" panose="020B0609020204030204" pitchFamily="49" charset="0"/>
              </a:rPr>
              <a:t>newnode</a:t>
            </a:r>
            <a:r>
              <a:rPr lang="en-US" sz="2800" dirty="0">
                <a:solidFill>
                  <a:srgbClr val="0365C0"/>
                </a:solidFill>
                <a:latin typeface="Consolas" panose="020B0609020204030204" pitchFamily="49" charset="0"/>
              </a:rPr>
              <a:t>;			</a:t>
            </a:r>
            <a:r>
              <a:rPr lang="en-US" sz="2800" dirty="0">
                <a:solidFill>
                  <a:srgbClr val="C82506"/>
                </a:solidFill>
                <a:latin typeface="Consolas" panose="020B0609020204030204" pitchFamily="49" charset="0"/>
              </a:rPr>
              <a:t>// head changed !!</a:t>
            </a:r>
            <a:endParaRPr lang="en-US" sz="2800" dirty="0">
              <a:solidFill>
                <a:srgbClr val="0365C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365C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pic>
        <p:nvPicPr>
          <p:cNvPr id="4" name="Picture 3" descr="Add a new node at the beginning of a non-empty linked list">
            <a:extLst>
              <a:ext uri="{FF2B5EF4-FFF2-40B4-BE49-F238E27FC236}">
                <a16:creationId xmlns:a16="http://schemas.microsoft.com/office/drawing/2014/main" id="{4B984DBE-3EC5-4D97-AE59-8E3D2FCFE1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1175" y="1018721"/>
            <a:ext cx="7704983" cy="2686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24680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111FA-85CC-41F6-5C29-2390FAABE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How to find the last element of a linked list?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EBA0D0-3CE2-150F-EF32-D73A8BD62ACB}"/>
              </a:ext>
            </a:extLst>
          </p:cNvPr>
          <p:cNvSpPr txBox="1"/>
          <p:nvPr/>
        </p:nvSpPr>
        <p:spPr>
          <a:xfrm>
            <a:off x="3331634" y="1994869"/>
            <a:ext cx="60960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en-US" sz="1800" dirty="0">
                <a:solidFill>
                  <a:srgbClr val="0365C0"/>
                </a:solidFill>
                <a:latin typeface="Consolas" panose="020B0609020204030204" pitchFamily="49" charset="0"/>
              </a:rPr>
              <a:t>node * </a:t>
            </a:r>
            <a:r>
              <a:rPr lang="en-US" sz="1800" dirty="0" err="1">
                <a:solidFill>
                  <a:srgbClr val="0365C0"/>
                </a:solidFill>
                <a:latin typeface="Consolas" panose="020B0609020204030204" pitchFamily="49" charset="0"/>
              </a:rPr>
              <a:t>find_last</a:t>
            </a:r>
            <a:r>
              <a:rPr lang="en-US" sz="1800" dirty="0">
                <a:solidFill>
                  <a:srgbClr val="0365C0"/>
                </a:solidFill>
                <a:latin typeface="Consolas" panose="020B0609020204030204" pitchFamily="49" charset="0"/>
              </a:rPr>
              <a:t>(node * head) </a:t>
            </a:r>
          </a:p>
          <a:p>
            <a:pPr marL="0" lvl="0" indent="0">
              <a:buNone/>
            </a:pPr>
            <a:r>
              <a:rPr lang="en-US" sz="1800" dirty="0">
                <a:solidFill>
                  <a:srgbClr val="0365C0"/>
                </a:solidFill>
                <a:latin typeface="Consolas" panose="020B0609020204030204" pitchFamily="49" charset="0"/>
              </a:rPr>
              <a:t>{</a:t>
            </a:r>
          </a:p>
          <a:p>
            <a:pPr marL="0" lvl="0" indent="0">
              <a:buNone/>
            </a:pP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   // How?</a:t>
            </a:r>
          </a:p>
          <a:p>
            <a:pPr marL="0" lvl="0" indent="0">
              <a:buNone/>
            </a:pPr>
            <a:r>
              <a:rPr lang="en-US" sz="1800" dirty="0">
                <a:solidFill>
                  <a:srgbClr val="0365C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4AAFA6-AE8C-4ACE-8DCA-32CC7F0AC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836" y="3662803"/>
            <a:ext cx="10133596" cy="2292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99536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111FA-85CC-41F6-5C29-2390FAABE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167"/>
            <a:ext cx="10515600" cy="1325563"/>
          </a:xfrm>
        </p:spPr>
        <p:txBody>
          <a:bodyPr/>
          <a:lstStyle/>
          <a:p>
            <a:pPr algn="ctr"/>
            <a:r>
              <a:rPr lang="en-US" u="sng" dirty="0"/>
              <a:t>How to find the last element of a linked list?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EBA0D0-3CE2-150F-EF32-D73A8BD62ACB}"/>
              </a:ext>
            </a:extLst>
          </p:cNvPr>
          <p:cNvSpPr txBox="1"/>
          <p:nvPr/>
        </p:nvSpPr>
        <p:spPr>
          <a:xfrm>
            <a:off x="1062567" y="1331730"/>
            <a:ext cx="9977966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en-US" sz="1800" dirty="0">
                <a:solidFill>
                  <a:srgbClr val="0365C0"/>
                </a:solidFill>
                <a:latin typeface="Consolas" panose="020B0609020204030204" pitchFamily="49" charset="0"/>
              </a:rPr>
              <a:t>node * </a:t>
            </a:r>
            <a:r>
              <a:rPr lang="en-US" sz="1800" dirty="0" err="1">
                <a:solidFill>
                  <a:srgbClr val="0365C0"/>
                </a:solidFill>
                <a:latin typeface="Consolas" panose="020B0609020204030204" pitchFamily="49" charset="0"/>
              </a:rPr>
              <a:t>find_last</a:t>
            </a:r>
            <a:r>
              <a:rPr lang="en-US" sz="1800" dirty="0">
                <a:solidFill>
                  <a:srgbClr val="0365C0"/>
                </a:solidFill>
                <a:latin typeface="Consolas" panose="020B0609020204030204" pitchFamily="49" charset="0"/>
              </a:rPr>
              <a:t>(node * head) </a:t>
            </a:r>
          </a:p>
          <a:p>
            <a:pPr marL="0" lvl="0" indent="0">
              <a:buNone/>
            </a:pPr>
            <a:r>
              <a:rPr lang="en-US" sz="1800" dirty="0">
                <a:solidFill>
                  <a:srgbClr val="0365C0"/>
                </a:solidFill>
                <a:latin typeface="Consolas" panose="020B0609020204030204" pitchFamily="49" charset="0"/>
              </a:rPr>
              <a:t>{</a:t>
            </a:r>
          </a:p>
          <a:p>
            <a:pPr marL="0" lvl="0" indent="0">
              <a:buNone/>
            </a:pPr>
            <a:r>
              <a:rPr lang="en-US" sz="1800" dirty="0">
                <a:solidFill>
                  <a:srgbClr val="0365C0"/>
                </a:solidFill>
                <a:latin typeface="Consolas" panose="020B0609020204030204" pitchFamily="49" charset="0"/>
              </a:rPr>
              <a:t>    if (head != NULL) {        </a:t>
            </a:r>
            <a:r>
              <a:rPr lang="en-US" sz="1800" dirty="0">
                <a:solidFill>
                  <a:srgbClr val="C82506"/>
                </a:solidFill>
                <a:latin typeface="Consolas" panose="020B0609020204030204" pitchFamily="49" charset="0"/>
              </a:rPr>
              <a:t>// only if the list is not empty</a:t>
            </a:r>
            <a:endParaRPr lang="en-US" sz="1800" dirty="0">
              <a:solidFill>
                <a:srgbClr val="0365C0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r>
              <a:rPr lang="en-US" sz="1800" dirty="0">
                <a:solidFill>
                  <a:srgbClr val="0365C0"/>
                </a:solidFill>
                <a:latin typeface="Consolas" panose="020B0609020204030204" pitchFamily="49" charset="0"/>
              </a:rPr>
              <a:t>        while (head-&gt;next != NULL)</a:t>
            </a:r>
          </a:p>
          <a:p>
            <a:pPr marL="0" lvl="0" indent="0">
              <a:buNone/>
            </a:pPr>
            <a:r>
              <a:rPr lang="en-US" sz="1800" dirty="0">
                <a:solidFill>
                  <a:srgbClr val="0365C0"/>
                </a:solidFill>
                <a:latin typeface="Consolas" panose="020B0609020204030204" pitchFamily="49" charset="0"/>
              </a:rPr>
              <a:t>            head = head-&gt;next;</a:t>
            </a:r>
          </a:p>
          <a:p>
            <a:pPr marL="0" lvl="0" indent="0">
              <a:buNone/>
            </a:pPr>
            <a:r>
              <a:rPr lang="en-US" sz="1800" dirty="0">
                <a:solidFill>
                  <a:srgbClr val="0365C0"/>
                </a:solidFill>
                <a:latin typeface="Consolas" panose="020B0609020204030204" pitchFamily="49" charset="0"/>
              </a:rPr>
              <a:t>    }</a:t>
            </a:r>
          </a:p>
          <a:p>
            <a:pPr marL="0" lvl="0" indent="0">
              <a:buNone/>
            </a:pPr>
            <a:r>
              <a:rPr lang="en-US" sz="1800" dirty="0">
                <a:solidFill>
                  <a:srgbClr val="0365C0"/>
                </a:solidFill>
                <a:latin typeface="Consolas" panose="020B0609020204030204" pitchFamily="49" charset="0"/>
              </a:rPr>
              <a:t>    return head;</a:t>
            </a:r>
          </a:p>
          <a:p>
            <a:pPr marL="0" lvl="0" indent="0">
              <a:buNone/>
            </a:pPr>
            <a:r>
              <a:rPr lang="en-US" sz="1800" dirty="0">
                <a:solidFill>
                  <a:srgbClr val="0365C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4AAFA6-AE8C-4ACE-8DCA-32CC7F0AC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268" y="4289337"/>
            <a:ext cx="10133596" cy="2292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85659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58E3D-E92E-ADB6-7C1C-D0171E8BB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Adding a new node to a linked list (Append)</a:t>
            </a:r>
            <a:endParaRPr lang="en-US" dirty="0"/>
          </a:p>
        </p:txBody>
      </p:sp>
      <p:pic>
        <p:nvPicPr>
          <p:cNvPr id="5" name="Picture 4" descr="Add a new node at the end of the linked list">
            <a:extLst>
              <a:ext uri="{FF2B5EF4-FFF2-40B4-BE49-F238E27FC236}">
                <a16:creationId xmlns:a16="http://schemas.microsoft.com/office/drawing/2014/main" id="{6926590B-2B91-41DF-ACBA-A2B3C583E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9790" y="3132027"/>
            <a:ext cx="8385077" cy="3025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805786-7FBC-E0A6-A80C-E0366222E7F8}"/>
              </a:ext>
            </a:extLst>
          </p:cNvPr>
          <p:cNvSpPr txBox="1"/>
          <p:nvPr/>
        </p:nvSpPr>
        <p:spPr>
          <a:xfrm>
            <a:off x="838199" y="1921933"/>
            <a:ext cx="99991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/>
              <a:t>What if we want to add a new node to the end of list?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48C6D41A-BA04-4798-8920-676AE91D5F26}"/>
              </a:ext>
            </a:extLst>
          </p:cNvPr>
          <p:cNvSpPr txBox="1"/>
          <p:nvPr/>
        </p:nvSpPr>
        <p:spPr>
          <a:xfrm>
            <a:off x="6733101" y="2988585"/>
            <a:ext cx="1621398" cy="508297"/>
          </a:xfrm>
          <a:prstGeom prst="rect">
            <a:avLst/>
          </a:prstGeom>
          <a:solidFill>
            <a:srgbClr val="EAEAE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0800" tIns="50800" rIns="50800" bIns="5080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defRPr>
            </a:lvl1pPr>
            <a:lvl2pPr marL="0" marR="0" indent="26670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defRPr>
            </a:lvl2pPr>
            <a:lvl3pPr marL="0" marR="0" indent="53340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defRPr>
            </a:lvl3pPr>
            <a:lvl4pPr marL="0" marR="0" indent="80010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defRPr>
            </a:lvl4pPr>
            <a:lvl5pPr marL="0" marR="0" indent="106680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defRPr>
            </a:lvl5pPr>
            <a:lvl6pPr marL="0" marR="0" indent="133350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defRPr>
            </a:lvl6pPr>
            <a:lvl7pPr marL="0" marR="0" indent="161290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defRPr>
            </a:lvl7pPr>
            <a:lvl8pPr marL="0" marR="0" indent="187960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defRPr>
            </a:lvl8pPr>
            <a:lvl9pPr marL="0" marR="0" indent="214630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defRPr>
            </a:lvl9pPr>
          </a:lstStyle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last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Consolas" panose="020B0609020204030204" pitchFamily="49" charset="0"/>
              <a:sym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32560930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58E3D-E92E-ADB6-7C1C-D0171E8BB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922867"/>
          </a:xfrm>
        </p:spPr>
        <p:txBody>
          <a:bodyPr/>
          <a:lstStyle/>
          <a:p>
            <a:r>
              <a:rPr lang="en-US" u="sng" dirty="0"/>
              <a:t>Adding a new node to a linked list (Append)</a:t>
            </a:r>
            <a:endParaRPr lang="en-US" dirty="0"/>
          </a:p>
        </p:txBody>
      </p:sp>
      <p:pic>
        <p:nvPicPr>
          <p:cNvPr id="5" name="Picture 4" descr="Add a new node at the end of the linked list">
            <a:extLst>
              <a:ext uri="{FF2B5EF4-FFF2-40B4-BE49-F238E27FC236}">
                <a16:creationId xmlns:a16="http://schemas.microsoft.com/office/drawing/2014/main" id="{6926590B-2B91-41DF-ACBA-A2B3C583E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4823" y="980464"/>
            <a:ext cx="5548777" cy="2002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6">
            <a:extLst>
              <a:ext uri="{FF2B5EF4-FFF2-40B4-BE49-F238E27FC236}">
                <a16:creationId xmlns:a16="http://schemas.microsoft.com/office/drawing/2014/main" id="{48C6D41A-BA04-4798-8920-676AE91D5F26}"/>
              </a:ext>
            </a:extLst>
          </p:cNvPr>
          <p:cNvSpPr txBox="1"/>
          <p:nvPr/>
        </p:nvSpPr>
        <p:spPr>
          <a:xfrm>
            <a:off x="6055768" y="787252"/>
            <a:ext cx="1621398" cy="508297"/>
          </a:xfrm>
          <a:prstGeom prst="rect">
            <a:avLst/>
          </a:prstGeom>
          <a:solidFill>
            <a:srgbClr val="EAEAE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0800" tIns="50800" rIns="50800" bIns="5080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defRPr>
            </a:lvl1pPr>
            <a:lvl2pPr marL="0" marR="0" indent="26670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defRPr>
            </a:lvl2pPr>
            <a:lvl3pPr marL="0" marR="0" indent="53340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defRPr>
            </a:lvl3pPr>
            <a:lvl4pPr marL="0" marR="0" indent="80010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defRPr>
            </a:lvl4pPr>
            <a:lvl5pPr marL="0" marR="0" indent="106680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defRPr>
            </a:lvl5pPr>
            <a:lvl6pPr marL="0" marR="0" indent="133350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defRPr>
            </a:lvl6pPr>
            <a:lvl7pPr marL="0" marR="0" indent="161290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defRPr>
            </a:lvl7pPr>
            <a:lvl8pPr marL="0" marR="0" indent="187960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defRPr>
            </a:lvl8pPr>
            <a:lvl9pPr marL="0" marR="0" indent="214630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defRPr>
            </a:lvl9pPr>
          </a:lstStyle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last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Consolas" panose="020B0609020204030204" pitchFamily="49" charset="0"/>
              <a:sym typeface="Helvetica Neue Ligh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89144E-2FFE-4595-B0C0-9D19CC0B0398}"/>
              </a:ext>
            </a:extLst>
          </p:cNvPr>
          <p:cNvSpPr txBox="1"/>
          <p:nvPr/>
        </p:nvSpPr>
        <p:spPr>
          <a:xfrm>
            <a:off x="609599" y="3315422"/>
            <a:ext cx="10972800" cy="28469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lv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365C0"/>
                </a:solidFill>
                <a:latin typeface="Consolas" panose="020B0609020204030204" pitchFamily="49" charset="0"/>
              </a:rPr>
              <a:t>node * append(node * head, node * </a:t>
            </a:r>
            <a:r>
              <a:rPr lang="en-US" sz="1800" dirty="0" err="1">
                <a:solidFill>
                  <a:srgbClr val="0365C0"/>
                </a:solidFill>
                <a:latin typeface="Consolas" panose="020B0609020204030204" pitchFamily="49" charset="0"/>
              </a:rPr>
              <a:t>newnode</a:t>
            </a:r>
            <a:r>
              <a:rPr lang="en-US" sz="1800" dirty="0">
                <a:solidFill>
                  <a:srgbClr val="0365C0"/>
                </a:solidFill>
                <a:latin typeface="Consolas" panose="020B0609020204030204" pitchFamily="49" charset="0"/>
              </a:rPr>
              <a:t>) {</a:t>
            </a:r>
          </a:p>
          <a:p>
            <a:pPr marL="0" lv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365C0"/>
                </a:solidFill>
                <a:latin typeface="Consolas" panose="020B0609020204030204" pitchFamily="49" charset="0"/>
              </a:rPr>
              <a:t>    node *last = </a:t>
            </a:r>
            <a:r>
              <a:rPr lang="en-US" sz="1800" dirty="0" err="1">
                <a:solidFill>
                  <a:srgbClr val="0365C0"/>
                </a:solidFill>
                <a:latin typeface="Consolas" panose="020B0609020204030204" pitchFamily="49" charset="0"/>
              </a:rPr>
              <a:t>find_last</a:t>
            </a:r>
            <a:r>
              <a:rPr lang="en-US" sz="1800" dirty="0">
                <a:solidFill>
                  <a:srgbClr val="0365C0"/>
                </a:solidFill>
                <a:latin typeface="Consolas" panose="020B0609020204030204" pitchFamily="49" charset="0"/>
              </a:rPr>
              <a:t>(head);</a:t>
            </a:r>
            <a:r>
              <a:rPr lang="en-US" sz="1800" dirty="0">
                <a:solidFill>
                  <a:srgbClr val="C82506"/>
                </a:solidFill>
                <a:latin typeface="Consolas" panose="020B0609020204030204" pitchFamily="49" charset="0"/>
              </a:rPr>
              <a:t> 	// find the last one</a:t>
            </a:r>
          </a:p>
          <a:p>
            <a:pPr marL="0" lv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365C0"/>
                </a:solidFill>
                <a:latin typeface="Consolas" panose="020B0609020204030204" pitchFamily="49" charset="0"/>
              </a:rPr>
              <a:t>    if (last == NULL)</a:t>
            </a:r>
            <a:r>
              <a:rPr lang="en-US" sz="1800" dirty="0">
                <a:solidFill>
                  <a:srgbClr val="C82506"/>
                </a:solidFill>
                <a:latin typeface="Consolas" panose="020B0609020204030204" pitchFamily="49" charset="0"/>
              </a:rPr>
              <a:t> 	 // if the list is empty, </a:t>
            </a:r>
            <a:r>
              <a:rPr lang="en-US" sz="1800" dirty="0" err="1">
                <a:solidFill>
                  <a:srgbClr val="C82506"/>
                </a:solidFill>
                <a:latin typeface="Consolas" panose="020B0609020204030204" pitchFamily="49" charset="0"/>
              </a:rPr>
              <a:t>newnode</a:t>
            </a:r>
            <a:r>
              <a:rPr lang="en-US" sz="1800" dirty="0">
                <a:solidFill>
                  <a:srgbClr val="C82506"/>
                </a:solidFill>
                <a:latin typeface="Consolas" panose="020B0609020204030204" pitchFamily="49" charset="0"/>
              </a:rPr>
              <a:t> is the head</a:t>
            </a:r>
            <a:endParaRPr lang="en-US" sz="1800" dirty="0">
              <a:solidFill>
                <a:srgbClr val="0365C0"/>
              </a:solidFill>
              <a:latin typeface="Consolas" panose="020B0609020204030204" pitchFamily="49" charset="0"/>
            </a:endParaRPr>
          </a:p>
          <a:p>
            <a:pPr marL="0" lv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365C0"/>
                </a:solidFill>
                <a:latin typeface="Consolas" panose="020B0609020204030204" pitchFamily="49" charset="0"/>
              </a:rPr>
              <a:t>        return </a:t>
            </a:r>
            <a:r>
              <a:rPr lang="en-US" sz="1800" dirty="0" err="1">
                <a:solidFill>
                  <a:srgbClr val="0365C0"/>
                </a:solidFill>
                <a:latin typeface="Consolas" panose="020B0609020204030204" pitchFamily="49" charset="0"/>
              </a:rPr>
              <a:t>newnode</a:t>
            </a:r>
            <a:r>
              <a:rPr lang="en-US" sz="1800" dirty="0">
                <a:solidFill>
                  <a:srgbClr val="0365C0"/>
                </a:solidFill>
                <a:latin typeface="Consolas" panose="020B0609020204030204" pitchFamily="49" charset="0"/>
              </a:rPr>
              <a:t>;</a:t>
            </a:r>
          </a:p>
          <a:p>
            <a:pPr marL="0" lv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365C0"/>
                </a:solidFill>
                <a:latin typeface="Consolas" panose="020B0609020204030204" pitchFamily="49" charset="0"/>
              </a:rPr>
              <a:t>    last-&gt;next = </a:t>
            </a:r>
            <a:r>
              <a:rPr lang="en-US" sz="1800" dirty="0" err="1">
                <a:solidFill>
                  <a:srgbClr val="0365C0"/>
                </a:solidFill>
                <a:latin typeface="Consolas" panose="020B0609020204030204" pitchFamily="49" charset="0"/>
              </a:rPr>
              <a:t>newnode</a:t>
            </a:r>
            <a:r>
              <a:rPr lang="en-US" sz="1800" dirty="0">
                <a:solidFill>
                  <a:srgbClr val="0365C0"/>
                </a:solidFill>
                <a:latin typeface="Consolas" panose="020B0609020204030204" pitchFamily="49" charset="0"/>
              </a:rPr>
              <a:t>;</a:t>
            </a:r>
          </a:p>
          <a:p>
            <a:pPr marL="0" lv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365C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365C0"/>
                </a:solidFill>
                <a:latin typeface="Consolas" panose="020B0609020204030204" pitchFamily="49" charset="0"/>
              </a:rPr>
              <a:t>newnode</a:t>
            </a:r>
            <a:r>
              <a:rPr lang="en-US" sz="1800" dirty="0">
                <a:solidFill>
                  <a:srgbClr val="0365C0"/>
                </a:solidFill>
                <a:latin typeface="Consolas" panose="020B0609020204030204" pitchFamily="49" charset="0"/>
              </a:rPr>
              <a:t>-&gt;next = NULL;</a:t>
            </a:r>
          </a:p>
          <a:p>
            <a:pPr marL="0" lv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365C0"/>
                </a:solidFill>
                <a:latin typeface="Consolas" panose="020B0609020204030204" pitchFamily="49" charset="0"/>
              </a:rPr>
              <a:t>    return head;     </a:t>
            </a:r>
            <a:r>
              <a:rPr lang="en-US" sz="1800" dirty="0">
                <a:solidFill>
                  <a:srgbClr val="C82506"/>
                </a:solidFill>
                <a:latin typeface="Consolas" panose="020B0609020204030204" pitchFamily="49" charset="0"/>
              </a:rPr>
              <a:t>// return the (unchanged) head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365C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034158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33DFF-671F-45D7-9020-A98737680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US" u="sng" dirty="0"/>
              <a:t>Arrays vs Linked Lists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F3E5520-57DF-4396-9AF4-B347151F55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722179"/>
              </p:ext>
            </p:extLst>
          </p:nvPr>
        </p:nvGraphicFramePr>
        <p:xfrm>
          <a:off x="1390260" y="1614196"/>
          <a:ext cx="9274630" cy="4525348"/>
        </p:xfrm>
        <a:graphic>
          <a:graphicData uri="http://schemas.openxmlformats.org/drawingml/2006/table">
            <a:tbl>
              <a:tblPr/>
              <a:tblGrid>
                <a:gridCol w="4637315">
                  <a:extLst>
                    <a:ext uri="{9D8B030D-6E8A-4147-A177-3AD203B41FA5}">
                      <a16:colId xmlns:a16="http://schemas.microsoft.com/office/drawing/2014/main" val="2758888726"/>
                    </a:ext>
                  </a:extLst>
                </a:gridCol>
                <a:gridCol w="4637315">
                  <a:extLst>
                    <a:ext uri="{9D8B030D-6E8A-4147-A177-3AD203B41FA5}">
                      <a16:colId xmlns:a16="http://schemas.microsoft.com/office/drawing/2014/main" val="2667975346"/>
                    </a:ext>
                  </a:extLst>
                </a:gridCol>
              </a:tblGrid>
              <a:tr h="6788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Array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Linked List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166117"/>
                  </a:ext>
                </a:extLst>
              </a:tr>
              <a:tr h="6788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Fixed Size, Resizing Expensive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Dynamic Size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5810220"/>
                  </a:ext>
                </a:extLst>
              </a:tr>
              <a:tr h="1272754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Memory allocated in advance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Memory allocated dynamically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2884350"/>
                  </a:ext>
                </a:extLst>
              </a:tr>
              <a:tr h="189499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Sequential access fast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Sequential access slow (elements not in contiguous memory location)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23882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01175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42AF1-1531-F50E-8774-993B1A2CC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06625"/>
            <a:ext cx="10515600" cy="1325563"/>
          </a:xfr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/>
              <a:t>2. Enumeration Types and Constants</a:t>
            </a:r>
          </a:p>
        </p:txBody>
      </p:sp>
    </p:spTree>
    <p:extLst>
      <p:ext uri="{BB962C8B-B14F-4D97-AF65-F5344CB8AC3E}">
        <p14:creationId xmlns:p14="http://schemas.microsoft.com/office/powerpoint/2010/main" val="40853118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2ADC6-95F6-4F5F-882E-36BFAC405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Enumeration types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1A750-A4CB-FEF6-3118-E7BDCC985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54742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The keyword </a:t>
            </a:r>
            <a:r>
              <a:rPr lang="en-US" b="1" dirty="0" err="1">
                <a:solidFill>
                  <a:srgbClr val="0070C0"/>
                </a:solidFill>
              </a:rPr>
              <a:t>enum</a:t>
            </a:r>
            <a:r>
              <a:rPr lang="en-US" dirty="0"/>
              <a:t> is used to declare enumeration types.</a:t>
            </a:r>
          </a:p>
          <a:p>
            <a:r>
              <a:rPr lang="en-US" dirty="0"/>
              <a:t>Treated as integers.</a:t>
            </a:r>
          </a:p>
          <a:p>
            <a:r>
              <a:rPr lang="en-US" dirty="0"/>
              <a:t> By default the first one is 0, and each succeeding one has the next integer value.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4597C66-CB88-BD86-C996-62EDBDED5244}"/>
              </a:ext>
            </a:extLst>
          </p:cNvPr>
          <p:cNvSpPr txBox="1">
            <a:spLocks/>
          </p:cNvSpPr>
          <p:nvPr/>
        </p:nvSpPr>
        <p:spPr>
          <a:xfrm>
            <a:off x="838200" y="4086225"/>
            <a:ext cx="10515600" cy="19547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400" dirty="0"/>
              <a:t>Names look like C identifiers</a:t>
            </a:r>
          </a:p>
          <a:p>
            <a:pPr eaLnBrk="1" hangingPunct="1"/>
            <a:r>
              <a:rPr lang="en-US" altLang="en-US" sz="3400" dirty="0"/>
              <a:t>User-defined integer-like types: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en-US" sz="2600" dirty="0">
                <a:solidFill>
                  <a:schemeClr val="accent1"/>
                </a:solidFill>
                <a:latin typeface="Consolas" panose="020B0609020204030204" pitchFamily="49" charset="0"/>
              </a:rPr>
              <a:t>typedef </a:t>
            </a:r>
            <a:r>
              <a:rPr lang="en-US" altLang="en-US" sz="2600" dirty="0" err="1">
                <a:solidFill>
                  <a:schemeClr val="accent1"/>
                </a:solidFill>
                <a:latin typeface="Consolas" panose="020B0609020204030204" pitchFamily="49" charset="0"/>
              </a:rPr>
              <a:t>enum</a:t>
            </a:r>
            <a:r>
              <a:rPr lang="en-US" altLang="en-US" sz="2600" dirty="0">
                <a:solidFill>
                  <a:schemeClr val="accent1"/>
                </a:solidFill>
                <a:latin typeface="Consolas" panose="020B0609020204030204" pitchFamily="49" charset="0"/>
              </a:rPr>
              <a:t> {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en-US" sz="2600" dirty="0">
                <a:solidFill>
                  <a:schemeClr val="accent1"/>
                </a:solidFill>
                <a:latin typeface="Consolas" panose="020B0609020204030204" pitchFamily="49" charset="0"/>
              </a:rPr>
              <a:t>  Red, Orange, Yellow, Green, Blue, Violet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en-US" sz="2600" dirty="0">
                <a:solidFill>
                  <a:schemeClr val="accent1"/>
                </a:solidFill>
                <a:latin typeface="Consolas" panose="020B0609020204030204" pitchFamily="49" charset="0"/>
              </a:rPr>
              <a:t>} Color;</a:t>
            </a:r>
          </a:p>
        </p:txBody>
      </p:sp>
    </p:spTree>
    <p:extLst>
      <p:ext uri="{BB962C8B-B14F-4D97-AF65-F5344CB8AC3E}">
        <p14:creationId xmlns:p14="http://schemas.microsoft.com/office/powerpoint/2010/main" val="37961969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90019-D61F-1BD4-EEF8-6487ED77F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3092"/>
            <a:ext cx="10515600" cy="1325563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Enum Code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B4CBA6-74C9-CBD5-C48F-D2B6848E3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783" y="2133600"/>
            <a:ext cx="5591026" cy="338666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FB9D8F23-6D25-C10C-72AB-7D95A47C5156}"/>
              </a:ext>
            </a:extLst>
          </p:cNvPr>
          <p:cNvSpPr/>
          <p:nvPr/>
        </p:nvSpPr>
        <p:spPr>
          <a:xfrm>
            <a:off x="6900330" y="3623734"/>
            <a:ext cx="825500" cy="6985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C7F864-9650-9FB0-BD94-7B246CD8BE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2351" y="3198156"/>
            <a:ext cx="2553230" cy="1639111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5FB7C45-A4EA-8987-A00B-CD6B02452FCE}"/>
              </a:ext>
            </a:extLst>
          </p:cNvPr>
          <p:cNvCxnSpPr/>
          <p:nvPr/>
        </p:nvCxnSpPr>
        <p:spPr>
          <a:xfrm flipH="1" flipV="1">
            <a:off x="3953930" y="4364567"/>
            <a:ext cx="3843867" cy="1113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800EA2B-87F3-F27D-F552-54C0C151E40F}"/>
              </a:ext>
            </a:extLst>
          </p:cNvPr>
          <p:cNvCxnSpPr/>
          <p:nvPr/>
        </p:nvCxnSpPr>
        <p:spPr>
          <a:xfrm flipH="1" flipV="1">
            <a:off x="4258730" y="4669367"/>
            <a:ext cx="3843867" cy="1113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E9BB9F2-88BB-3B2D-F830-D6DE3097665D}"/>
              </a:ext>
            </a:extLst>
          </p:cNvPr>
          <p:cNvSpPr txBox="1"/>
          <p:nvPr/>
        </p:nvSpPr>
        <p:spPr>
          <a:xfrm>
            <a:off x="7797797" y="5293267"/>
            <a:ext cx="313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Technically has a value of 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E35CDD-8D6E-D03C-AD47-9794C29451E9}"/>
              </a:ext>
            </a:extLst>
          </p:cNvPr>
          <p:cNvSpPr txBox="1"/>
          <p:nvPr/>
        </p:nvSpPr>
        <p:spPr>
          <a:xfrm>
            <a:off x="8025867" y="5598067"/>
            <a:ext cx="313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Technically has a value of 1</a:t>
            </a:r>
          </a:p>
        </p:txBody>
      </p:sp>
    </p:spTree>
    <p:extLst>
      <p:ext uri="{BB962C8B-B14F-4D97-AF65-F5344CB8AC3E}">
        <p14:creationId xmlns:p14="http://schemas.microsoft.com/office/powerpoint/2010/main" val="4258282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/>
      <p:bldP spid="1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4E8AD-C4B3-7D8E-01A2-E6CF35138A4F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What is the point of </a:t>
            </a:r>
            <a:r>
              <a:rPr lang="en-US" dirty="0" err="1"/>
              <a:t>enums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053B5-5C54-9627-D550-028FB562F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7566" y="1825625"/>
            <a:ext cx="7505701" cy="4351338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“</a:t>
            </a:r>
            <a:r>
              <a:rPr lang="en-US" sz="3600" dirty="0">
                <a:solidFill>
                  <a:srgbClr val="0070C0"/>
                </a:solidFill>
              </a:rPr>
              <a:t>The entire point of </a:t>
            </a:r>
            <a:r>
              <a:rPr lang="en-US" sz="3600" dirty="0" err="1">
                <a:solidFill>
                  <a:srgbClr val="0070C0"/>
                </a:solidFill>
              </a:rPr>
              <a:t>enums</a:t>
            </a:r>
            <a:r>
              <a:rPr lang="en-US" sz="3600" dirty="0">
                <a:solidFill>
                  <a:srgbClr val="0070C0"/>
                </a:solidFill>
              </a:rPr>
              <a:t> are to make your code more readable</a:t>
            </a:r>
            <a:r>
              <a:rPr lang="en-US" sz="3600" dirty="0"/>
              <a:t>….instead of going back and forth checking what int values you may have, you can have a clear set of </a:t>
            </a:r>
            <a:r>
              <a:rPr lang="en-US" sz="3600" dirty="0" err="1"/>
              <a:t>enums</a:t>
            </a:r>
            <a:r>
              <a:rPr lang="en-US" sz="3600" dirty="0"/>
              <a:t> to make the code more readable.”</a:t>
            </a:r>
          </a:p>
          <a:p>
            <a:r>
              <a:rPr lang="en-US" sz="3600" dirty="0"/>
              <a:t>Enums = syntactic sugar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3133EB-66D6-60FC-099D-56FA41FE2C06}"/>
              </a:ext>
            </a:extLst>
          </p:cNvPr>
          <p:cNvSpPr txBox="1"/>
          <p:nvPr/>
        </p:nvSpPr>
        <p:spPr>
          <a:xfrm>
            <a:off x="2286000" y="6467501"/>
            <a:ext cx="82253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Source: https://stackoverflow.com/questions/8010492/what-is-the-point-of-enums</a:t>
            </a:r>
          </a:p>
        </p:txBody>
      </p:sp>
      <p:pic>
        <p:nvPicPr>
          <p:cNvPr id="1026" name="Picture 2" descr="PHP Enumeration classes vs fake enumerations what to use. | Akashic Seer">
            <a:extLst>
              <a:ext uri="{FF2B5EF4-FFF2-40B4-BE49-F238E27FC236}">
                <a16:creationId xmlns:a16="http://schemas.microsoft.com/office/drawing/2014/main" id="{4A4FFEFE-E8DA-6DD8-A70D-DF4F714941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00" y="2679698"/>
            <a:ext cx="3648963" cy="2507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94CD89-19D9-F8E9-ED96-A0AB8C312E7F}"/>
              </a:ext>
            </a:extLst>
          </p:cNvPr>
          <p:cNvSpPr txBox="1"/>
          <p:nvPr/>
        </p:nvSpPr>
        <p:spPr>
          <a:xfrm>
            <a:off x="279400" y="2083063"/>
            <a:ext cx="36217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Programmers first </a:t>
            </a:r>
          </a:p>
          <a:p>
            <a:pPr algn="ctr"/>
            <a:r>
              <a:rPr lang="en-US" dirty="0"/>
              <a:t>hearing about </a:t>
            </a:r>
            <a:r>
              <a:rPr lang="en-US" dirty="0" err="1"/>
              <a:t>enums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5702984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30727-2A8C-A270-2421-7F1FBACD3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7467" y="169333"/>
            <a:ext cx="10515600" cy="1325563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Type qualifier: const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187DB-3817-2CED-825D-8FB9FA2D7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467" y="1757892"/>
            <a:ext cx="10515600" cy="2881841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chemeClr val="accent1"/>
                </a:solidFill>
                <a:latin typeface="Consolas" panose="020B0609020204030204" pitchFamily="49" charset="0"/>
              </a:rPr>
              <a:t>// constant int</a:t>
            </a:r>
          </a:p>
          <a:p>
            <a:pPr marL="0" indent="0">
              <a:buNone/>
            </a:pPr>
            <a:r>
              <a:rPr lang="en-US" sz="2600" dirty="0">
                <a:latin typeface="Consolas" panose="020B0609020204030204" pitchFamily="49" charset="0"/>
              </a:rPr>
              <a:t>const	 int	a = 10;	</a:t>
            </a:r>
            <a:r>
              <a:rPr lang="en-US" sz="2600" dirty="0">
                <a:solidFill>
                  <a:schemeClr val="accent1"/>
                </a:solidFill>
                <a:latin typeface="Consolas" panose="020B0609020204030204" pitchFamily="49" charset="0"/>
              </a:rPr>
              <a:t>    // cannot change a</a:t>
            </a:r>
          </a:p>
          <a:p>
            <a:pPr marL="0" indent="0">
              <a:buNone/>
            </a:pPr>
            <a:endParaRPr lang="en-US" sz="2600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600" dirty="0">
                <a:solidFill>
                  <a:schemeClr val="accent1"/>
                </a:solidFill>
                <a:latin typeface="Consolas" panose="020B0609020204030204" pitchFamily="49" charset="0"/>
              </a:rPr>
              <a:t>// a pointer to a constant int</a:t>
            </a:r>
          </a:p>
          <a:p>
            <a:pPr marL="0" indent="0">
              <a:buNone/>
            </a:pPr>
            <a:r>
              <a:rPr lang="en-US" sz="2600" dirty="0">
                <a:latin typeface="Consolas" panose="020B0609020204030204" pitchFamily="49" charset="0"/>
              </a:rPr>
              <a:t>const int  *pa = &amp;a;	</a:t>
            </a:r>
            <a:r>
              <a:rPr lang="en-US" sz="2600" dirty="0">
                <a:solidFill>
                  <a:schemeClr val="accent1"/>
                </a:solidFill>
                <a:latin typeface="Consolas" panose="020B0609020204030204" pitchFamily="49" charset="0"/>
              </a:rPr>
              <a:t> // can change pa, but not *pa</a:t>
            </a:r>
          </a:p>
          <a:p>
            <a:pPr marL="0" indent="0">
              <a:buNone/>
            </a:pPr>
            <a:endParaRPr lang="en-US" sz="2600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4596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89839-330F-A2A4-4307-865340E78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7164"/>
            <a:ext cx="10515600" cy="1325563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Constant Code Example 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A2ECCA-9204-E754-C182-8B7004ACF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99" y="2573867"/>
            <a:ext cx="6246535" cy="42206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8FBD6B60-CF3C-7014-D6D2-35D48EB750C3}"/>
              </a:ext>
            </a:extLst>
          </p:cNvPr>
          <p:cNvSpPr/>
          <p:nvPr/>
        </p:nvSpPr>
        <p:spPr>
          <a:xfrm>
            <a:off x="6747108" y="4131735"/>
            <a:ext cx="778934" cy="7747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A55A7D-DC03-DC23-3B5E-C26185EF8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9916" y="3838574"/>
            <a:ext cx="2351617" cy="14964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ABEA907-6397-C976-EC50-555CCDDC0ACC}"/>
              </a:ext>
            </a:extLst>
          </p:cNvPr>
          <p:cNvSpPr txBox="1"/>
          <p:nvPr/>
        </p:nvSpPr>
        <p:spPr>
          <a:xfrm>
            <a:off x="838200" y="1459688"/>
            <a:ext cx="1040553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A pointer to a constant is NOT constant. So we can make pa point to a, then we can make pa point to b.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B11219-C569-3B0F-980E-EE09EBDDF26E}"/>
              </a:ext>
            </a:extLst>
          </p:cNvPr>
          <p:cNvSpPr/>
          <p:nvPr/>
        </p:nvSpPr>
        <p:spPr>
          <a:xfrm>
            <a:off x="1655233" y="5875867"/>
            <a:ext cx="1198034" cy="3005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520311-E21E-61FF-8CA6-5BE596D38DF3}"/>
              </a:ext>
            </a:extLst>
          </p:cNvPr>
          <p:cNvSpPr/>
          <p:nvPr/>
        </p:nvSpPr>
        <p:spPr>
          <a:xfrm>
            <a:off x="1735665" y="4957235"/>
            <a:ext cx="2552701" cy="3005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106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30727-2A8C-A270-2421-7F1FBACD3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7467" y="169333"/>
            <a:ext cx="10515600" cy="1325563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Type qualifier: const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187DB-3817-2CED-825D-8FB9FA2D7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467" y="1766359"/>
            <a:ext cx="10515600" cy="2932641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chemeClr val="accent1"/>
                </a:solidFill>
                <a:latin typeface="Consolas" panose="020B0609020204030204" pitchFamily="49" charset="0"/>
              </a:rPr>
              <a:t>// a constant pointer to an int</a:t>
            </a:r>
          </a:p>
          <a:p>
            <a:pPr marL="0" indent="0">
              <a:buNone/>
            </a:pPr>
            <a:r>
              <a:rPr lang="en-US" sz="2600" dirty="0">
                <a:latin typeface="Consolas" panose="020B0609020204030204" pitchFamily="49" charset="0"/>
              </a:rPr>
              <a:t>int  * const pb = &amp;b;	</a:t>
            </a:r>
            <a:r>
              <a:rPr lang="en-US" sz="2600" dirty="0">
                <a:solidFill>
                  <a:schemeClr val="accent1"/>
                </a:solidFill>
                <a:latin typeface="Consolas" panose="020B0609020204030204" pitchFamily="49" charset="0"/>
              </a:rPr>
              <a:t> // can change *pb, but not pb</a:t>
            </a:r>
          </a:p>
          <a:p>
            <a:pPr marL="0" indent="0">
              <a:buNone/>
            </a:pPr>
            <a:endParaRPr lang="en-US" sz="2600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600" dirty="0">
                <a:solidFill>
                  <a:schemeClr val="accent1"/>
                </a:solidFill>
                <a:latin typeface="Consolas" panose="020B0609020204030204" pitchFamily="49" charset="0"/>
              </a:rPr>
              <a:t>// a constant pointer to a constant int</a:t>
            </a:r>
          </a:p>
          <a:p>
            <a:pPr marL="0" indent="0">
              <a:buNone/>
            </a:pPr>
            <a:r>
              <a:rPr lang="en-US" sz="2600" dirty="0">
                <a:latin typeface="Consolas" panose="020B0609020204030204" pitchFamily="49" charset="0"/>
              </a:rPr>
              <a:t>const int  * const pc = &amp;a;</a:t>
            </a:r>
            <a:r>
              <a:rPr lang="en-US" sz="2600" dirty="0">
                <a:solidFill>
                  <a:schemeClr val="accent1"/>
                </a:solidFill>
                <a:latin typeface="Consolas" panose="020B0609020204030204" pitchFamily="49" charset="0"/>
              </a:rPr>
              <a:t> // cannot change *pc or pc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8475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89839-330F-A2A4-4307-865340E78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7164"/>
            <a:ext cx="10515600" cy="1325563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Constant Code Example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BEA907-6397-C976-EC50-555CCDDC0ACC}"/>
              </a:ext>
            </a:extLst>
          </p:cNvPr>
          <p:cNvSpPr txBox="1"/>
          <p:nvPr/>
        </p:nvSpPr>
        <p:spPr>
          <a:xfrm>
            <a:off x="838200" y="1459688"/>
            <a:ext cx="1040553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A constant pointer is CONSTANT and cannot be changed.</a:t>
            </a:r>
          </a:p>
          <a:p>
            <a:pPr algn="ctr"/>
            <a:r>
              <a:rPr lang="en-US" sz="3200" dirty="0"/>
              <a:t>i.e. it always points to one fixed address in memory</a:t>
            </a:r>
          </a:p>
          <a:p>
            <a:pPr algn="ctr"/>
            <a:r>
              <a:rPr lang="en-US" sz="3200" dirty="0"/>
              <a:t>However, we can change what is stored AT that address.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065B4F-505D-B82E-E2B4-3A8C693F9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" y="3368310"/>
            <a:ext cx="6316133" cy="30482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13615324-DDD6-2C23-0FD6-0795ED21A4FC}"/>
              </a:ext>
            </a:extLst>
          </p:cNvPr>
          <p:cNvSpPr/>
          <p:nvPr/>
        </p:nvSpPr>
        <p:spPr>
          <a:xfrm>
            <a:off x="6620933" y="4318000"/>
            <a:ext cx="762000" cy="8051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BD1C7F6-FBFA-B536-172E-3D42E42BC0F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095"/>
          <a:stretch/>
        </p:blipFill>
        <p:spPr>
          <a:xfrm>
            <a:off x="7675033" y="4139671"/>
            <a:ext cx="2150534" cy="1353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697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4E84A-1A3F-B675-6CBF-04061F729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420158"/>
            <a:ext cx="10515600" cy="1325563"/>
          </a:xfr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altLang="en-US" dirty="0"/>
              <a:t>3. </a:t>
            </a:r>
            <a:r>
              <a:rPr lang="en-US" altLang="en-US"/>
              <a:t>Function Pointers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68FE15-DD5C-BB94-67F4-A03C766E1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4615" y="2357711"/>
            <a:ext cx="4962769" cy="42964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016E286-64D0-EE90-75D1-954534B552D0}"/>
              </a:ext>
            </a:extLst>
          </p:cNvPr>
          <p:cNvSpPr txBox="1"/>
          <p:nvPr/>
        </p:nvSpPr>
        <p:spPr>
          <a:xfrm>
            <a:off x="3294184" y="1972732"/>
            <a:ext cx="556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/>
              <a:t>Least complicated pointer program in C:</a:t>
            </a:r>
          </a:p>
        </p:txBody>
      </p:sp>
    </p:spTree>
    <p:extLst>
      <p:ext uri="{BB962C8B-B14F-4D97-AF65-F5344CB8AC3E}">
        <p14:creationId xmlns:p14="http://schemas.microsoft.com/office/powerpoint/2010/main" val="3734945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5DC8F-2827-2E61-DEFB-9CF6701CC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425"/>
            <a:ext cx="10515600" cy="1325563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altLang="en-US" dirty="0"/>
              <a:t>Function Pointers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65197-38A3-33BA-6F43-065A70C21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9725"/>
            <a:ext cx="10515600" cy="408834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CA" altLang="en-US" sz="2800" dirty="0">
                <a:solidFill>
                  <a:schemeClr val="accent1"/>
                </a:solidFill>
                <a:latin typeface="Consolas" panose="020B0609020204030204" pitchFamily="49" charset="0"/>
              </a:rPr>
              <a:t>/* function returning integer */ </a:t>
            </a:r>
            <a:endParaRPr lang="en-US" altLang="en-US" sz="2800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altLang="en-US" sz="2800" dirty="0">
                <a:latin typeface="Consolas" panose="020B0609020204030204" pitchFamily="49" charset="0"/>
              </a:rPr>
              <a:t>int </a:t>
            </a:r>
            <a:r>
              <a:rPr lang="en-CA" altLang="en-US" sz="2800" dirty="0" err="1">
                <a:latin typeface="Consolas" panose="020B0609020204030204" pitchFamily="49" charset="0"/>
              </a:rPr>
              <a:t>func</a:t>
            </a:r>
            <a:r>
              <a:rPr lang="en-CA" altLang="en-US" sz="2800" dirty="0">
                <a:latin typeface="Consolas" panose="020B0609020204030204" pitchFamily="49" charset="0"/>
              </a:rPr>
              <a:t>(); </a:t>
            </a:r>
          </a:p>
          <a:p>
            <a:pPr marL="0" indent="0">
              <a:buNone/>
            </a:pPr>
            <a:endParaRPr lang="en-CA" altLang="en-US" sz="2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altLang="en-US" sz="2800" dirty="0">
                <a:solidFill>
                  <a:schemeClr val="accent1"/>
                </a:solidFill>
                <a:latin typeface="Consolas" panose="020B0609020204030204" pitchFamily="49" charset="0"/>
              </a:rPr>
              <a:t>/* function returning pointer to integer */</a:t>
            </a:r>
          </a:p>
          <a:p>
            <a:pPr marL="0" indent="0">
              <a:buNone/>
            </a:pPr>
            <a:r>
              <a:rPr lang="en-CA" altLang="en-US" sz="2800" dirty="0">
                <a:latin typeface="Consolas" panose="020B0609020204030204" pitchFamily="49" charset="0"/>
              </a:rPr>
              <a:t>int * </a:t>
            </a:r>
            <a:r>
              <a:rPr lang="en-CA" altLang="en-US" sz="2800" dirty="0" err="1">
                <a:latin typeface="Consolas" panose="020B0609020204030204" pitchFamily="49" charset="0"/>
              </a:rPr>
              <a:t>func</a:t>
            </a:r>
            <a:r>
              <a:rPr lang="en-CA" altLang="en-US" sz="2800" dirty="0">
                <a:latin typeface="Consolas" panose="020B0609020204030204" pitchFamily="49" charset="0"/>
              </a:rPr>
              <a:t>(); </a:t>
            </a:r>
          </a:p>
          <a:p>
            <a:pPr marL="0" indent="0">
              <a:buNone/>
            </a:pPr>
            <a:endParaRPr lang="en-CA" altLang="en-US" sz="2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altLang="en-US" sz="2800" dirty="0">
                <a:solidFill>
                  <a:schemeClr val="accent1"/>
                </a:solidFill>
                <a:latin typeface="Consolas" panose="020B0609020204030204" pitchFamily="49" charset="0"/>
              </a:rPr>
              <a:t>/* pointer to function returning integer */</a:t>
            </a:r>
            <a:endParaRPr lang="en-US" altLang="en-US" sz="2800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altLang="en-US" sz="2800" dirty="0">
                <a:latin typeface="Consolas" panose="020B0609020204030204" pitchFamily="49" charset="0"/>
              </a:rPr>
              <a:t>int </a:t>
            </a:r>
            <a:r>
              <a:rPr lang="en-CA" alt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(*</a:t>
            </a:r>
            <a:r>
              <a:rPr lang="en-CA" alt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func</a:t>
            </a:r>
            <a:r>
              <a:rPr lang="en-CA" alt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  <a:r>
              <a:rPr lang="en-CA" altLang="en-US" sz="2800" dirty="0">
                <a:latin typeface="Consolas" panose="020B0609020204030204" pitchFamily="49" charset="0"/>
              </a:rPr>
              <a:t>(); </a:t>
            </a:r>
          </a:p>
          <a:p>
            <a:pPr marL="0" indent="0">
              <a:buNone/>
            </a:pPr>
            <a:endParaRPr lang="en-CA" altLang="en-US" sz="2800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altLang="en-US" sz="2800" dirty="0">
                <a:solidFill>
                  <a:schemeClr val="accent1"/>
                </a:solidFill>
                <a:latin typeface="Consolas" panose="020B0609020204030204" pitchFamily="49" charset="0"/>
              </a:rPr>
              <a:t>/* pointer to function returning pointer to int */</a:t>
            </a:r>
            <a:endParaRPr lang="en-US" altLang="en-US" sz="2800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altLang="en-US" sz="2800" dirty="0">
                <a:latin typeface="Consolas" panose="020B0609020204030204" pitchFamily="49" charset="0"/>
              </a:rPr>
              <a:t>int * </a:t>
            </a:r>
            <a:r>
              <a:rPr lang="en-CA" alt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(*</a:t>
            </a:r>
            <a:r>
              <a:rPr lang="en-CA" alt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func</a:t>
            </a:r>
            <a:r>
              <a:rPr lang="en-CA" alt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  <a:r>
              <a:rPr lang="en-CA" altLang="en-US" sz="2800" dirty="0">
                <a:latin typeface="Consolas" panose="020B0609020204030204" pitchFamily="49" charset="0"/>
              </a:rPr>
              <a:t>(); </a:t>
            </a:r>
            <a:endParaRPr lang="en-US" altLang="en-US" sz="2800" dirty="0">
              <a:latin typeface="Consolas" panose="020B06090202040302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7400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3D9D-5714-54BC-5626-62BFA0B2CD30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Example of using a pointer to a function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81EAD2-CE98-730E-2158-6A9120CD7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534" y="1985433"/>
            <a:ext cx="6273037" cy="42164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3CBF81AD-F18A-1D3F-FFB3-2696C4DCC772}"/>
              </a:ext>
            </a:extLst>
          </p:cNvPr>
          <p:cNvSpPr/>
          <p:nvPr/>
        </p:nvSpPr>
        <p:spPr>
          <a:xfrm>
            <a:off x="6841067" y="3429000"/>
            <a:ext cx="778933" cy="6815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66560C2-317C-B63B-2959-210230C63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000" y="3330044"/>
            <a:ext cx="2758725" cy="103452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C505AFF-4B15-598D-60BC-52B9AFE27D46}"/>
              </a:ext>
            </a:extLst>
          </p:cNvPr>
          <p:cNvSpPr/>
          <p:nvPr/>
        </p:nvSpPr>
        <p:spPr>
          <a:xfrm>
            <a:off x="1329267" y="5554134"/>
            <a:ext cx="2053166" cy="2159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1557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3D9D-5714-54BC-5626-62BFA0B2CD30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3600" dirty="0"/>
              <a:t>Alternative Syntax for using a pointer to a function 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3CBF81AD-F18A-1D3F-FFB3-2696C4DCC772}"/>
              </a:ext>
            </a:extLst>
          </p:cNvPr>
          <p:cNvSpPr/>
          <p:nvPr/>
        </p:nvSpPr>
        <p:spPr>
          <a:xfrm>
            <a:off x="6946900" y="3428999"/>
            <a:ext cx="778933" cy="6815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66560C2-317C-B63B-2959-210230C63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3334" y="3300410"/>
            <a:ext cx="2758725" cy="10345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971E196-5C63-007B-42C7-F835E0DF9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935" y="1936749"/>
            <a:ext cx="6468132" cy="434763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4206322-9813-92AC-1254-A6E42DC5D8B8}"/>
              </a:ext>
            </a:extLst>
          </p:cNvPr>
          <p:cNvSpPr/>
          <p:nvPr/>
        </p:nvSpPr>
        <p:spPr>
          <a:xfrm>
            <a:off x="1278467" y="5634567"/>
            <a:ext cx="2053166" cy="2159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7F1F8B-76D3-035E-AD9E-1E9CF7DD5D29}"/>
              </a:ext>
            </a:extLst>
          </p:cNvPr>
          <p:cNvSpPr txBox="1"/>
          <p:nvPr/>
        </p:nvSpPr>
        <p:spPr>
          <a:xfrm>
            <a:off x="838200" y="6238055"/>
            <a:ext cx="10515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i="1" dirty="0"/>
              <a:t>Why do we care about such complicated behavior?</a:t>
            </a:r>
          </a:p>
        </p:txBody>
      </p:sp>
    </p:spTree>
    <p:extLst>
      <p:ext uri="{BB962C8B-B14F-4D97-AF65-F5344CB8AC3E}">
        <p14:creationId xmlns:p14="http://schemas.microsoft.com/office/powerpoint/2010/main" val="9280961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2D214-6732-7657-0D0F-AF3C02FB0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633" y="0"/>
            <a:ext cx="10515600" cy="931333"/>
          </a:xfrm>
        </p:spPr>
        <p:txBody>
          <a:bodyPr/>
          <a:lstStyle/>
          <a:p>
            <a:pPr algn="ctr"/>
            <a:r>
              <a:rPr lang="en-US" u="sng" dirty="0"/>
              <a:t>Example: quicksort in C library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D5B82-4327-7406-BAAD-8AC8A680F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531" y="1155700"/>
            <a:ext cx="11349036" cy="50212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en-US" dirty="0"/>
              <a:t>The prototype (in &lt;</a:t>
            </a:r>
            <a:r>
              <a:rPr lang="en-US" dirty="0" err="1"/>
              <a:t>stdlib.h</a:t>
            </a:r>
            <a:r>
              <a:rPr lang="en-US" dirty="0"/>
              <a:t>&gt;)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qsort</a:t>
            </a:r>
            <a:r>
              <a:rPr lang="en-US" dirty="0"/>
              <a:t> takes…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base</a:t>
            </a:r>
            <a:r>
              <a:rPr lang="en-US" dirty="0"/>
              <a:t>: 		the address of the array as an untyped pointer</a:t>
            </a:r>
          </a:p>
          <a:p>
            <a:pPr lvl="1"/>
            <a:r>
              <a:rPr lang="en-US" dirty="0" err="1">
                <a:solidFill>
                  <a:schemeClr val="accent1"/>
                </a:solidFill>
              </a:rPr>
              <a:t>nel</a:t>
            </a:r>
            <a:r>
              <a:rPr lang="en-US" dirty="0"/>
              <a:t>: 		the number of elements in the array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width</a:t>
            </a:r>
            <a:r>
              <a:rPr lang="en-US" dirty="0"/>
              <a:t>:		the size (in byte) of ONE element of the array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compare</a:t>
            </a:r>
            <a:r>
              <a:rPr lang="en-US" dirty="0"/>
              <a:t>:	a </a:t>
            </a:r>
            <a:r>
              <a:rPr lang="en-US" b="1" dirty="0">
                <a:solidFill>
                  <a:schemeClr val="accent1"/>
                </a:solidFill>
              </a:rPr>
              <a:t>pointer to a function </a:t>
            </a:r>
            <a:r>
              <a:rPr lang="en-US" dirty="0"/>
              <a:t>that compares two values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2B9586-4341-6D1E-AE0D-681006523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531" y="1753528"/>
            <a:ext cx="11174937" cy="20301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131199B-9175-7746-7B51-FF51AD1DE8F3}"/>
              </a:ext>
            </a:extLst>
          </p:cNvPr>
          <p:cNvSpPr txBox="1"/>
          <p:nvPr/>
        </p:nvSpPr>
        <p:spPr>
          <a:xfrm>
            <a:off x="838199" y="6176963"/>
            <a:ext cx="10515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i="1" dirty="0"/>
              <a:t>Why is having a pointer to a function good?</a:t>
            </a:r>
          </a:p>
        </p:txBody>
      </p:sp>
    </p:spTree>
    <p:extLst>
      <p:ext uri="{BB962C8B-B14F-4D97-AF65-F5344CB8AC3E}">
        <p14:creationId xmlns:p14="http://schemas.microsoft.com/office/powerpoint/2010/main" val="19378624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44EDD-9D73-2FBD-E2B4-EDDCAEA12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233" y="18256"/>
            <a:ext cx="10515600" cy="824177"/>
          </a:xfrm>
        </p:spPr>
        <p:txBody>
          <a:bodyPr/>
          <a:lstStyle/>
          <a:p>
            <a:pPr algn="ctr"/>
            <a:r>
              <a:rPr lang="en-US" sz="4400" i="1" u="sng" dirty="0"/>
              <a:t>Why is having a pointer to a function good?</a:t>
            </a:r>
            <a:endParaRPr lang="en-US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D30B4-A787-BD41-44B0-CE8895BFC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8266" y="2872577"/>
            <a:ext cx="10515600" cy="3848101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85000" lnSpcReduction="20000"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qsort</a:t>
            </a: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() only knows </a:t>
            </a:r>
            <a:r>
              <a:rPr lang="en-US" sz="2800" dirty="0"/>
              <a:t>it is asked to sort </a:t>
            </a:r>
            <a:r>
              <a:rPr lang="en-US" sz="2800" dirty="0" err="1">
                <a:solidFill>
                  <a:schemeClr val="accent1"/>
                </a:solidFill>
              </a:rPr>
              <a:t>nel</a:t>
            </a:r>
            <a:r>
              <a:rPr lang="en-US" sz="2800" dirty="0"/>
              <a:t> items, each having </a:t>
            </a:r>
            <a:r>
              <a:rPr lang="en-US" sz="2800" dirty="0">
                <a:solidFill>
                  <a:schemeClr val="accent1"/>
                </a:solidFill>
              </a:rPr>
              <a:t>width</a:t>
            </a:r>
            <a:r>
              <a:rPr lang="en-US" sz="2800" dirty="0"/>
              <a:t> bytes.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It does not know the type of elements or how to compare them.</a:t>
            </a:r>
          </a:p>
          <a:p>
            <a:r>
              <a:rPr lang="en-US" dirty="0"/>
              <a:t>Need to tell </a:t>
            </a:r>
            <a:r>
              <a:rPr lang="en-US" dirty="0" err="1"/>
              <a:t>qsort</a:t>
            </a:r>
            <a:r>
              <a:rPr lang="en-US" dirty="0"/>
              <a:t>() how to compare items in the array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We have a </a:t>
            </a:r>
            <a:r>
              <a:rPr lang="en-US" b="1" i="1" dirty="0">
                <a:solidFill>
                  <a:srgbClr val="FF0000"/>
                </a:solidFill>
              </a:rPr>
              <a:t>generic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quickSort</a:t>
            </a:r>
            <a:r>
              <a:rPr lang="en-US" b="1" dirty="0">
                <a:solidFill>
                  <a:srgbClr val="FF0000"/>
                </a:solidFill>
              </a:rPr>
              <a:t> implementation</a:t>
            </a:r>
          </a:p>
          <a:p>
            <a:pPr lvl="2"/>
            <a:r>
              <a:rPr lang="en-US" dirty="0"/>
              <a:t>Do not want to implement one for each type of data</a:t>
            </a:r>
          </a:p>
          <a:p>
            <a:r>
              <a:rPr lang="en-US" dirty="0"/>
              <a:t>The </a:t>
            </a:r>
            <a:r>
              <a:rPr lang="en-US" dirty="0" err="1"/>
              <a:t>qsort</a:t>
            </a:r>
            <a:r>
              <a:rPr lang="en-US" dirty="0"/>
              <a:t>() implementation calls the comparator to rank elements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0156FF"/>
                </a:solidFill>
                <a:latin typeface="Consolas" panose="020B0609020204030204" pitchFamily="49" charset="0"/>
              </a:rPr>
              <a:t> int (*compare)(const void *a, const void *b);</a:t>
            </a:r>
            <a:endParaRPr lang="en-US" dirty="0"/>
          </a:p>
          <a:p>
            <a:pPr lvl="1"/>
            <a:r>
              <a:rPr lang="en-US" dirty="0"/>
              <a:t>The function takes the address of two items to be compared,</a:t>
            </a:r>
          </a:p>
          <a:p>
            <a:pPr lvl="1"/>
            <a:r>
              <a:rPr lang="en-US" dirty="0"/>
              <a:t>and returns:</a:t>
            </a:r>
            <a:endParaRPr lang="en-US" dirty="0">
              <a:solidFill>
                <a:schemeClr val="accent1"/>
              </a:solidFill>
            </a:endParaRPr>
          </a:p>
          <a:p>
            <a:pPr lvl="2"/>
            <a:r>
              <a:rPr lang="en-US" dirty="0">
                <a:solidFill>
                  <a:schemeClr val="accent1"/>
                </a:solidFill>
              </a:rPr>
              <a:t>0 if *a  EQUALS *b</a:t>
            </a:r>
          </a:p>
          <a:p>
            <a:pPr lvl="2"/>
            <a:r>
              <a:rPr lang="en-US" dirty="0">
                <a:solidFill>
                  <a:schemeClr val="accent1"/>
                </a:solidFill>
              </a:rPr>
              <a:t>A positive value if *a  is GREATER THAN *b</a:t>
            </a:r>
          </a:p>
          <a:p>
            <a:pPr lvl="2"/>
            <a:r>
              <a:rPr lang="en-US" dirty="0">
                <a:solidFill>
                  <a:schemeClr val="accent1"/>
                </a:solidFill>
              </a:rPr>
              <a:t>A negative value if *a is LESS THAN *b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BE5961-44FC-A8F2-4204-9B42D5CEE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564" y="842433"/>
            <a:ext cx="11174937" cy="2030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5265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B7874-8287-61B5-A8E8-C3A35F765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4" y="0"/>
            <a:ext cx="10515600" cy="1325563"/>
          </a:xfrm>
        </p:spPr>
        <p:txBody>
          <a:bodyPr/>
          <a:lstStyle/>
          <a:p>
            <a:pPr algn="ctr"/>
            <a:r>
              <a:rPr lang="en-US" u="sng" dirty="0"/>
              <a:t>Example of the Compare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6B569-CFFF-376A-CE8D-B2A500098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3633"/>
            <a:ext cx="10515600" cy="51054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800" dirty="0"/>
              <a:t>When </a:t>
            </a:r>
            <a:r>
              <a:rPr lang="en-US" sz="2800" dirty="0" err="1"/>
              <a:t>qsort</a:t>
            </a:r>
            <a:r>
              <a:rPr lang="en-US" sz="2800" dirty="0"/>
              <a:t>() needs to compares two items, it provides their addresses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int </a:t>
            </a:r>
            <a:r>
              <a:rPr lang="en-US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compare_int</a:t>
            </a: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(const void *a, const void *b)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{ </a:t>
            </a:r>
            <a:r>
              <a:rPr lang="en-US" sz="2800" dirty="0">
                <a:solidFill>
                  <a:srgbClr val="92D050"/>
                </a:solidFill>
                <a:latin typeface="Consolas" panose="020B0609020204030204" pitchFamily="49" charset="0"/>
              </a:rPr>
              <a:t>// </a:t>
            </a:r>
            <a:r>
              <a:rPr lang="en-US" sz="2800" dirty="0" err="1">
                <a:solidFill>
                  <a:srgbClr val="92D050"/>
                </a:solidFill>
                <a:latin typeface="Consolas" panose="020B0609020204030204" pitchFamily="49" charset="0"/>
              </a:rPr>
              <a:t>qsort</a:t>
            </a:r>
            <a:r>
              <a:rPr lang="en-US" sz="2800" dirty="0">
                <a:solidFill>
                  <a:srgbClr val="92D050"/>
                </a:solidFill>
                <a:latin typeface="Consolas" panose="020B0609020204030204" pitchFamily="49" charset="0"/>
              </a:rPr>
              <a:t>() does not know the type, but you know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	return *</a:t>
            </a: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</a:rPr>
              <a:t>(int *)</a:t>
            </a: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a - *</a:t>
            </a: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</a:rPr>
              <a:t>(int *)</a:t>
            </a: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b;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int </a:t>
            </a:r>
            <a:r>
              <a:rPr lang="en-US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compare_double</a:t>
            </a: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(const void *a, const void *b)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{ </a:t>
            </a:r>
            <a:r>
              <a:rPr lang="en-US" sz="2800" dirty="0">
                <a:solidFill>
                  <a:srgbClr val="92D050"/>
                </a:solidFill>
                <a:latin typeface="Consolas" panose="020B0609020204030204" pitchFamily="49" charset="0"/>
              </a:rPr>
              <a:t>// </a:t>
            </a:r>
            <a:r>
              <a:rPr lang="en-US" sz="2800" dirty="0" err="1">
                <a:solidFill>
                  <a:srgbClr val="92D050"/>
                </a:solidFill>
                <a:latin typeface="Consolas" panose="020B0609020204030204" pitchFamily="49" charset="0"/>
              </a:rPr>
              <a:t>qsort</a:t>
            </a:r>
            <a:r>
              <a:rPr lang="en-US" sz="2800" dirty="0">
                <a:solidFill>
                  <a:srgbClr val="92D050"/>
                </a:solidFill>
                <a:latin typeface="Consolas" panose="020B0609020204030204" pitchFamily="49" charset="0"/>
              </a:rPr>
              <a:t>() does not the type, but you know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</a:rPr>
              <a:t>   </a:t>
            </a: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double </a:t>
            </a:r>
            <a:r>
              <a:rPr lang="en-US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va</a:t>
            </a: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vb</a:t>
            </a: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</a:rPr>
              <a:t>   </a:t>
            </a:r>
            <a:r>
              <a:rPr lang="en-US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va</a:t>
            </a: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 = *</a:t>
            </a: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</a:rPr>
              <a:t>(double *)</a:t>
            </a: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a; </a:t>
            </a:r>
            <a:r>
              <a:rPr lang="en-US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vb</a:t>
            </a: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 = *</a:t>
            </a: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</a:rPr>
              <a:t>(double *)</a:t>
            </a: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b;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	return </a:t>
            </a:r>
            <a:r>
              <a:rPr lang="en-US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va</a:t>
            </a: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 &gt; </a:t>
            </a:r>
            <a:r>
              <a:rPr lang="en-US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vb</a:t>
            </a: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 ? 1 : (</a:t>
            </a:r>
            <a:r>
              <a:rPr lang="en-US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va</a:t>
            </a: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 &lt; </a:t>
            </a:r>
            <a:r>
              <a:rPr lang="en-US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vb</a:t>
            </a: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 ? -1 : 0);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5921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CBDAD-FBBF-9AD7-4C0C-84B1E5E79982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Lecture 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63F88-3B94-C73B-EED9-129C03838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0800" y="1825625"/>
            <a:ext cx="6722533" cy="435133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Conclusion 1: You should understand the linked list and how using a pointer to denote the head makes manipulation of the nodes straight forward.</a:t>
            </a:r>
          </a:p>
          <a:p>
            <a:r>
              <a:rPr lang="en-US" dirty="0"/>
              <a:t>Conclusion 2: Understand how to use enumerators and constants.</a:t>
            </a:r>
          </a:p>
          <a:p>
            <a:r>
              <a:rPr lang="en-US" dirty="0"/>
              <a:t>Conclusion 3: Start to understand how we can pass functions as pointers for flexible coding. </a:t>
            </a:r>
          </a:p>
        </p:txBody>
      </p:sp>
      <p:pic>
        <p:nvPicPr>
          <p:cNvPr id="4" name="Picture 2" descr="PHP Enumeration classes vs fake enumerations what to use. | Akashic Seer">
            <a:extLst>
              <a:ext uri="{FF2B5EF4-FFF2-40B4-BE49-F238E27FC236}">
                <a16:creationId xmlns:a16="http://schemas.microsoft.com/office/drawing/2014/main" id="{085EBB41-1AC0-EC6C-8247-31D818AEF1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4953" y="2218266"/>
            <a:ext cx="2256531" cy="1550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CD47BA-A1FB-3BD6-D702-43D71483F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851" y="2218265"/>
            <a:ext cx="2420102" cy="34374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F7B0DA8-3C1E-A101-FE94-259D887172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4953" y="3768721"/>
            <a:ext cx="2241782" cy="1941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092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6DB09-8905-429B-9F56-234F9EE9E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Figure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1E7B0-0BE8-47C7-8EC6-28421CE5E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880" y="1813851"/>
            <a:ext cx="10515600" cy="435133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/>
          </a:bodyPr>
          <a:lstStyle/>
          <a:p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Figures for linked list are </a:t>
            </a:r>
            <a:r>
              <a:rPr lang="en-US" sz="2800" dirty="0"/>
              <a:t>from </a:t>
            </a:r>
            <a:r>
              <a:rPr lang="en-US" sz="2800" dirty="0">
                <a:hlinkClick r:id="rId2"/>
              </a:rPr>
              <a:t>http://www.zentut.com/c-tutorial/c-linked-list/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hlinkClick r:id="rId3"/>
              </a:rPr>
              <a:t>https://programmercave0.github.io/assets/Memes-Linkedlist/llmeme2.jpg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  <a:hlinkClick r:id="rId4"/>
              </a:rPr>
              <a:t>https://programmercave0.github.io/assets/Memes-Linkedlist/llmeme6.jpg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 Neue Light"/>
            </a:endParaRPr>
          </a:p>
          <a:p>
            <a:pPr marL="514350" indent="-514350">
              <a:buFont typeface="+mj-lt"/>
              <a:buAutoNum type="arabicPeriod"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  <a:hlinkClick r:id="rId5"/>
              </a:rPr>
              <a:t>https://akashicseer.com/wp-content/uploads/2022/02/pirate-what-is-this-fool.jpg</a:t>
            </a:r>
            <a:endParaRPr kumimoji="0" lang="en-US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 Neue Light"/>
            </a:endParaRPr>
          </a:p>
          <a:p>
            <a:pPr marL="514350" indent="-514350">
              <a:buFont typeface="+mj-lt"/>
              <a:buAutoNum type="arabicPeriod"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  <a:hlinkClick r:id="rId6"/>
              </a:rPr>
              <a:t>https://www.idlememe.com/wp-content/uploads/2021/10/spiderman-pointing-meme-idlememe-2.jpg</a:t>
            </a:r>
            <a:endParaRPr kumimoji="0" lang="en-US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 Neue Light"/>
            </a:endParaRPr>
          </a:p>
          <a:p>
            <a:pPr marL="514350" indent="-514350">
              <a:buFont typeface="+mj-lt"/>
              <a:buAutoNum type="arabicPeriod"/>
            </a:pPr>
            <a:endParaRPr kumimoji="0" lang="en-US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 Neue Light"/>
            </a:endParaRPr>
          </a:p>
          <a:p>
            <a:pPr marL="0" indent="0">
              <a:buNone/>
            </a:pPr>
            <a:endParaRPr kumimoji="0" lang="en-US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 Neue Light"/>
            </a:endParaRPr>
          </a:p>
          <a:p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1199757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5280</TotalTime>
  <Words>1722</Words>
  <Application>Microsoft Macintosh PowerPoint</Application>
  <PresentationFormat>Widescreen</PresentationFormat>
  <Paragraphs>213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Arial</vt:lpstr>
      <vt:lpstr>Calibri</vt:lpstr>
      <vt:lpstr>Calibri Light</vt:lpstr>
      <vt:lpstr>Consolas</vt:lpstr>
      <vt:lpstr>Wingdings</vt:lpstr>
      <vt:lpstr>Office Theme</vt:lpstr>
      <vt:lpstr>CSE 3100: Systems Programming</vt:lpstr>
      <vt:lpstr>1. Linked Lists and Structures</vt:lpstr>
      <vt:lpstr>1. Linked Lists and Structures</vt:lpstr>
      <vt:lpstr>Review from last lecture…structures</vt:lpstr>
      <vt:lpstr>Structures Example</vt:lpstr>
      <vt:lpstr>Structures Example</vt:lpstr>
      <vt:lpstr>Structures Example Entire Code</vt:lpstr>
      <vt:lpstr>Structures in C in practice: Linked Lists</vt:lpstr>
      <vt:lpstr>Singly Linked Lists</vt:lpstr>
      <vt:lpstr>PowerPoint Presentation</vt:lpstr>
      <vt:lpstr>Linked Lists</vt:lpstr>
      <vt:lpstr>Linked List Head</vt:lpstr>
      <vt:lpstr>Creating a Node</vt:lpstr>
      <vt:lpstr>Adding a new node to a linked list (Prepend)</vt:lpstr>
      <vt:lpstr>Adding a new node to a linked list (Prepend)</vt:lpstr>
      <vt:lpstr>How to find the last element of a linked list?</vt:lpstr>
      <vt:lpstr>How to find the last element of a linked list?</vt:lpstr>
      <vt:lpstr>Adding a new node to a linked list (Append)</vt:lpstr>
      <vt:lpstr>Adding a new node to a linked list (Append)</vt:lpstr>
      <vt:lpstr>Arrays vs Linked Lists </vt:lpstr>
      <vt:lpstr>2. Enumeration Types and Constants</vt:lpstr>
      <vt:lpstr>Enumeration types </vt:lpstr>
      <vt:lpstr>Enum Code Example</vt:lpstr>
      <vt:lpstr>What is the point of enums?</vt:lpstr>
      <vt:lpstr>Type qualifier: const (1)</vt:lpstr>
      <vt:lpstr>Constant Code Example 1</vt:lpstr>
      <vt:lpstr>Type qualifier: const (2)</vt:lpstr>
      <vt:lpstr>Constant Code Example 2</vt:lpstr>
      <vt:lpstr>3. Function Pointers</vt:lpstr>
      <vt:lpstr>Function Pointers</vt:lpstr>
      <vt:lpstr>Example of using a pointer to a function</vt:lpstr>
      <vt:lpstr>Alternative Syntax for using a pointer to a function </vt:lpstr>
      <vt:lpstr>Example: quicksort in C library</vt:lpstr>
      <vt:lpstr>Why is having a pointer to a function good?</vt:lpstr>
      <vt:lpstr>Example of the Compare Function</vt:lpstr>
      <vt:lpstr>Lecture Conclusions</vt:lpstr>
      <vt:lpstr>Figure 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3100: Systems Programming</dc:title>
  <dc:creator>Mahmood, Kaleel</dc:creator>
  <cp:lastModifiedBy>Zhang, Wei</cp:lastModifiedBy>
  <cp:revision>690</cp:revision>
  <dcterms:created xsi:type="dcterms:W3CDTF">2023-01-27T23:53:51Z</dcterms:created>
  <dcterms:modified xsi:type="dcterms:W3CDTF">2025-02-11T20:59:41Z</dcterms:modified>
</cp:coreProperties>
</file>