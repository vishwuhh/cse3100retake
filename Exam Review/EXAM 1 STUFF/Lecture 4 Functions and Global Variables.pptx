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7" r:id="rId2"/>
    <p:sldId id="467" r:id="rId3"/>
    <p:sldId id="468" r:id="rId4"/>
    <p:sldId id="272" r:id="rId5"/>
    <p:sldId id="271" r:id="rId6"/>
    <p:sldId id="274" r:id="rId7"/>
    <p:sldId id="273" r:id="rId8"/>
    <p:sldId id="278" r:id="rId9"/>
    <p:sldId id="275" r:id="rId10"/>
    <p:sldId id="276" r:id="rId11"/>
    <p:sldId id="279" r:id="rId12"/>
    <p:sldId id="280" r:id="rId13"/>
    <p:sldId id="281" r:id="rId14"/>
    <p:sldId id="283" r:id="rId15"/>
    <p:sldId id="284" r:id="rId16"/>
    <p:sldId id="424" r:id="rId17"/>
    <p:sldId id="421" r:id="rId18"/>
    <p:sldId id="282" r:id="rId19"/>
    <p:sldId id="469" r:id="rId20"/>
    <p:sldId id="472" r:id="rId21"/>
    <p:sldId id="470" r:id="rId22"/>
    <p:sldId id="286" r:id="rId23"/>
    <p:sldId id="471" r:id="rId24"/>
    <p:sldId id="423" r:id="rId25"/>
    <p:sldId id="474" r:id="rId26"/>
    <p:sldId id="473" r:id="rId27"/>
    <p:sldId id="475" r:id="rId28"/>
    <p:sldId id="476" r:id="rId29"/>
    <p:sldId id="289" r:id="rId30"/>
    <p:sldId id="422" r:id="rId31"/>
    <p:sldId id="477" r:id="rId32"/>
    <p:sldId id="290" r:id="rId33"/>
    <p:sldId id="291" r:id="rId34"/>
    <p:sldId id="478" r:id="rId35"/>
    <p:sldId id="415" r:id="rId36"/>
    <p:sldId id="416" r:id="rId37"/>
    <p:sldId id="417" r:id="rId38"/>
    <p:sldId id="418" r:id="rId39"/>
    <p:sldId id="419" r:id="rId40"/>
    <p:sldId id="420" r:id="rId41"/>
    <p:sldId id="425" r:id="rId42"/>
    <p:sldId id="26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76"/>
  </p:normalViewPr>
  <p:slideViewPr>
    <p:cSldViewPr snapToGrid="0">
      <p:cViewPr varScale="1">
        <p:scale>
          <a:sx n="102" d="100"/>
          <a:sy n="102" d="100"/>
        </p:scale>
        <p:origin x="85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3A924-CE97-425A-A786-AE2D571B426D}" type="datetimeFigureOut">
              <a:rPr lang="en-US" smtClean="0"/>
              <a:t>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0F7F85-2320-42D5-873B-256BB844EE6C}" type="slidenum">
              <a:rPr lang="en-US" smtClean="0"/>
              <a:t>‹#›</a:t>
            </a:fld>
            <a:endParaRPr lang="en-US"/>
          </a:p>
        </p:txBody>
      </p:sp>
    </p:spTree>
    <p:extLst>
      <p:ext uri="{BB962C8B-B14F-4D97-AF65-F5344CB8AC3E}">
        <p14:creationId xmlns:p14="http://schemas.microsoft.com/office/powerpoint/2010/main" val="2547146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9D25-0B7F-B1CE-F52E-9BA180E518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0CE05-F75B-02D8-8A30-411F81134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8AF4BF1-9131-BA65-857F-63169ABE497B}"/>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5" name="Footer Placeholder 4">
            <a:extLst>
              <a:ext uri="{FF2B5EF4-FFF2-40B4-BE49-F238E27FC236}">
                <a16:creationId xmlns:a16="http://schemas.microsoft.com/office/drawing/2014/main" id="{83C73C87-2B46-7F2A-D54F-B103EEB8C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5D531-CF50-EC02-D54F-90E5EF8A17E9}"/>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51389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34AE6-9797-FAFB-9776-3EDFC4AC20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5DA617-9364-9892-D582-FA6A4C2DF9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AB2B4-E407-7F20-2C03-3B9DEAA8A9C1}"/>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5" name="Footer Placeholder 4">
            <a:extLst>
              <a:ext uri="{FF2B5EF4-FFF2-40B4-BE49-F238E27FC236}">
                <a16:creationId xmlns:a16="http://schemas.microsoft.com/office/drawing/2014/main" id="{8F343465-F846-7A57-19E5-49775734B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23432-705B-6524-3DA0-8955FF24178A}"/>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352093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DD7B-EA2B-C58F-AC77-970C87C403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326374-B654-3D23-541D-35D8ACFBAE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A52D59-73F1-E990-97F9-26327F3CFED5}"/>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5" name="Footer Placeholder 4">
            <a:extLst>
              <a:ext uri="{FF2B5EF4-FFF2-40B4-BE49-F238E27FC236}">
                <a16:creationId xmlns:a16="http://schemas.microsoft.com/office/drawing/2014/main" id="{366C0430-3B2D-BB17-5CC8-1630F0F889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DA0FA-1DBA-CDD7-C34F-857727235A22}"/>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369513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3800-5D5C-B70A-E398-0969312EC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F52DBC-6D25-AF9C-A3DC-A94E0C8B29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8E3C90-3909-A1E9-2AD8-1E22515C83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AC35C4D-B429-57CF-1265-831FD1E10E64}"/>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6" name="Footer Placeholder 5">
            <a:extLst>
              <a:ext uri="{FF2B5EF4-FFF2-40B4-BE49-F238E27FC236}">
                <a16:creationId xmlns:a16="http://schemas.microsoft.com/office/drawing/2014/main" id="{8F16525F-FD69-74B8-5A7C-A93FB8C768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D4C3E4-1EBF-7DAB-A0AC-A900BC04C968}"/>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771178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D59C-4559-6D15-7730-DDCAC53A1C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7EAB68-959E-B80E-E31C-BE1FC1E076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A012B4-AC8E-A924-A4EB-4D9BD2988A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1F1374-4DF5-5DBF-D35B-F374C4A203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0AD48C-1E35-C57C-D264-0706F96A02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5B0A3E-A8B0-DACB-6187-4654188951F5}"/>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8" name="Footer Placeholder 7">
            <a:extLst>
              <a:ext uri="{FF2B5EF4-FFF2-40B4-BE49-F238E27FC236}">
                <a16:creationId xmlns:a16="http://schemas.microsoft.com/office/drawing/2014/main" id="{BBD14AE0-77CB-BC60-82FE-A9DC042B4B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ADA030-00D2-34B9-4173-6A7B23086BC2}"/>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195327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1C08D-4DED-F266-A1DB-A9284FD73D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09A5C6-B5AC-CB1E-C483-C271866BE9C3}"/>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4" name="Footer Placeholder 3">
            <a:extLst>
              <a:ext uri="{FF2B5EF4-FFF2-40B4-BE49-F238E27FC236}">
                <a16:creationId xmlns:a16="http://schemas.microsoft.com/office/drawing/2014/main" id="{7DED328F-0119-811E-2172-E4F3E69D48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AA8566-40F3-1633-2B6B-D768D90B92C5}"/>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767672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8AC85-0553-EA33-E5A4-3FF985C561C3}"/>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3" name="Footer Placeholder 2">
            <a:extLst>
              <a:ext uri="{FF2B5EF4-FFF2-40B4-BE49-F238E27FC236}">
                <a16:creationId xmlns:a16="http://schemas.microsoft.com/office/drawing/2014/main" id="{894E5CCA-3103-DB17-B61A-06494BEFAD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F77A18-20AB-3E58-510F-7FCF4BC9863A}"/>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99719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41EBF-410F-B5E9-5501-4CC5623B4D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647C07-E3C8-3CA6-FCCD-BE3D6996AF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A800DF-3EF7-E8B2-4756-1E233BB3D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591134-9D61-11BC-13D9-CF67C8E182B5}"/>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6" name="Footer Placeholder 5">
            <a:extLst>
              <a:ext uri="{FF2B5EF4-FFF2-40B4-BE49-F238E27FC236}">
                <a16:creationId xmlns:a16="http://schemas.microsoft.com/office/drawing/2014/main" id="{D7F921C1-8889-DDB0-C723-1AFBE307F9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FACF56-AEAE-7DD8-6F62-A5BDAEEC071D}"/>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3905036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2757-32A7-35AE-29F5-E312AE05AA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A62C0F-D056-223D-88F6-61C6D78BBD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C5E826-965D-A19B-F233-CBAC7BB06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E48648-211E-CBEE-C76E-DC9313E4AA05}"/>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6" name="Footer Placeholder 5">
            <a:extLst>
              <a:ext uri="{FF2B5EF4-FFF2-40B4-BE49-F238E27FC236}">
                <a16:creationId xmlns:a16="http://schemas.microsoft.com/office/drawing/2014/main" id="{ECC187EC-4639-A166-253E-C1D61199FD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15C077-D90B-1D7E-83D9-5B88D79B3190}"/>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432425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D5B39-EE3B-FFD3-2F5E-EA7ED29652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2BB011-3B4A-9402-46B3-26A1773AD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A7EAC-12DD-271D-B44B-6A2ACC3AD570}"/>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5" name="Footer Placeholder 4">
            <a:extLst>
              <a:ext uri="{FF2B5EF4-FFF2-40B4-BE49-F238E27FC236}">
                <a16:creationId xmlns:a16="http://schemas.microsoft.com/office/drawing/2014/main" id="{EDC16B88-1849-5016-6D8C-25D3489605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42FB27-6A09-5D3C-ACAE-2962A672CCC7}"/>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2484259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83E93C-2C00-2AE1-994A-BE27EBE2BF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892ECD-3BA7-D54F-15BA-433730C2E2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2040E-C9C2-B662-63C1-8F5D2975A177}"/>
              </a:ext>
            </a:extLst>
          </p:cNvPr>
          <p:cNvSpPr>
            <a:spLocks noGrp="1"/>
          </p:cNvSpPr>
          <p:nvPr>
            <p:ph type="dt" sz="half" idx="10"/>
          </p:nvPr>
        </p:nvSpPr>
        <p:spPr/>
        <p:txBody>
          <a:bodyPr/>
          <a:lstStyle/>
          <a:p>
            <a:fld id="{209572BF-C76E-4508-9D8B-FECC02DEE63E}" type="datetimeFigureOut">
              <a:rPr lang="en-US" smtClean="0"/>
              <a:t>2/2/26</a:t>
            </a:fld>
            <a:endParaRPr lang="en-US"/>
          </a:p>
        </p:txBody>
      </p:sp>
      <p:sp>
        <p:nvSpPr>
          <p:cNvPr id="5" name="Footer Placeholder 4">
            <a:extLst>
              <a:ext uri="{FF2B5EF4-FFF2-40B4-BE49-F238E27FC236}">
                <a16:creationId xmlns:a16="http://schemas.microsoft.com/office/drawing/2014/main" id="{133E9B1C-0772-CFAD-1394-DD0380F08E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889A3A-49EA-15D6-85ED-B3A582AD8EA0}"/>
              </a:ext>
            </a:extLst>
          </p:cNvPr>
          <p:cNvSpPr>
            <a:spLocks noGrp="1"/>
          </p:cNvSpPr>
          <p:nvPr>
            <p:ph type="sldNum" sz="quarter" idx="12"/>
          </p:nvPr>
        </p:nvSpPr>
        <p:spPr/>
        <p:txBody>
          <a:bodyPr/>
          <a:lstStyle/>
          <a:p>
            <a:fld id="{31FB30E7-6FA1-4879-A6E2-A42A4829A38E}" type="slidenum">
              <a:rPr lang="en-US" smtClean="0"/>
              <a:t>‹#›</a:t>
            </a:fld>
            <a:endParaRPr lang="en-US"/>
          </a:p>
        </p:txBody>
      </p:sp>
    </p:spTree>
    <p:extLst>
      <p:ext uri="{BB962C8B-B14F-4D97-AF65-F5344CB8AC3E}">
        <p14:creationId xmlns:p14="http://schemas.microsoft.com/office/powerpoint/2010/main" val="1169917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1886159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523662-4C2E-DFA0-219E-2458A1054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CCB472-9163-5518-643D-4735C1C25D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97181-79B3-4EFB-12A9-FE54C05788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9572BF-C76E-4508-9D8B-FECC02DEE63E}" type="datetimeFigureOut">
              <a:rPr lang="en-US" smtClean="0"/>
              <a:t>2/2/26</a:t>
            </a:fld>
            <a:endParaRPr lang="en-US"/>
          </a:p>
        </p:txBody>
      </p:sp>
      <p:sp>
        <p:nvSpPr>
          <p:cNvPr id="5" name="Footer Placeholder 4">
            <a:extLst>
              <a:ext uri="{FF2B5EF4-FFF2-40B4-BE49-F238E27FC236}">
                <a16:creationId xmlns:a16="http://schemas.microsoft.com/office/drawing/2014/main" id="{51FDDE42-872E-A541-37C2-C737F2B19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3814DC-6659-CF02-0983-BC526E1D30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FB30E7-6FA1-4879-A6E2-A42A4829A38E}" type="slidenum">
              <a:rPr lang="en-US" smtClean="0"/>
              <a:t>‹#›</a:t>
            </a:fld>
            <a:endParaRPr lang="en-US"/>
          </a:p>
        </p:txBody>
      </p:sp>
    </p:spTree>
    <p:extLst>
      <p:ext uri="{BB962C8B-B14F-4D97-AF65-F5344CB8AC3E}">
        <p14:creationId xmlns:p14="http://schemas.microsoft.com/office/powerpoint/2010/main" val="4240349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hyperlink" Target="https://pbs.twimg.com/profile_images/3092028479/15db929f6739606a1aefc74277951af8_400x400.jpeg" TargetMode="External"/><Relationship Id="rId7" Type="http://schemas.openxmlformats.org/officeDocument/2006/relationships/hyperlink" Target="https://media.tenor.com/BiUtqfsTcqcAAAAC/memory-no-memory.gif" TargetMode="External"/><Relationship Id="rId2" Type="http://schemas.openxmlformats.org/officeDocument/2006/relationships/hyperlink" Target="https://i.pinimg.com/originals/2a/74/33/2a7433d23ce752166b7abc910299ff15.jpg" TargetMode="External"/><Relationship Id="rId1" Type="http://schemas.openxmlformats.org/officeDocument/2006/relationships/slideLayout" Target="../slideLayouts/slideLayout2.xml"/><Relationship Id="rId6" Type="http://schemas.openxmlformats.org/officeDocument/2006/relationships/hyperlink" Target="https://img-9gag-fun.9cache.com/photo/am5j20j_460s.jpg" TargetMode="External"/><Relationship Id="rId5" Type="http://schemas.openxmlformats.org/officeDocument/2006/relationships/hyperlink" Target="https://i.imgflip.com/17t6zh.jpg" TargetMode="External"/><Relationship Id="rId4" Type="http://schemas.openxmlformats.org/officeDocument/2006/relationships/hyperlink" Target="https://media.makeameme.org/created/when-i-wrote-a49411.jp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C04B-99DA-465F-9622-6B3B5A36CF10}"/>
              </a:ext>
            </a:extLst>
          </p:cNvPr>
          <p:cNvSpPr>
            <a:spLocks noGrp="1"/>
          </p:cNvSpPr>
          <p:nvPr>
            <p:ph type="ctrTitle"/>
          </p:nvPr>
        </p:nvSpPr>
        <p:spPr>
          <a:xfrm>
            <a:off x="0" y="0"/>
            <a:ext cx="12192000" cy="839902"/>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txBody>
          <a:bodyPr>
            <a:normAutofit/>
          </a:bodyPr>
          <a:lstStyle/>
          <a:p>
            <a:r>
              <a:rPr lang="en-US" sz="4800" dirty="0"/>
              <a:t>CSE 3100: Systems Programming</a:t>
            </a:r>
          </a:p>
        </p:txBody>
      </p:sp>
      <p:sp>
        <p:nvSpPr>
          <p:cNvPr id="3" name="Subtitle 2">
            <a:extLst>
              <a:ext uri="{FF2B5EF4-FFF2-40B4-BE49-F238E27FC236}">
                <a16:creationId xmlns:a16="http://schemas.microsoft.com/office/drawing/2014/main" id="{59245AFA-748C-4441-9A3A-253D6A215DF6}"/>
              </a:ext>
            </a:extLst>
          </p:cNvPr>
          <p:cNvSpPr>
            <a:spLocks noGrp="1"/>
          </p:cNvSpPr>
          <p:nvPr>
            <p:ph type="subTitle" idx="1"/>
          </p:nvPr>
        </p:nvSpPr>
        <p:spPr>
          <a:xfrm>
            <a:off x="1430693" y="5202238"/>
            <a:ext cx="9144000" cy="1655762"/>
          </a:xfrm>
        </p:spPr>
        <p:txBody>
          <a:bodyPr/>
          <a:lstStyle/>
          <a:p>
            <a:r>
              <a:rPr lang="en-US" dirty="0"/>
              <a:t>Department of Computer Science and Engineering</a:t>
            </a:r>
          </a:p>
          <a:p>
            <a:r>
              <a:rPr lang="en-US" dirty="0"/>
              <a:t>University of Connecticut</a:t>
            </a:r>
          </a:p>
        </p:txBody>
      </p:sp>
      <p:sp>
        <p:nvSpPr>
          <p:cNvPr id="4" name="Subtitle 2">
            <a:extLst>
              <a:ext uri="{FF2B5EF4-FFF2-40B4-BE49-F238E27FC236}">
                <a16:creationId xmlns:a16="http://schemas.microsoft.com/office/drawing/2014/main" id="{02CB5F35-6329-406D-89BD-C9BBF92B1EAD}"/>
              </a:ext>
            </a:extLst>
          </p:cNvPr>
          <p:cNvSpPr txBox="1">
            <a:spLocks/>
          </p:cNvSpPr>
          <p:nvPr/>
        </p:nvSpPr>
        <p:spPr>
          <a:xfrm>
            <a:off x="0" y="2853241"/>
            <a:ext cx="12192000" cy="939849"/>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7200" dirty="0"/>
              <a:t>Lecture 4: Functions and Global Variables</a:t>
            </a:r>
          </a:p>
        </p:txBody>
      </p:sp>
    </p:spTree>
    <p:extLst>
      <p:ext uri="{BB962C8B-B14F-4D97-AF65-F5344CB8AC3E}">
        <p14:creationId xmlns:p14="http://schemas.microsoft.com/office/powerpoint/2010/main" val="252123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958516" y="304967"/>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dirty="0">
                <a:effectLst>
                  <a:outerShdw blurRad="38100" dist="38100" dir="2700000" algn="tl">
                    <a:srgbClr val="000000">
                      <a:alpha val="43137"/>
                    </a:srgbClr>
                  </a:outerShdw>
                </a:effectLst>
              </a:rPr>
              <a:t>1. The Basics of Functions</a:t>
            </a:r>
          </a:p>
        </p:txBody>
      </p:sp>
      <p:sp>
        <p:nvSpPr>
          <p:cNvPr id="4" name="Title 1">
            <a:extLst>
              <a:ext uri="{FF2B5EF4-FFF2-40B4-BE49-F238E27FC236}">
                <a16:creationId xmlns:a16="http://schemas.microsoft.com/office/drawing/2014/main" id="{2A5E5307-D978-36AF-F83D-D0EFD2AA9642}"/>
              </a:ext>
            </a:extLst>
          </p:cNvPr>
          <p:cNvSpPr txBox="1">
            <a:spLocks/>
          </p:cNvSpPr>
          <p:nvPr/>
        </p:nvSpPr>
        <p:spPr>
          <a:xfrm>
            <a:off x="958516" y="1851818"/>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effectLst>
                  <a:outerShdw blurRad="38100" dist="38100" dir="2700000" algn="tl">
                    <a:srgbClr val="000000">
                      <a:alpha val="43137"/>
                    </a:srgbClr>
                  </a:outerShdw>
                </a:effectLst>
              </a:rPr>
              <a:t>2. Types of Variables in C</a:t>
            </a:r>
            <a:endParaRPr lang="en-US" b="1" dirty="0">
              <a:effectLst>
                <a:outerShdw blurRad="38100" dist="38100" dir="2700000" algn="tl">
                  <a:srgbClr val="000000">
                    <a:alpha val="43137"/>
                  </a:srgbClr>
                </a:outerShdw>
              </a:effectLst>
            </a:endParaRPr>
          </a:p>
        </p:txBody>
      </p:sp>
      <p:sp>
        <p:nvSpPr>
          <p:cNvPr id="3" name="Title 1">
            <a:extLst>
              <a:ext uri="{FF2B5EF4-FFF2-40B4-BE49-F238E27FC236}">
                <a16:creationId xmlns:a16="http://schemas.microsoft.com/office/drawing/2014/main" id="{72651BD0-BD73-02F8-B368-60BA8DB8612E}"/>
              </a:ext>
            </a:extLst>
          </p:cNvPr>
          <p:cNvSpPr txBox="1">
            <a:spLocks/>
          </p:cNvSpPr>
          <p:nvPr/>
        </p:nvSpPr>
        <p:spPr>
          <a:xfrm>
            <a:off x="958516" y="3398669"/>
            <a:ext cx="10515600" cy="1325563"/>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effectLst>
                  <a:outerShdw blurRad="38100" dist="38100" dir="2700000" algn="tl">
                    <a:srgbClr val="000000">
                      <a:alpha val="43137"/>
                    </a:srgbClr>
                  </a:outerShdw>
                </a:effectLst>
              </a:rPr>
              <a:t>3. Memory Organization</a:t>
            </a:r>
            <a:endParaRPr lang="en-US"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11406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94348" y="2766218"/>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dirty="0">
                <a:effectLst>
                  <a:outerShdw blurRad="38100" dist="38100" dir="2700000" algn="tl">
                    <a:srgbClr val="000000">
                      <a:alpha val="43137"/>
                    </a:srgbClr>
                  </a:outerShdw>
                </a:effectLst>
              </a:rPr>
              <a:t>1. The Basics of Functions</a:t>
            </a:r>
          </a:p>
        </p:txBody>
      </p:sp>
    </p:spTree>
    <p:extLst>
      <p:ext uri="{BB962C8B-B14F-4D97-AF65-F5344CB8AC3E}">
        <p14:creationId xmlns:p14="http://schemas.microsoft.com/office/powerpoint/2010/main" val="3989722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29EE1-ACBC-A880-1DEE-EF13D90EDA23}"/>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The Importance of Functions</a:t>
            </a:r>
          </a:p>
        </p:txBody>
      </p:sp>
      <p:sp>
        <p:nvSpPr>
          <p:cNvPr id="3" name="Content Placeholder 2">
            <a:extLst>
              <a:ext uri="{FF2B5EF4-FFF2-40B4-BE49-F238E27FC236}">
                <a16:creationId xmlns:a16="http://schemas.microsoft.com/office/drawing/2014/main" id="{3CD628FF-A7A5-FE2F-FEEB-ECB17DF83D5C}"/>
              </a:ext>
            </a:extLst>
          </p:cNvPr>
          <p:cNvSpPr>
            <a:spLocks noGrp="1"/>
          </p:cNvSpPr>
          <p:nvPr>
            <p:ph idx="1"/>
          </p:nvPr>
        </p:nvSpPr>
        <p:spPr>
          <a:xfrm>
            <a:off x="4952999" y="1931540"/>
            <a:ext cx="6440905" cy="4351338"/>
          </a:xfrm>
        </p:spPr>
        <p:style>
          <a:lnRef idx="2">
            <a:schemeClr val="dk1"/>
          </a:lnRef>
          <a:fillRef idx="1">
            <a:schemeClr val="lt1"/>
          </a:fillRef>
          <a:effectRef idx="0">
            <a:schemeClr val="dk1"/>
          </a:effectRef>
          <a:fontRef idx="minor">
            <a:schemeClr val="dk1"/>
          </a:fontRef>
        </p:style>
        <p:txBody>
          <a:bodyPr/>
          <a:lstStyle/>
          <a:p>
            <a:r>
              <a:rPr lang="en-US" dirty="0"/>
              <a:t>Writing readable code in terms of functions is not some pie in the sky theoretical concept. </a:t>
            </a:r>
          </a:p>
          <a:p>
            <a:pPr marL="0" indent="0">
              <a:buNone/>
            </a:pPr>
            <a:r>
              <a:rPr lang="en-US" b="1" dirty="0"/>
              <a:t>INDUSTRY</a:t>
            </a:r>
            <a:r>
              <a:rPr lang="en-US" dirty="0"/>
              <a:t>: it </a:t>
            </a:r>
            <a:r>
              <a:rPr lang="en-US" i="1" u="sng" dirty="0"/>
              <a:t>WILL</a:t>
            </a:r>
            <a:r>
              <a:rPr lang="en-US" dirty="0"/>
              <a:t> affect how easily other people can pick up and develop your code. It will affect how fast you can pick up old code and make progress. </a:t>
            </a:r>
          </a:p>
          <a:p>
            <a:pPr marL="0" indent="0">
              <a:buNone/>
            </a:pPr>
            <a:r>
              <a:rPr lang="en-US" b="1" dirty="0"/>
              <a:t>RESEARCH:</a:t>
            </a:r>
            <a:r>
              <a:rPr lang="en-US" dirty="0"/>
              <a:t> it </a:t>
            </a:r>
            <a:r>
              <a:rPr lang="en-US" i="1" u="sng" dirty="0"/>
              <a:t>WILL</a:t>
            </a:r>
            <a:r>
              <a:rPr lang="en-US" dirty="0"/>
              <a:t> affect who uses your code base and who cites you. </a:t>
            </a:r>
            <a:endParaRPr lang="en-US" i="1" u="sng" dirty="0"/>
          </a:p>
        </p:txBody>
      </p:sp>
      <p:pic>
        <p:nvPicPr>
          <p:cNvPr id="4" name="Picture 3">
            <a:extLst>
              <a:ext uri="{FF2B5EF4-FFF2-40B4-BE49-F238E27FC236}">
                <a16:creationId xmlns:a16="http://schemas.microsoft.com/office/drawing/2014/main" id="{4FA1009F-58C5-3B32-AB5B-27E9F7CF97C5}"/>
              </a:ext>
            </a:extLst>
          </p:cNvPr>
          <p:cNvPicPr>
            <a:picLocks noChangeAspect="1"/>
          </p:cNvPicPr>
          <p:nvPr/>
        </p:nvPicPr>
        <p:blipFill rotWithShape="1">
          <a:blip r:embed="rId2"/>
          <a:srcRect b="4728"/>
          <a:stretch/>
        </p:blipFill>
        <p:spPr>
          <a:xfrm>
            <a:off x="250658" y="2443272"/>
            <a:ext cx="4586037" cy="3327875"/>
          </a:xfrm>
          <a:prstGeom prst="rect">
            <a:avLst/>
          </a:prstGeom>
        </p:spPr>
      </p:pic>
      <p:sp>
        <p:nvSpPr>
          <p:cNvPr id="5" name="TextBox 4">
            <a:extLst>
              <a:ext uri="{FF2B5EF4-FFF2-40B4-BE49-F238E27FC236}">
                <a16:creationId xmlns:a16="http://schemas.microsoft.com/office/drawing/2014/main" id="{49061FE1-785A-9F7B-2CC6-B3143437C05A}"/>
              </a:ext>
            </a:extLst>
          </p:cNvPr>
          <p:cNvSpPr txBox="1"/>
          <p:nvPr/>
        </p:nvSpPr>
        <p:spPr>
          <a:xfrm>
            <a:off x="505326" y="2073940"/>
            <a:ext cx="4182979" cy="369332"/>
          </a:xfrm>
          <a:prstGeom prst="rect">
            <a:avLst/>
          </a:prstGeom>
          <a:noFill/>
        </p:spPr>
        <p:txBody>
          <a:bodyPr wrap="square" rtlCol="0">
            <a:spAutoFit/>
          </a:bodyPr>
          <a:lstStyle/>
          <a:p>
            <a:r>
              <a:rPr lang="en-US" u="sng" dirty="0"/>
              <a:t>When you write code without functions:</a:t>
            </a:r>
          </a:p>
        </p:txBody>
      </p:sp>
    </p:spTree>
    <p:extLst>
      <p:ext uri="{BB962C8B-B14F-4D97-AF65-F5344CB8AC3E}">
        <p14:creationId xmlns:p14="http://schemas.microsoft.com/office/powerpoint/2010/main" val="3299545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B975F-107B-8494-25CA-6E86910BBFED}"/>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normAutofit/>
          </a:bodyPr>
          <a:lstStyle/>
          <a:p>
            <a:pPr algn="ctr"/>
            <a:r>
              <a:rPr lang="en-US" sz="4000" dirty="0"/>
              <a:t>Functions: Building blocks for larger programs</a:t>
            </a:r>
          </a:p>
        </p:txBody>
      </p:sp>
      <p:sp>
        <p:nvSpPr>
          <p:cNvPr id="3" name="Content Placeholder 2">
            <a:extLst>
              <a:ext uri="{FF2B5EF4-FFF2-40B4-BE49-F238E27FC236}">
                <a16:creationId xmlns:a16="http://schemas.microsoft.com/office/drawing/2014/main" id="{6BBC77EB-2754-3076-988B-CBC072F6049D}"/>
              </a:ext>
            </a:extLst>
          </p:cNvPr>
          <p:cNvSpPr>
            <a:spLocks noGrp="1"/>
          </p:cNvSpPr>
          <p:nvPr>
            <p:ph idx="1"/>
          </p:nvPr>
        </p:nvSpPr>
        <p:spPr>
          <a:xfrm>
            <a:off x="838200" y="1825624"/>
            <a:ext cx="7287126" cy="4827839"/>
          </a:xfrm>
        </p:spPr>
        <p:style>
          <a:lnRef idx="2">
            <a:schemeClr val="dk1"/>
          </a:lnRef>
          <a:fillRef idx="1">
            <a:schemeClr val="lt1"/>
          </a:fillRef>
          <a:effectRef idx="0">
            <a:schemeClr val="dk1"/>
          </a:effectRef>
          <a:fontRef idx="minor">
            <a:schemeClr val="dk1"/>
          </a:fontRef>
        </p:style>
        <p:txBody>
          <a:bodyPr/>
          <a:lstStyle/>
          <a:p>
            <a:r>
              <a:rPr lang="en-US" sz="3200" dirty="0"/>
              <a:t>Effective programming requires problem decomposition into </a:t>
            </a:r>
            <a:r>
              <a:rPr lang="en-US" sz="3200" b="1" dirty="0">
                <a:solidFill>
                  <a:srgbClr val="00B0F0"/>
                </a:solidFill>
              </a:rPr>
              <a:t>manageable pieces</a:t>
            </a:r>
            <a:r>
              <a:rPr lang="en-US" sz="3200" dirty="0"/>
              <a:t>.</a:t>
            </a:r>
            <a:endParaRPr lang="en-US" sz="3200" dirty="0">
              <a:solidFill>
                <a:schemeClr val="accent1"/>
              </a:solidFill>
            </a:endParaRPr>
          </a:p>
          <a:p>
            <a:r>
              <a:rPr lang="en-US" sz="3200" dirty="0"/>
              <a:t>A C program is made of functions</a:t>
            </a:r>
          </a:p>
          <a:p>
            <a:pPr lvl="1"/>
            <a:r>
              <a:rPr lang="en-US" sz="2800" dirty="0"/>
              <a:t>Starting from main()</a:t>
            </a:r>
          </a:p>
          <a:p>
            <a:pPr hangingPunct="1"/>
            <a:r>
              <a:rPr lang="en-US" sz="3200" dirty="0"/>
              <a:t>Idealized view: a function is a black box…</a:t>
            </a:r>
          </a:p>
          <a:p>
            <a:pPr lvl="1" hangingPunct="1"/>
            <a:r>
              <a:rPr lang="en-US" sz="2800" dirty="0"/>
              <a:t>It SPECIFIES  </a:t>
            </a:r>
            <a:r>
              <a:rPr lang="en-US" sz="2800" b="1" dirty="0">
                <a:solidFill>
                  <a:srgbClr val="00B0F0"/>
                </a:solidFill>
              </a:rPr>
              <a:t>what</a:t>
            </a:r>
            <a:r>
              <a:rPr lang="en-US" sz="2800" dirty="0"/>
              <a:t> the computation will do</a:t>
            </a:r>
          </a:p>
          <a:p>
            <a:pPr lvl="1" hangingPunct="1"/>
            <a:r>
              <a:rPr lang="en-US" sz="2800" dirty="0"/>
              <a:t>It ABSTRACTS AWAY </a:t>
            </a:r>
            <a:r>
              <a:rPr lang="en-US" sz="2800" b="1" dirty="0">
                <a:solidFill>
                  <a:srgbClr val="00B0F0"/>
                </a:solidFill>
              </a:rPr>
              <a:t>how</a:t>
            </a:r>
            <a:r>
              <a:rPr lang="en-US" sz="2800" dirty="0"/>
              <a:t> the computational process works</a:t>
            </a:r>
          </a:p>
          <a:p>
            <a:pPr lvl="1" hangingPunct="1"/>
            <a:r>
              <a:rPr lang="en-US" sz="2800" dirty="0"/>
              <a:t>It takes INPUTS</a:t>
            </a:r>
          </a:p>
          <a:p>
            <a:pPr lvl="1" hangingPunct="1"/>
            <a:r>
              <a:rPr lang="en-US" sz="2800" dirty="0"/>
              <a:t>It produces an OUTPUT</a:t>
            </a:r>
          </a:p>
          <a:p>
            <a:endParaRPr lang="en-US" dirty="0"/>
          </a:p>
        </p:txBody>
      </p:sp>
      <p:sp>
        <p:nvSpPr>
          <p:cNvPr id="15" name="Rectangle 14">
            <a:extLst>
              <a:ext uri="{FF2B5EF4-FFF2-40B4-BE49-F238E27FC236}">
                <a16:creationId xmlns:a16="http://schemas.microsoft.com/office/drawing/2014/main" id="{14BF9BD6-9F60-55CD-8446-946FD854EC87}"/>
              </a:ext>
            </a:extLst>
          </p:cNvPr>
          <p:cNvSpPr/>
          <p:nvPr/>
        </p:nvSpPr>
        <p:spPr>
          <a:xfrm>
            <a:off x="8622632" y="3555247"/>
            <a:ext cx="2787315" cy="99862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600" dirty="0">
                <a:effectLst>
                  <a:outerShdw blurRad="38100" dist="38100" dir="2700000" algn="tl">
                    <a:srgbClr val="000000">
                      <a:alpha val="43137"/>
                    </a:srgbClr>
                  </a:outerShdw>
                </a:effectLst>
              </a:rPr>
              <a:t>Function</a:t>
            </a:r>
          </a:p>
        </p:txBody>
      </p:sp>
      <p:sp>
        <p:nvSpPr>
          <p:cNvPr id="16" name="Arrow: Down 15">
            <a:extLst>
              <a:ext uri="{FF2B5EF4-FFF2-40B4-BE49-F238E27FC236}">
                <a16:creationId xmlns:a16="http://schemas.microsoft.com/office/drawing/2014/main" id="{AE79F3D2-A0AF-969E-00A3-BB9BBF9995C3}"/>
              </a:ext>
            </a:extLst>
          </p:cNvPr>
          <p:cNvSpPr/>
          <p:nvPr/>
        </p:nvSpPr>
        <p:spPr>
          <a:xfrm>
            <a:off x="8690811" y="2594811"/>
            <a:ext cx="429126" cy="834189"/>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608767C4-C240-4136-F2D6-32184FF23674}"/>
              </a:ext>
            </a:extLst>
          </p:cNvPr>
          <p:cNvSpPr/>
          <p:nvPr/>
        </p:nvSpPr>
        <p:spPr>
          <a:xfrm>
            <a:off x="9801726" y="2594810"/>
            <a:ext cx="429126" cy="834189"/>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49EF32C-2E59-C53C-80FF-0231BCDA55F6}"/>
              </a:ext>
            </a:extLst>
          </p:cNvPr>
          <p:cNvSpPr/>
          <p:nvPr/>
        </p:nvSpPr>
        <p:spPr>
          <a:xfrm>
            <a:off x="10764252" y="2588879"/>
            <a:ext cx="429126" cy="834189"/>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2A8AB68-F912-ED48-A8C3-BC1E453264B1}"/>
              </a:ext>
            </a:extLst>
          </p:cNvPr>
          <p:cNvSpPr txBox="1"/>
          <p:nvPr/>
        </p:nvSpPr>
        <p:spPr>
          <a:xfrm>
            <a:off x="8450179" y="2193199"/>
            <a:ext cx="910389" cy="36933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Input1</a:t>
            </a:r>
          </a:p>
        </p:txBody>
      </p:sp>
      <p:sp>
        <p:nvSpPr>
          <p:cNvPr id="20" name="TextBox 19">
            <a:extLst>
              <a:ext uri="{FF2B5EF4-FFF2-40B4-BE49-F238E27FC236}">
                <a16:creationId xmlns:a16="http://schemas.microsoft.com/office/drawing/2014/main" id="{F623770B-3CC3-FD4A-CABF-36C7561DB933}"/>
              </a:ext>
            </a:extLst>
          </p:cNvPr>
          <p:cNvSpPr txBox="1"/>
          <p:nvPr/>
        </p:nvSpPr>
        <p:spPr>
          <a:xfrm>
            <a:off x="9561094" y="2193199"/>
            <a:ext cx="910389" cy="36933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Input2</a:t>
            </a:r>
          </a:p>
        </p:txBody>
      </p:sp>
      <p:sp>
        <p:nvSpPr>
          <p:cNvPr id="21" name="TextBox 20">
            <a:extLst>
              <a:ext uri="{FF2B5EF4-FFF2-40B4-BE49-F238E27FC236}">
                <a16:creationId xmlns:a16="http://schemas.microsoft.com/office/drawing/2014/main" id="{30CA6B05-BE8A-8C43-559F-A531E1B2D9BC}"/>
              </a:ext>
            </a:extLst>
          </p:cNvPr>
          <p:cNvSpPr txBox="1"/>
          <p:nvPr/>
        </p:nvSpPr>
        <p:spPr>
          <a:xfrm>
            <a:off x="10603831" y="2193199"/>
            <a:ext cx="910389" cy="36933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Input3</a:t>
            </a:r>
          </a:p>
        </p:txBody>
      </p:sp>
      <p:sp>
        <p:nvSpPr>
          <p:cNvPr id="22" name="Arrow: Down 21">
            <a:extLst>
              <a:ext uri="{FF2B5EF4-FFF2-40B4-BE49-F238E27FC236}">
                <a16:creationId xmlns:a16="http://schemas.microsoft.com/office/drawing/2014/main" id="{6E91C1E2-1CEC-3976-9EDC-7455892B80A7}"/>
              </a:ext>
            </a:extLst>
          </p:cNvPr>
          <p:cNvSpPr/>
          <p:nvPr/>
        </p:nvSpPr>
        <p:spPr>
          <a:xfrm>
            <a:off x="9885947" y="4620125"/>
            <a:ext cx="429126" cy="834189"/>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419F3C2-BFFB-CDDE-3B4B-3104FFD6A201}"/>
              </a:ext>
            </a:extLst>
          </p:cNvPr>
          <p:cNvSpPr txBox="1"/>
          <p:nvPr/>
        </p:nvSpPr>
        <p:spPr>
          <a:xfrm>
            <a:off x="9725526" y="5520571"/>
            <a:ext cx="910389" cy="369332"/>
          </a:xfrm>
          <a:prstGeom prst="rect">
            <a:avLst/>
          </a:prstGeom>
          <a:solidFill>
            <a:srgbClr val="FFC000"/>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Output</a:t>
            </a:r>
          </a:p>
        </p:txBody>
      </p:sp>
    </p:spTree>
    <p:extLst>
      <p:ext uri="{BB962C8B-B14F-4D97-AF65-F5344CB8AC3E}">
        <p14:creationId xmlns:p14="http://schemas.microsoft.com/office/powerpoint/2010/main" val="4160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15724D-132E-EDBD-A157-924E881EA2F0}"/>
              </a:ext>
            </a:extLst>
          </p:cNvPr>
          <p:cNvPicPr>
            <a:picLocks noChangeAspect="1"/>
          </p:cNvPicPr>
          <p:nvPr/>
        </p:nvPicPr>
        <p:blipFill>
          <a:blip r:embed="rId2"/>
          <a:stretch>
            <a:fillRect/>
          </a:stretch>
        </p:blipFill>
        <p:spPr>
          <a:xfrm>
            <a:off x="2428875" y="2657162"/>
            <a:ext cx="7334250" cy="3057525"/>
          </a:xfrm>
          <a:prstGeom prst="rect">
            <a:avLst/>
          </a:prstGeom>
          <a:ln>
            <a:solidFill>
              <a:schemeClr val="tx1"/>
            </a:solidFill>
          </a:ln>
        </p:spPr>
      </p:pic>
      <p:sp>
        <p:nvSpPr>
          <p:cNvPr id="2" name="Title 1">
            <a:extLst>
              <a:ext uri="{FF2B5EF4-FFF2-40B4-BE49-F238E27FC236}">
                <a16:creationId xmlns:a16="http://schemas.microsoft.com/office/drawing/2014/main" id="{A147FBBF-DA96-251B-A6BE-AC366ACA7C40}"/>
              </a:ext>
            </a:extLst>
          </p:cNvPr>
          <p:cNvSpPr>
            <a:spLocks noGrp="1"/>
          </p:cNvSpPr>
          <p:nvPr>
            <p:ph type="title"/>
          </p:nvPr>
        </p:nvSpPr>
        <p:spPr>
          <a:xfrm>
            <a:off x="838200" y="0"/>
            <a:ext cx="10515600" cy="1325563"/>
          </a:xfrm>
          <a:ln>
            <a:noFill/>
          </a:ln>
        </p:spPr>
        <p:style>
          <a:lnRef idx="2">
            <a:schemeClr val="dk1"/>
          </a:lnRef>
          <a:fillRef idx="1">
            <a:schemeClr val="lt1"/>
          </a:fillRef>
          <a:effectRef idx="0">
            <a:schemeClr val="dk1"/>
          </a:effectRef>
          <a:fontRef idx="minor">
            <a:schemeClr val="dk1"/>
          </a:fontRef>
        </p:style>
        <p:txBody>
          <a:bodyPr/>
          <a:lstStyle/>
          <a:p>
            <a:pPr algn="ctr"/>
            <a:r>
              <a:rPr lang="en-US" u="sng" dirty="0"/>
              <a:t>Writing a function in C</a:t>
            </a:r>
          </a:p>
        </p:txBody>
      </p:sp>
    </p:spTree>
    <p:extLst>
      <p:ext uri="{BB962C8B-B14F-4D97-AF65-F5344CB8AC3E}">
        <p14:creationId xmlns:p14="http://schemas.microsoft.com/office/powerpoint/2010/main" val="3980884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15724D-132E-EDBD-A157-924E881EA2F0}"/>
              </a:ext>
            </a:extLst>
          </p:cNvPr>
          <p:cNvPicPr>
            <a:picLocks noChangeAspect="1"/>
          </p:cNvPicPr>
          <p:nvPr/>
        </p:nvPicPr>
        <p:blipFill>
          <a:blip r:embed="rId2"/>
          <a:stretch>
            <a:fillRect/>
          </a:stretch>
        </p:blipFill>
        <p:spPr>
          <a:xfrm>
            <a:off x="2428875" y="2657162"/>
            <a:ext cx="7334250" cy="3057525"/>
          </a:xfrm>
          <a:prstGeom prst="rect">
            <a:avLst/>
          </a:prstGeom>
          <a:ln>
            <a:solidFill>
              <a:schemeClr val="tx1"/>
            </a:solidFill>
          </a:ln>
        </p:spPr>
      </p:pic>
      <p:cxnSp>
        <p:nvCxnSpPr>
          <p:cNvPr id="12" name="Straight Arrow Connector 11">
            <a:extLst>
              <a:ext uri="{FF2B5EF4-FFF2-40B4-BE49-F238E27FC236}">
                <a16:creationId xmlns:a16="http://schemas.microsoft.com/office/drawing/2014/main" id="{C13AC085-C348-B5F1-268B-1BC66EE1D4D9}"/>
              </a:ext>
            </a:extLst>
          </p:cNvPr>
          <p:cNvCxnSpPr>
            <a:cxnSpLocks/>
            <a:stCxn id="11" idx="2"/>
          </p:cNvCxnSpPr>
          <p:nvPr/>
        </p:nvCxnSpPr>
        <p:spPr>
          <a:xfrm flipH="1">
            <a:off x="5033433" y="1679483"/>
            <a:ext cx="706967" cy="110181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147FBBF-DA96-251B-A6BE-AC366ACA7C40}"/>
              </a:ext>
            </a:extLst>
          </p:cNvPr>
          <p:cNvSpPr>
            <a:spLocks noGrp="1"/>
          </p:cNvSpPr>
          <p:nvPr>
            <p:ph type="title"/>
          </p:nvPr>
        </p:nvSpPr>
        <p:spPr>
          <a:xfrm>
            <a:off x="838200" y="0"/>
            <a:ext cx="10515600" cy="1325563"/>
          </a:xfrm>
          <a:ln>
            <a:noFill/>
          </a:ln>
        </p:spPr>
        <p:style>
          <a:lnRef idx="2">
            <a:schemeClr val="dk1"/>
          </a:lnRef>
          <a:fillRef idx="1">
            <a:schemeClr val="lt1"/>
          </a:fillRef>
          <a:effectRef idx="0">
            <a:schemeClr val="dk1"/>
          </a:effectRef>
          <a:fontRef idx="minor">
            <a:schemeClr val="dk1"/>
          </a:fontRef>
        </p:style>
        <p:txBody>
          <a:bodyPr/>
          <a:lstStyle/>
          <a:p>
            <a:pPr algn="ctr"/>
            <a:r>
              <a:rPr lang="en-US" u="sng" dirty="0"/>
              <a:t>Writing a function in C</a:t>
            </a:r>
          </a:p>
        </p:txBody>
      </p:sp>
      <p:cxnSp>
        <p:nvCxnSpPr>
          <p:cNvPr id="9" name="Straight Arrow Connector 8">
            <a:extLst>
              <a:ext uri="{FF2B5EF4-FFF2-40B4-BE49-F238E27FC236}">
                <a16:creationId xmlns:a16="http://schemas.microsoft.com/office/drawing/2014/main" id="{83673034-70A0-1C4D-5603-33B1FD0D0016}"/>
              </a:ext>
            </a:extLst>
          </p:cNvPr>
          <p:cNvCxnSpPr/>
          <p:nvPr/>
        </p:nvCxnSpPr>
        <p:spPr>
          <a:xfrm>
            <a:off x="2390941" y="1704696"/>
            <a:ext cx="982579" cy="1143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0CB90A-C659-4820-748D-E930A10ACD4F}"/>
              </a:ext>
            </a:extLst>
          </p:cNvPr>
          <p:cNvSpPr txBox="1"/>
          <p:nvPr/>
        </p:nvSpPr>
        <p:spPr>
          <a:xfrm>
            <a:off x="165100" y="1143313"/>
            <a:ext cx="2377574"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What type of variable the function returns</a:t>
            </a:r>
          </a:p>
        </p:txBody>
      </p:sp>
      <p:sp>
        <p:nvSpPr>
          <p:cNvPr id="11" name="TextBox 10">
            <a:extLst>
              <a:ext uri="{FF2B5EF4-FFF2-40B4-BE49-F238E27FC236}">
                <a16:creationId xmlns:a16="http://schemas.microsoft.com/office/drawing/2014/main" id="{3B110726-81ED-318F-23F4-6D55DF3C6148}"/>
              </a:ext>
            </a:extLst>
          </p:cNvPr>
          <p:cNvSpPr txBox="1"/>
          <p:nvPr/>
        </p:nvSpPr>
        <p:spPr>
          <a:xfrm>
            <a:off x="4068233" y="1217818"/>
            <a:ext cx="334433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Name of the function</a:t>
            </a:r>
          </a:p>
        </p:txBody>
      </p:sp>
      <p:cxnSp>
        <p:nvCxnSpPr>
          <p:cNvPr id="16" name="Straight Arrow Connector 15">
            <a:extLst>
              <a:ext uri="{FF2B5EF4-FFF2-40B4-BE49-F238E27FC236}">
                <a16:creationId xmlns:a16="http://schemas.microsoft.com/office/drawing/2014/main" id="{9154FF4D-DF67-D13F-C538-1CFD8D63F492}"/>
              </a:ext>
            </a:extLst>
          </p:cNvPr>
          <p:cNvCxnSpPr>
            <a:cxnSpLocks/>
          </p:cNvCxnSpPr>
          <p:nvPr/>
        </p:nvCxnSpPr>
        <p:spPr>
          <a:xfrm flipH="1">
            <a:off x="6268008" y="1150781"/>
            <a:ext cx="2109759" cy="158582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6D3F53B-43A3-A7F7-A039-6A00EFFF3BFE}"/>
              </a:ext>
            </a:extLst>
          </p:cNvPr>
          <p:cNvSpPr txBox="1"/>
          <p:nvPr/>
        </p:nvSpPr>
        <p:spPr>
          <a:xfrm>
            <a:off x="8053359" y="1071704"/>
            <a:ext cx="3943908"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Variable type of the first input</a:t>
            </a:r>
          </a:p>
        </p:txBody>
      </p:sp>
      <p:cxnSp>
        <p:nvCxnSpPr>
          <p:cNvPr id="23" name="Straight Arrow Connector 22">
            <a:extLst>
              <a:ext uri="{FF2B5EF4-FFF2-40B4-BE49-F238E27FC236}">
                <a16:creationId xmlns:a16="http://schemas.microsoft.com/office/drawing/2014/main" id="{7B4E0A25-A7F2-C522-A07B-49F35EBEEF64}"/>
              </a:ext>
            </a:extLst>
          </p:cNvPr>
          <p:cNvCxnSpPr>
            <a:cxnSpLocks/>
          </p:cNvCxnSpPr>
          <p:nvPr/>
        </p:nvCxnSpPr>
        <p:spPr>
          <a:xfrm flipH="1" flipV="1">
            <a:off x="8255000" y="3179233"/>
            <a:ext cx="683126" cy="286596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02455D8-35A5-BB2B-8B87-A75053D99B97}"/>
              </a:ext>
            </a:extLst>
          </p:cNvPr>
          <p:cNvSpPr txBox="1"/>
          <p:nvPr/>
        </p:nvSpPr>
        <p:spPr>
          <a:xfrm>
            <a:off x="6849534" y="6005925"/>
            <a:ext cx="4770967"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Variable type of the second input</a:t>
            </a:r>
          </a:p>
        </p:txBody>
      </p:sp>
    </p:spTree>
    <p:extLst>
      <p:ext uri="{BB962C8B-B14F-4D97-AF65-F5344CB8AC3E}">
        <p14:creationId xmlns:p14="http://schemas.microsoft.com/office/powerpoint/2010/main" val="235587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1+#ppt_w/2"/>
                                          </p:val>
                                        </p:tav>
                                        <p:tav tm="100000">
                                          <p:val>
                                            <p:strVal val="#ppt_x"/>
                                          </p:val>
                                        </p:tav>
                                      </p:tavLst>
                                    </p:anim>
                                    <p:anim calcmode="lin" valueType="num">
                                      <p:cBhvr additive="base">
                                        <p:cTn id="18" dur="500" fill="hold"/>
                                        <p:tgtEl>
                                          <p:spTgt spid="16"/>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1+#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1+#ppt_w/2"/>
                                          </p:val>
                                        </p:tav>
                                        <p:tav tm="100000">
                                          <p:val>
                                            <p:strVal val="#ppt_x"/>
                                          </p:val>
                                        </p:tav>
                                      </p:tavLst>
                                    </p:anim>
                                    <p:anim calcmode="lin" valueType="num">
                                      <p:cBhvr additive="base">
                                        <p:cTn id="26" dur="500" fill="hold"/>
                                        <p:tgtEl>
                                          <p:spTgt spid="23"/>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1+#ppt_w/2"/>
                                          </p:val>
                                        </p:tav>
                                        <p:tav tm="100000">
                                          <p:val>
                                            <p:strVal val="#ppt_x"/>
                                          </p:val>
                                        </p:tav>
                                      </p:tavLst>
                                    </p:anim>
                                    <p:anim calcmode="lin" valueType="num">
                                      <p:cBhvr additive="base">
                                        <p:cTn id="30"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15724D-132E-EDBD-A157-924E881EA2F0}"/>
              </a:ext>
            </a:extLst>
          </p:cNvPr>
          <p:cNvPicPr>
            <a:picLocks noChangeAspect="1"/>
          </p:cNvPicPr>
          <p:nvPr/>
        </p:nvPicPr>
        <p:blipFill rotWithShape="1">
          <a:blip r:embed="rId2"/>
          <a:srcRect l="2034"/>
          <a:stretch/>
        </p:blipFill>
        <p:spPr>
          <a:xfrm>
            <a:off x="2578099" y="2657162"/>
            <a:ext cx="7185025" cy="3057525"/>
          </a:xfrm>
          <a:prstGeom prst="rect">
            <a:avLst/>
          </a:prstGeom>
          <a:ln>
            <a:solidFill>
              <a:schemeClr val="tx1"/>
            </a:solidFill>
          </a:ln>
        </p:spPr>
      </p:pic>
      <p:cxnSp>
        <p:nvCxnSpPr>
          <p:cNvPr id="9" name="Straight Arrow Connector 8">
            <a:extLst>
              <a:ext uri="{FF2B5EF4-FFF2-40B4-BE49-F238E27FC236}">
                <a16:creationId xmlns:a16="http://schemas.microsoft.com/office/drawing/2014/main" id="{C5689E79-996E-D34F-D78E-FFF5715E9A51}"/>
              </a:ext>
            </a:extLst>
          </p:cNvPr>
          <p:cNvCxnSpPr>
            <a:cxnSpLocks/>
          </p:cNvCxnSpPr>
          <p:nvPr/>
        </p:nvCxnSpPr>
        <p:spPr>
          <a:xfrm flipV="1">
            <a:off x="2387600" y="4809067"/>
            <a:ext cx="1591733" cy="103716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147FBBF-DA96-251B-A6BE-AC366ACA7C40}"/>
              </a:ext>
            </a:extLst>
          </p:cNvPr>
          <p:cNvSpPr>
            <a:spLocks noGrp="1"/>
          </p:cNvSpPr>
          <p:nvPr>
            <p:ph type="title"/>
          </p:nvPr>
        </p:nvSpPr>
        <p:spPr>
          <a:xfrm>
            <a:off x="838200" y="0"/>
            <a:ext cx="10515600" cy="1325563"/>
          </a:xfrm>
          <a:ln>
            <a:noFill/>
          </a:ln>
        </p:spPr>
        <p:style>
          <a:lnRef idx="2">
            <a:schemeClr val="dk1"/>
          </a:lnRef>
          <a:fillRef idx="1">
            <a:schemeClr val="lt1"/>
          </a:fillRef>
          <a:effectRef idx="0">
            <a:schemeClr val="dk1"/>
          </a:effectRef>
          <a:fontRef idx="minor">
            <a:schemeClr val="dk1"/>
          </a:fontRef>
        </p:style>
        <p:txBody>
          <a:bodyPr/>
          <a:lstStyle/>
          <a:p>
            <a:pPr algn="ctr"/>
            <a:r>
              <a:rPr lang="en-US" u="sng" dirty="0"/>
              <a:t>Writing a function in C: Return Statement</a:t>
            </a:r>
          </a:p>
        </p:txBody>
      </p:sp>
      <p:cxnSp>
        <p:nvCxnSpPr>
          <p:cNvPr id="3" name="Straight Arrow Connector 2">
            <a:extLst>
              <a:ext uri="{FF2B5EF4-FFF2-40B4-BE49-F238E27FC236}">
                <a16:creationId xmlns:a16="http://schemas.microsoft.com/office/drawing/2014/main" id="{1948CEDB-FCCD-789F-B2E0-B9444EB14DD9}"/>
              </a:ext>
            </a:extLst>
          </p:cNvPr>
          <p:cNvCxnSpPr>
            <a:cxnSpLocks/>
          </p:cNvCxnSpPr>
          <p:nvPr/>
        </p:nvCxnSpPr>
        <p:spPr>
          <a:xfrm>
            <a:off x="2116667" y="2171700"/>
            <a:ext cx="1833033" cy="196003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AF893F2-43AD-DCFF-B2C6-F3FA0F135913}"/>
              </a:ext>
            </a:extLst>
          </p:cNvPr>
          <p:cNvSpPr txBox="1"/>
          <p:nvPr/>
        </p:nvSpPr>
        <p:spPr>
          <a:xfrm>
            <a:off x="165100" y="1143313"/>
            <a:ext cx="2377574"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Body of the function to be executed.</a:t>
            </a:r>
          </a:p>
        </p:txBody>
      </p:sp>
      <p:sp>
        <p:nvSpPr>
          <p:cNvPr id="8" name="TextBox 7">
            <a:extLst>
              <a:ext uri="{FF2B5EF4-FFF2-40B4-BE49-F238E27FC236}">
                <a16:creationId xmlns:a16="http://schemas.microsoft.com/office/drawing/2014/main" id="{311AB665-9D0F-7D31-109A-52F4E828D534}"/>
              </a:ext>
            </a:extLst>
          </p:cNvPr>
          <p:cNvSpPr txBox="1"/>
          <p:nvPr/>
        </p:nvSpPr>
        <p:spPr>
          <a:xfrm>
            <a:off x="165100" y="5559275"/>
            <a:ext cx="4792133"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dirty="0"/>
              <a:t>Return indicates which variable should be passed out once the function ends.</a:t>
            </a:r>
          </a:p>
        </p:txBody>
      </p:sp>
    </p:spTree>
    <p:extLst>
      <p:ext uri="{BB962C8B-B14F-4D97-AF65-F5344CB8AC3E}">
        <p14:creationId xmlns:p14="http://schemas.microsoft.com/office/powerpoint/2010/main" val="93949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91C44-2440-0997-17DB-CB9AD65F2103}"/>
              </a:ext>
            </a:extLst>
          </p:cNvPr>
          <p:cNvSpPr>
            <a:spLocks noGrp="1"/>
          </p:cNvSpPr>
          <p:nvPr>
            <p:ph type="title"/>
          </p:nvPr>
        </p:nvSpPr>
        <p:spPr>
          <a:xfrm>
            <a:off x="838200" y="267759"/>
            <a:ext cx="10515600" cy="1325563"/>
          </a:xfrm>
        </p:spPr>
        <p:style>
          <a:lnRef idx="2">
            <a:schemeClr val="accent1"/>
          </a:lnRef>
          <a:fillRef idx="1">
            <a:schemeClr val="lt1"/>
          </a:fillRef>
          <a:effectRef idx="0">
            <a:schemeClr val="accent1"/>
          </a:effectRef>
          <a:fontRef idx="minor">
            <a:schemeClr val="dk1"/>
          </a:fontRef>
        </p:style>
        <p:txBody>
          <a:bodyPr/>
          <a:lstStyle/>
          <a:p>
            <a:pPr algn="ctr"/>
            <a:r>
              <a:rPr lang="en-US" dirty="0"/>
              <a:t>What happens if you don’t want the function to return anything?</a:t>
            </a:r>
          </a:p>
        </p:txBody>
      </p:sp>
      <p:sp>
        <p:nvSpPr>
          <p:cNvPr id="3" name="Content Placeholder 2">
            <a:extLst>
              <a:ext uri="{FF2B5EF4-FFF2-40B4-BE49-F238E27FC236}">
                <a16:creationId xmlns:a16="http://schemas.microsoft.com/office/drawing/2014/main" id="{0F412432-78ED-D13C-3271-55517B57529D}"/>
              </a:ext>
            </a:extLst>
          </p:cNvPr>
          <p:cNvSpPr>
            <a:spLocks noGrp="1"/>
          </p:cNvSpPr>
          <p:nvPr>
            <p:ph idx="1"/>
          </p:nvPr>
        </p:nvSpPr>
        <p:spPr/>
        <p:txBody>
          <a:bodyPr/>
          <a:lstStyle/>
          <a:p>
            <a:pPr marL="0" indent="0" algn="ctr">
              <a:buNone/>
            </a:pPr>
            <a:r>
              <a:rPr lang="en-US" dirty="0"/>
              <a:t>Use the void keyword! </a:t>
            </a:r>
          </a:p>
        </p:txBody>
      </p:sp>
      <p:pic>
        <p:nvPicPr>
          <p:cNvPr id="5" name="Picture 4">
            <a:extLst>
              <a:ext uri="{FF2B5EF4-FFF2-40B4-BE49-F238E27FC236}">
                <a16:creationId xmlns:a16="http://schemas.microsoft.com/office/drawing/2014/main" id="{D7BC3954-17A8-5322-7F0D-DE1E181B893B}"/>
              </a:ext>
            </a:extLst>
          </p:cNvPr>
          <p:cNvPicPr>
            <a:picLocks noChangeAspect="1"/>
          </p:cNvPicPr>
          <p:nvPr/>
        </p:nvPicPr>
        <p:blipFill>
          <a:blip r:embed="rId2"/>
          <a:stretch>
            <a:fillRect/>
          </a:stretch>
        </p:blipFill>
        <p:spPr>
          <a:xfrm>
            <a:off x="2032529" y="2795058"/>
            <a:ext cx="8067675" cy="3028950"/>
          </a:xfrm>
          <a:prstGeom prst="rect">
            <a:avLst/>
          </a:prstGeom>
          <a:ln>
            <a:solidFill>
              <a:schemeClr val="tx1"/>
            </a:solidFill>
          </a:ln>
        </p:spPr>
      </p:pic>
    </p:spTree>
    <p:extLst>
      <p:ext uri="{BB962C8B-B14F-4D97-AF65-F5344CB8AC3E}">
        <p14:creationId xmlns:p14="http://schemas.microsoft.com/office/powerpoint/2010/main" val="514335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91C44-2440-0997-17DB-CB9AD65F2103}"/>
              </a:ext>
            </a:extLst>
          </p:cNvPr>
          <p:cNvSpPr>
            <a:spLocks noGrp="1"/>
          </p:cNvSpPr>
          <p:nvPr>
            <p:ph type="title"/>
          </p:nvPr>
        </p:nvSpPr>
        <p:spPr>
          <a:xfrm>
            <a:off x="838200" y="267759"/>
            <a:ext cx="10515600" cy="1325563"/>
          </a:xfrm>
        </p:spPr>
        <p:style>
          <a:lnRef idx="2">
            <a:schemeClr val="accent1"/>
          </a:lnRef>
          <a:fillRef idx="1">
            <a:schemeClr val="lt1"/>
          </a:fillRef>
          <a:effectRef idx="0">
            <a:schemeClr val="accent1"/>
          </a:effectRef>
          <a:fontRef idx="minor">
            <a:schemeClr val="dk1"/>
          </a:fontRef>
        </p:style>
        <p:txBody>
          <a:bodyPr/>
          <a:lstStyle/>
          <a:p>
            <a:pPr algn="ctr"/>
            <a:r>
              <a:rPr lang="en-US" dirty="0"/>
              <a:t>Side note: void can also be used if you don’t want to pass anything into the function</a:t>
            </a:r>
          </a:p>
        </p:txBody>
      </p:sp>
      <p:pic>
        <p:nvPicPr>
          <p:cNvPr id="6" name="Picture 5">
            <a:extLst>
              <a:ext uri="{FF2B5EF4-FFF2-40B4-BE49-F238E27FC236}">
                <a16:creationId xmlns:a16="http://schemas.microsoft.com/office/drawing/2014/main" id="{7E510175-293A-3FF1-0D22-A6B209D342A8}"/>
              </a:ext>
            </a:extLst>
          </p:cNvPr>
          <p:cNvPicPr>
            <a:picLocks noChangeAspect="1"/>
          </p:cNvPicPr>
          <p:nvPr/>
        </p:nvPicPr>
        <p:blipFill rotWithShape="1">
          <a:blip r:embed="rId2"/>
          <a:srcRect l="1402"/>
          <a:stretch/>
        </p:blipFill>
        <p:spPr>
          <a:xfrm>
            <a:off x="2167467" y="2271183"/>
            <a:ext cx="8039100" cy="3086100"/>
          </a:xfrm>
          <a:prstGeom prst="rect">
            <a:avLst/>
          </a:prstGeom>
          <a:ln>
            <a:solidFill>
              <a:schemeClr val="tx1"/>
            </a:solidFill>
          </a:ln>
        </p:spPr>
      </p:pic>
    </p:spTree>
    <p:extLst>
      <p:ext uri="{BB962C8B-B14F-4D97-AF65-F5344CB8AC3E}">
        <p14:creationId xmlns:p14="http://schemas.microsoft.com/office/powerpoint/2010/main" val="691612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F489C-BA1D-4DF2-D13B-7C6698702BEB}"/>
              </a:ext>
            </a:extLst>
          </p:cNvPr>
          <p:cNvSpPr>
            <a:spLocks noGrp="1"/>
          </p:cNvSpPr>
          <p:nvPr>
            <p:ph type="title"/>
          </p:nvPr>
        </p:nvSpPr>
        <p:spPr>
          <a:xfrm>
            <a:off x="838200" y="18255"/>
            <a:ext cx="10515600" cy="1325563"/>
          </a:xfrm>
        </p:spPr>
        <p:txBody>
          <a:bodyPr/>
          <a:lstStyle/>
          <a:p>
            <a:pPr algn="ctr"/>
            <a:r>
              <a:rPr lang="en-US" u="sng" dirty="0"/>
              <a:t>Understanding the return statement</a:t>
            </a:r>
          </a:p>
        </p:txBody>
      </p:sp>
      <p:sp>
        <p:nvSpPr>
          <p:cNvPr id="3" name="Content Placeholder 2">
            <a:extLst>
              <a:ext uri="{FF2B5EF4-FFF2-40B4-BE49-F238E27FC236}">
                <a16:creationId xmlns:a16="http://schemas.microsoft.com/office/drawing/2014/main" id="{0620E8F2-739A-085C-764B-3DE8745F577C}"/>
              </a:ext>
            </a:extLst>
          </p:cNvPr>
          <p:cNvSpPr>
            <a:spLocks noGrp="1"/>
          </p:cNvSpPr>
          <p:nvPr>
            <p:ph idx="1"/>
          </p:nvPr>
        </p:nvSpPr>
        <p:spPr>
          <a:xfrm>
            <a:off x="838200" y="1055158"/>
            <a:ext cx="10515600" cy="4351338"/>
          </a:xfrm>
        </p:spPr>
        <p:txBody>
          <a:bodyPr/>
          <a:lstStyle/>
          <a:p>
            <a:pPr algn="ctr"/>
            <a:r>
              <a:rPr lang="en-US" dirty="0"/>
              <a:t>Given the following code: </a:t>
            </a:r>
            <a:r>
              <a:rPr lang="en-US" i="1" dirty="0"/>
              <a:t>what will print out?</a:t>
            </a:r>
          </a:p>
        </p:txBody>
      </p:sp>
      <p:pic>
        <p:nvPicPr>
          <p:cNvPr id="5" name="Picture 4">
            <a:extLst>
              <a:ext uri="{FF2B5EF4-FFF2-40B4-BE49-F238E27FC236}">
                <a16:creationId xmlns:a16="http://schemas.microsoft.com/office/drawing/2014/main" id="{7F41E589-8AC0-F5DA-1AA6-D0716A52F0D6}"/>
              </a:ext>
            </a:extLst>
          </p:cNvPr>
          <p:cNvPicPr>
            <a:picLocks noChangeAspect="1"/>
          </p:cNvPicPr>
          <p:nvPr/>
        </p:nvPicPr>
        <p:blipFill>
          <a:blip r:embed="rId2"/>
          <a:stretch>
            <a:fillRect/>
          </a:stretch>
        </p:blipFill>
        <p:spPr>
          <a:xfrm>
            <a:off x="2130632" y="1751194"/>
            <a:ext cx="7788068" cy="4615739"/>
          </a:xfrm>
          <a:prstGeom prst="rect">
            <a:avLst/>
          </a:prstGeom>
          <a:ln>
            <a:solidFill>
              <a:schemeClr val="tx1"/>
            </a:solidFill>
          </a:ln>
        </p:spPr>
      </p:pic>
    </p:spTree>
    <p:extLst>
      <p:ext uri="{BB962C8B-B14F-4D97-AF65-F5344CB8AC3E}">
        <p14:creationId xmlns:p14="http://schemas.microsoft.com/office/powerpoint/2010/main" val="2295018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o wants to be a millionaire Memes - Imgflip">
            <a:extLst>
              <a:ext uri="{FF2B5EF4-FFF2-40B4-BE49-F238E27FC236}">
                <a16:creationId xmlns:a16="http://schemas.microsoft.com/office/drawing/2014/main" id="{FB95E8AE-062D-3186-8B22-9E5441BCC9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74D70D8-864A-7DCC-5DB5-9B4A2D1A1A58}"/>
              </a:ext>
            </a:extLst>
          </p:cNvPr>
          <p:cNvPicPr>
            <a:picLocks noChangeAspect="1"/>
          </p:cNvPicPr>
          <p:nvPr/>
        </p:nvPicPr>
        <p:blipFill>
          <a:blip r:embed="rId3"/>
          <a:stretch>
            <a:fillRect/>
          </a:stretch>
        </p:blipFill>
        <p:spPr>
          <a:xfrm>
            <a:off x="7236032" y="241299"/>
            <a:ext cx="4649987" cy="2755899"/>
          </a:xfrm>
          <a:prstGeom prst="rect">
            <a:avLst/>
          </a:prstGeom>
          <a:ln>
            <a:solidFill>
              <a:schemeClr val="tx1"/>
            </a:solidFill>
          </a:ln>
        </p:spPr>
      </p:pic>
      <p:sp>
        <p:nvSpPr>
          <p:cNvPr id="3" name="TextBox 2">
            <a:extLst>
              <a:ext uri="{FF2B5EF4-FFF2-40B4-BE49-F238E27FC236}">
                <a16:creationId xmlns:a16="http://schemas.microsoft.com/office/drawing/2014/main" id="{84ED2366-85ED-4A41-F625-6052D849568E}"/>
              </a:ext>
            </a:extLst>
          </p:cNvPr>
          <p:cNvSpPr txBox="1"/>
          <p:nvPr/>
        </p:nvSpPr>
        <p:spPr>
          <a:xfrm>
            <a:off x="2662767" y="4432300"/>
            <a:ext cx="7001933" cy="523220"/>
          </a:xfrm>
          <a:prstGeom prst="rect">
            <a:avLst/>
          </a:prstGeom>
          <a:noFill/>
        </p:spPr>
        <p:txBody>
          <a:bodyPr wrap="square" rtlCol="0">
            <a:spAutoFit/>
          </a:bodyPr>
          <a:lstStyle/>
          <a:p>
            <a:pPr algn="ctr"/>
            <a:r>
              <a:rPr lang="en-US" sz="2800" dirty="0">
                <a:solidFill>
                  <a:srgbClr val="FFC000"/>
                </a:solidFill>
              </a:rPr>
              <a:t>What will print out from the following code?</a:t>
            </a:r>
          </a:p>
        </p:txBody>
      </p:sp>
      <p:sp>
        <p:nvSpPr>
          <p:cNvPr id="4" name="TextBox 3">
            <a:extLst>
              <a:ext uri="{FF2B5EF4-FFF2-40B4-BE49-F238E27FC236}">
                <a16:creationId xmlns:a16="http://schemas.microsoft.com/office/drawing/2014/main" id="{F8ABC105-9684-AA0D-6536-2DF3590570D5}"/>
              </a:ext>
            </a:extLst>
          </p:cNvPr>
          <p:cNvSpPr txBox="1"/>
          <p:nvPr/>
        </p:nvSpPr>
        <p:spPr>
          <a:xfrm>
            <a:off x="2719959" y="5179483"/>
            <a:ext cx="7001933" cy="523220"/>
          </a:xfrm>
          <a:prstGeom prst="rect">
            <a:avLst/>
          </a:prstGeom>
          <a:noFill/>
        </p:spPr>
        <p:txBody>
          <a:bodyPr wrap="square" rtlCol="0">
            <a:spAutoFit/>
          </a:bodyPr>
          <a:lstStyle/>
          <a:p>
            <a:r>
              <a:rPr lang="en-US" sz="2800" dirty="0">
                <a:solidFill>
                  <a:srgbClr val="FFC000"/>
                </a:solidFill>
              </a:rPr>
              <a:t>Nothing</a:t>
            </a:r>
          </a:p>
        </p:txBody>
      </p:sp>
      <p:sp>
        <p:nvSpPr>
          <p:cNvPr id="5" name="TextBox 4">
            <a:extLst>
              <a:ext uri="{FF2B5EF4-FFF2-40B4-BE49-F238E27FC236}">
                <a16:creationId xmlns:a16="http://schemas.microsoft.com/office/drawing/2014/main" id="{429B2051-CDE3-B5D0-C8DF-02FA211B02F9}"/>
              </a:ext>
            </a:extLst>
          </p:cNvPr>
          <p:cNvSpPr txBox="1"/>
          <p:nvPr/>
        </p:nvSpPr>
        <p:spPr>
          <a:xfrm>
            <a:off x="2662766" y="5797550"/>
            <a:ext cx="7001933" cy="523220"/>
          </a:xfrm>
          <a:prstGeom prst="rect">
            <a:avLst/>
          </a:prstGeom>
          <a:noFill/>
        </p:spPr>
        <p:txBody>
          <a:bodyPr wrap="square" rtlCol="0">
            <a:spAutoFit/>
          </a:bodyPr>
          <a:lstStyle/>
          <a:p>
            <a:r>
              <a:rPr lang="en-US" sz="2800" dirty="0">
                <a:solidFill>
                  <a:srgbClr val="FFC000"/>
                </a:solidFill>
              </a:rPr>
              <a:t>2 print statements</a:t>
            </a:r>
          </a:p>
        </p:txBody>
      </p:sp>
      <p:sp>
        <p:nvSpPr>
          <p:cNvPr id="6" name="TextBox 5">
            <a:extLst>
              <a:ext uri="{FF2B5EF4-FFF2-40B4-BE49-F238E27FC236}">
                <a16:creationId xmlns:a16="http://schemas.microsoft.com/office/drawing/2014/main" id="{DE8A873D-EBE8-7CF8-760D-E92D22607AF5}"/>
              </a:ext>
            </a:extLst>
          </p:cNvPr>
          <p:cNvSpPr txBox="1"/>
          <p:nvPr/>
        </p:nvSpPr>
        <p:spPr>
          <a:xfrm>
            <a:off x="6781800" y="5186488"/>
            <a:ext cx="7001933" cy="523220"/>
          </a:xfrm>
          <a:prstGeom prst="rect">
            <a:avLst/>
          </a:prstGeom>
          <a:noFill/>
        </p:spPr>
        <p:txBody>
          <a:bodyPr wrap="square" rtlCol="0">
            <a:spAutoFit/>
          </a:bodyPr>
          <a:lstStyle/>
          <a:p>
            <a:r>
              <a:rPr lang="en-US" sz="2800" dirty="0">
                <a:solidFill>
                  <a:srgbClr val="FFC000"/>
                </a:solidFill>
              </a:rPr>
              <a:t>1 print statements</a:t>
            </a:r>
          </a:p>
        </p:txBody>
      </p:sp>
      <p:sp>
        <p:nvSpPr>
          <p:cNvPr id="7" name="TextBox 6">
            <a:extLst>
              <a:ext uri="{FF2B5EF4-FFF2-40B4-BE49-F238E27FC236}">
                <a16:creationId xmlns:a16="http://schemas.microsoft.com/office/drawing/2014/main" id="{C1C07E7F-5015-734A-CD4F-F0255B201DD9}"/>
              </a:ext>
            </a:extLst>
          </p:cNvPr>
          <p:cNvSpPr txBox="1"/>
          <p:nvPr/>
        </p:nvSpPr>
        <p:spPr>
          <a:xfrm>
            <a:off x="6781799" y="5849262"/>
            <a:ext cx="7001933" cy="461665"/>
          </a:xfrm>
          <a:prstGeom prst="rect">
            <a:avLst/>
          </a:prstGeom>
          <a:noFill/>
        </p:spPr>
        <p:txBody>
          <a:bodyPr wrap="square" rtlCol="0">
            <a:spAutoFit/>
          </a:bodyPr>
          <a:lstStyle/>
          <a:p>
            <a:r>
              <a:rPr lang="en-US" sz="2400" dirty="0">
                <a:solidFill>
                  <a:srgbClr val="FFC000"/>
                </a:solidFill>
              </a:rPr>
              <a:t>Not sure. I am illiterate.</a:t>
            </a:r>
          </a:p>
        </p:txBody>
      </p:sp>
    </p:spTree>
    <p:extLst>
      <p:ext uri="{BB962C8B-B14F-4D97-AF65-F5344CB8AC3E}">
        <p14:creationId xmlns:p14="http://schemas.microsoft.com/office/powerpoint/2010/main" val="594954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F489C-BA1D-4DF2-D13B-7C6698702BEB}"/>
              </a:ext>
            </a:extLst>
          </p:cNvPr>
          <p:cNvSpPr>
            <a:spLocks noGrp="1"/>
          </p:cNvSpPr>
          <p:nvPr>
            <p:ph type="title"/>
          </p:nvPr>
        </p:nvSpPr>
        <p:spPr>
          <a:xfrm>
            <a:off x="838200" y="18255"/>
            <a:ext cx="10515600" cy="1325563"/>
          </a:xfrm>
        </p:spPr>
        <p:txBody>
          <a:bodyPr/>
          <a:lstStyle/>
          <a:p>
            <a:pPr algn="ctr"/>
            <a:r>
              <a:rPr lang="en-US" u="sng" dirty="0"/>
              <a:t>Understanding the return statement</a:t>
            </a:r>
          </a:p>
        </p:txBody>
      </p:sp>
      <p:sp>
        <p:nvSpPr>
          <p:cNvPr id="3" name="Content Placeholder 2">
            <a:extLst>
              <a:ext uri="{FF2B5EF4-FFF2-40B4-BE49-F238E27FC236}">
                <a16:creationId xmlns:a16="http://schemas.microsoft.com/office/drawing/2014/main" id="{0620E8F2-739A-085C-764B-3DE8745F577C}"/>
              </a:ext>
            </a:extLst>
          </p:cNvPr>
          <p:cNvSpPr>
            <a:spLocks noGrp="1"/>
          </p:cNvSpPr>
          <p:nvPr>
            <p:ph idx="1"/>
          </p:nvPr>
        </p:nvSpPr>
        <p:spPr>
          <a:xfrm>
            <a:off x="838200" y="1055158"/>
            <a:ext cx="10515600" cy="4351338"/>
          </a:xfrm>
        </p:spPr>
        <p:txBody>
          <a:bodyPr/>
          <a:lstStyle/>
          <a:p>
            <a:pPr marL="0" indent="0" algn="ctr">
              <a:buNone/>
            </a:pPr>
            <a:r>
              <a:rPr lang="en-US" dirty="0"/>
              <a:t>Only the print statement highlighted in red will print. </a:t>
            </a:r>
            <a:r>
              <a:rPr lang="en-US" i="1" dirty="0"/>
              <a:t>Why?</a:t>
            </a:r>
          </a:p>
        </p:txBody>
      </p:sp>
      <p:pic>
        <p:nvPicPr>
          <p:cNvPr id="5" name="Picture 4">
            <a:extLst>
              <a:ext uri="{FF2B5EF4-FFF2-40B4-BE49-F238E27FC236}">
                <a16:creationId xmlns:a16="http://schemas.microsoft.com/office/drawing/2014/main" id="{7F41E589-8AC0-F5DA-1AA6-D0716A52F0D6}"/>
              </a:ext>
            </a:extLst>
          </p:cNvPr>
          <p:cNvPicPr>
            <a:picLocks noChangeAspect="1"/>
          </p:cNvPicPr>
          <p:nvPr/>
        </p:nvPicPr>
        <p:blipFill>
          <a:blip r:embed="rId2"/>
          <a:stretch>
            <a:fillRect/>
          </a:stretch>
        </p:blipFill>
        <p:spPr>
          <a:xfrm>
            <a:off x="3006299" y="1597833"/>
            <a:ext cx="6179401" cy="3662333"/>
          </a:xfrm>
          <a:prstGeom prst="rect">
            <a:avLst/>
          </a:prstGeom>
          <a:ln>
            <a:solidFill>
              <a:schemeClr val="tx1"/>
            </a:solidFill>
          </a:ln>
        </p:spPr>
      </p:pic>
      <p:sp>
        <p:nvSpPr>
          <p:cNvPr id="4" name="Rectangle 3">
            <a:extLst>
              <a:ext uri="{FF2B5EF4-FFF2-40B4-BE49-F238E27FC236}">
                <a16:creationId xmlns:a16="http://schemas.microsoft.com/office/drawing/2014/main" id="{F1F30E61-B430-50D0-95DC-BE10435B8661}"/>
              </a:ext>
            </a:extLst>
          </p:cNvPr>
          <p:cNvSpPr/>
          <p:nvPr/>
        </p:nvSpPr>
        <p:spPr>
          <a:xfrm>
            <a:off x="3949699" y="4889500"/>
            <a:ext cx="4741333" cy="23706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834AC198-CDEB-6F30-CCCE-6BD2AB5C6568}"/>
              </a:ext>
            </a:extLst>
          </p:cNvPr>
          <p:cNvSpPr txBox="1">
            <a:spLocks/>
          </p:cNvSpPr>
          <p:nvPr/>
        </p:nvSpPr>
        <p:spPr>
          <a:xfrm>
            <a:off x="969433" y="5514181"/>
            <a:ext cx="10515600" cy="111812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Once the return statement runs, the rest of the body of the function will NOT execute. We return to main.</a:t>
            </a:r>
          </a:p>
        </p:txBody>
      </p:sp>
    </p:spTree>
    <p:extLst>
      <p:ext uri="{BB962C8B-B14F-4D97-AF65-F5344CB8AC3E}">
        <p14:creationId xmlns:p14="http://schemas.microsoft.com/office/powerpoint/2010/main" val="4029802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B6182-FB03-CBDF-49CF-56B8183A0B84}"/>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Function Prototypes</a:t>
            </a:r>
          </a:p>
        </p:txBody>
      </p:sp>
      <p:sp>
        <p:nvSpPr>
          <p:cNvPr id="3" name="Content Placeholder 2">
            <a:extLst>
              <a:ext uri="{FF2B5EF4-FFF2-40B4-BE49-F238E27FC236}">
                <a16:creationId xmlns:a16="http://schemas.microsoft.com/office/drawing/2014/main" id="{5D19B95F-6401-80E3-9F50-F3589AC5C76A}"/>
              </a:ext>
            </a:extLst>
          </p:cNvPr>
          <p:cNvSpPr>
            <a:spLocks noGrp="1"/>
          </p:cNvSpPr>
          <p:nvPr>
            <p:ph idx="1"/>
          </p:nvPr>
        </p:nvSpPr>
        <p:spPr/>
        <p:txBody>
          <a:bodyPr/>
          <a:lstStyle/>
          <a:p>
            <a:pPr hangingPunct="1"/>
            <a:r>
              <a:rPr lang="en-US" dirty="0"/>
              <a:t>Functions can be </a:t>
            </a:r>
            <a:r>
              <a:rPr lang="en-US" dirty="0">
                <a:solidFill>
                  <a:srgbClr val="00B0F0"/>
                </a:solidFill>
              </a:rPr>
              <a:t>defined</a:t>
            </a:r>
            <a:r>
              <a:rPr lang="en-US" dirty="0"/>
              <a:t> in any order</a:t>
            </a:r>
          </a:p>
          <a:p>
            <a:pPr lvl="1" hangingPunct="1"/>
            <a:r>
              <a:rPr lang="en-US" dirty="0">
                <a:solidFill>
                  <a:srgbClr val="00B0F0"/>
                </a:solidFill>
              </a:rPr>
              <a:t>Declare</a:t>
            </a:r>
            <a:r>
              <a:rPr lang="en-US" dirty="0">
                <a:solidFill>
                  <a:schemeClr val="accent1"/>
                </a:solidFill>
              </a:rPr>
              <a:t> </a:t>
            </a:r>
            <a:r>
              <a:rPr lang="en-US" dirty="0"/>
              <a:t>a function before first use if definition comes later</a:t>
            </a:r>
          </a:p>
          <a:p>
            <a:pPr lvl="1" hangingPunct="1"/>
            <a:r>
              <a:rPr lang="en-US" dirty="0"/>
              <a:t>Function prototypes often placed in header files (and reused)</a:t>
            </a:r>
          </a:p>
          <a:p>
            <a:endParaRPr lang="en-US" dirty="0"/>
          </a:p>
        </p:txBody>
      </p:sp>
      <p:sp>
        <p:nvSpPr>
          <p:cNvPr id="4" name="Shape 469">
            <a:extLst>
              <a:ext uri="{FF2B5EF4-FFF2-40B4-BE49-F238E27FC236}">
                <a16:creationId xmlns:a16="http://schemas.microsoft.com/office/drawing/2014/main" id="{5B1E47CC-6461-5DD6-0BCF-6A4A2ABD7AC9}"/>
              </a:ext>
            </a:extLst>
          </p:cNvPr>
          <p:cNvSpPr/>
          <p:nvPr/>
        </p:nvSpPr>
        <p:spPr>
          <a:xfrm>
            <a:off x="1202342" y="3160579"/>
            <a:ext cx="9787316" cy="3293209"/>
          </a:xfrm>
          <a:prstGeom prst="rect">
            <a:avLst/>
          </a:prstGeom>
          <a:solidFill>
            <a:schemeClr val="bg1">
              <a:lumMod val="95000"/>
            </a:schemeClr>
          </a:solidFill>
          <a:ln w="12700">
            <a:miter lim="400000"/>
          </a:ln>
          <a:effectLst>
            <a:outerShdw blurRad="177800" dist="139700" dir="5400000" rotWithShape="0">
              <a:srgbClr val="000000">
                <a:alpha val="50000"/>
              </a:srgbClr>
            </a:outerShdw>
          </a:effectLst>
          <a:extLst>
            <a:ext uri="{C572A759-6A51-4108-AA02-DFA0A04FC94B}">
              <ma14:wrappingTextBoxFlag xmlns:ma14="http://schemas.microsoft.com/office/mac/drawingml/2011/main" xmlns="" val="1"/>
            </a:ext>
          </a:extLst>
        </p:spPr>
        <p:txBody>
          <a:bodyPr wrap="square" lIns="0" tIns="0" rIns="0" bIns="0" anchor="ctr">
            <a:spAutoFit/>
          </a:bodyPr>
          <a:lstStyle/>
          <a:p>
            <a:pPr lvl="0" algn="l" defTabSz="457200">
              <a:defRPr sz="1800"/>
            </a:pPr>
            <a:r>
              <a:rPr sz="1600" b="1" dirty="0">
                <a:solidFill>
                  <a:srgbClr val="7F87CF"/>
                </a:solidFill>
                <a:latin typeface="Courier"/>
                <a:ea typeface="Courier"/>
                <a:cs typeface="Courier"/>
                <a:sym typeface="Courier"/>
              </a:rPr>
              <a:t>#include &lt;</a:t>
            </a:r>
            <a:r>
              <a:rPr sz="1600" b="1" dirty="0" err="1">
                <a:solidFill>
                  <a:srgbClr val="7F87CF"/>
                </a:solidFill>
                <a:latin typeface="Courier"/>
                <a:ea typeface="Courier"/>
                <a:cs typeface="Courier"/>
                <a:sym typeface="Courier"/>
              </a:rPr>
              <a:t>stdio.h</a:t>
            </a:r>
            <a:r>
              <a:rPr sz="1600" b="1" dirty="0">
                <a:solidFill>
                  <a:srgbClr val="7F87CF"/>
                </a:solidFill>
                <a:latin typeface="Courier"/>
                <a:ea typeface="Courier"/>
                <a:cs typeface="Courier"/>
                <a:sym typeface="Courier"/>
              </a:rPr>
              <a:t>&gt;</a:t>
            </a:r>
            <a:endParaRPr sz="1600" b="1" dirty="0">
              <a:latin typeface="Courier"/>
              <a:ea typeface="Courier"/>
              <a:cs typeface="Courier"/>
              <a:sym typeface="Courier"/>
            </a:endParaRPr>
          </a:p>
          <a:p>
            <a:pPr lvl="0" algn="l" defTabSz="457200">
              <a:defRPr sz="1800"/>
            </a:pPr>
            <a:endParaRPr sz="1600" b="1" dirty="0">
              <a:latin typeface="Courier"/>
              <a:ea typeface="Courier"/>
              <a:cs typeface="Courier"/>
              <a:sym typeface="Courier"/>
            </a:endParaRPr>
          </a:p>
          <a:p>
            <a:pPr lvl="0" algn="l" defTabSz="457200">
              <a:defRPr sz="1800"/>
            </a:pPr>
            <a:r>
              <a:rPr sz="1600" b="1" dirty="0">
                <a:solidFill>
                  <a:srgbClr val="96A700"/>
                </a:solidFill>
                <a:latin typeface="Courier"/>
                <a:ea typeface="Courier"/>
                <a:cs typeface="Courier"/>
                <a:sym typeface="Courier"/>
              </a:rPr>
              <a:t>int</a:t>
            </a:r>
            <a:r>
              <a:rPr sz="1600" b="1" dirty="0">
                <a:latin typeface="Courier"/>
                <a:ea typeface="Courier"/>
                <a:cs typeface="Courier"/>
                <a:sym typeface="Courier"/>
              </a:rPr>
              <a:t> </a:t>
            </a:r>
            <a:r>
              <a:rPr sz="1600" b="1" dirty="0" err="1">
                <a:solidFill>
                  <a:srgbClr val="6A8188"/>
                </a:solidFill>
                <a:latin typeface="Courier"/>
                <a:ea typeface="Courier"/>
                <a:cs typeface="Courier"/>
                <a:sym typeface="Courier"/>
              </a:rPr>
              <a:t>fahrToCel</a:t>
            </a:r>
            <a:r>
              <a:rPr lang="en-US" sz="1600" b="1" dirty="0" err="1">
                <a:solidFill>
                  <a:srgbClr val="6A8188"/>
                </a:solidFill>
                <a:latin typeface="Courier"/>
                <a:ea typeface="Courier"/>
                <a:cs typeface="Courier"/>
                <a:sym typeface="Courier"/>
              </a:rPr>
              <a:t>s</a:t>
            </a:r>
            <a:r>
              <a:rPr sz="1600" b="1" dirty="0" err="1">
                <a:solidFill>
                  <a:srgbClr val="6A8188"/>
                </a:solidFill>
                <a:latin typeface="Courier"/>
                <a:ea typeface="Courier"/>
                <a:cs typeface="Courier"/>
                <a:sym typeface="Courier"/>
              </a:rPr>
              <a:t>ius</a:t>
            </a:r>
            <a:r>
              <a:rPr sz="1600" b="1" dirty="0">
                <a:solidFill>
                  <a:srgbClr val="6A8188"/>
                </a:solidFill>
                <a:latin typeface="Courier"/>
                <a:ea typeface="Courier"/>
                <a:cs typeface="Courier"/>
                <a:sym typeface="Courier"/>
              </a:rPr>
              <a:t>(</a:t>
            </a:r>
            <a:r>
              <a:rPr sz="1600" b="1" dirty="0" err="1">
                <a:solidFill>
                  <a:srgbClr val="96A700"/>
                </a:solidFill>
                <a:latin typeface="Courier"/>
                <a:ea typeface="Courier"/>
                <a:cs typeface="Courier"/>
                <a:sym typeface="Courier"/>
              </a:rPr>
              <a:t>int</a:t>
            </a: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endParaRPr sz="1600" b="1" dirty="0">
              <a:latin typeface="Courier"/>
              <a:ea typeface="Courier"/>
              <a:cs typeface="Courier"/>
              <a:sym typeface="Courier"/>
            </a:endParaRPr>
          </a:p>
          <a:p>
            <a:pPr lvl="0" algn="l" defTabSz="457200">
              <a:defRPr sz="1800"/>
            </a:pPr>
            <a:r>
              <a:rPr sz="1600" b="1" dirty="0" err="1">
                <a:solidFill>
                  <a:srgbClr val="96A700"/>
                </a:solidFill>
                <a:latin typeface="Courier"/>
                <a:ea typeface="Courier"/>
                <a:cs typeface="Courier"/>
                <a:sym typeface="Courier"/>
              </a:rPr>
              <a:t>int</a:t>
            </a:r>
            <a:r>
              <a:rPr sz="1600" b="1" dirty="0">
                <a:latin typeface="Courier"/>
                <a:ea typeface="Courier"/>
                <a:cs typeface="Courier"/>
                <a:sym typeface="Courier"/>
              </a:rPr>
              <a:t> </a:t>
            </a:r>
            <a:r>
              <a:rPr sz="1600" b="1" dirty="0">
                <a:solidFill>
                  <a:srgbClr val="6A8188"/>
                </a:solidFill>
                <a:latin typeface="Courier"/>
                <a:ea typeface="Courier"/>
                <a:cs typeface="Courier"/>
                <a:sym typeface="Courier"/>
              </a:rPr>
              <a:t>main()</a:t>
            </a:r>
            <a:r>
              <a:rPr sz="1600" b="1" dirty="0">
                <a:latin typeface="Courier"/>
                <a:ea typeface="Courier"/>
                <a:cs typeface="Courier"/>
                <a:sym typeface="Courier"/>
              </a:rPr>
              <a:t> </a:t>
            </a: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r>
              <a:rPr sz="1600" b="1" dirty="0">
                <a:latin typeface="Courier"/>
                <a:ea typeface="Courier"/>
                <a:cs typeface="Courier"/>
                <a:sym typeface="Courier"/>
              </a:rPr>
              <a:t>   </a:t>
            </a:r>
            <a:r>
              <a:rPr sz="1600" b="1" dirty="0">
                <a:solidFill>
                  <a:srgbClr val="D7601B"/>
                </a:solidFill>
                <a:latin typeface="Courier"/>
                <a:ea typeface="Courier"/>
                <a:cs typeface="Courier"/>
                <a:sym typeface="Courier"/>
              </a:rPr>
              <a:t>for</a:t>
            </a:r>
            <a:r>
              <a:rPr sz="1600" b="1" dirty="0">
                <a:solidFill>
                  <a:srgbClr val="6A8188"/>
                </a:solidFill>
                <a:latin typeface="Courier"/>
                <a:ea typeface="Courier"/>
                <a:cs typeface="Courier"/>
                <a:sym typeface="Courier"/>
              </a:rPr>
              <a:t>(</a:t>
            </a:r>
            <a:r>
              <a:rPr sz="1600" b="1" dirty="0" err="1">
                <a:solidFill>
                  <a:srgbClr val="96A700"/>
                </a:solidFill>
                <a:latin typeface="Courier"/>
                <a:ea typeface="Courier"/>
                <a:cs typeface="Courier"/>
                <a:sym typeface="Courier"/>
              </a:rPr>
              <a:t>int</a:t>
            </a:r>
            <a:r>
              <a:rPr sz="1600" b="1" dirty="0">
                <a:latin typeface="Courier"/>
                <a:ea typeface="Courier"/>
                <a:cs typeface="Courier"/>
                <a:sym typeface="Courier"/>
              </a:rPr>
              <a:t> </a:t>
            </a:r>
            <a:r>
              <a:rPr sz="1600" b="1" dirty="0" err="1">
                <a:solidFill>
                  <a:srgbClr val="788E95"/>
                </a:solidFill>
                <a:latin typeface="Courier"/>
                <a:ea typeface="Courier"/>
                <a:cs typeface="Courier"/>
                <a:sym typeface="Courier"/>
              </a:rPr>
              <a:t>fahr</a:t>
            </a:r>
            <a:r>
              <a:rPr sz="1600" b="1" dirty="0">
                <a:solidFill>
                  <a:srgbClr val="6A8188"/>
                </a:solidFill>
                <a:latin typeface="Courier"/>
                <a:ea typeface="Courier"/>
                <a:cs typeface="Courier"/>
                <a:sym typeface="Courier"/>
              </a:rPr>
              <a:t>=</a:t>
            </a:r>
            <a:r>
              <a:rPr lang="en-US" sz="1600" b="1" dirty="0">
                <a:solidFill>
                  <a:srgbClr val="788E95"/>
                </a:solidFill>
                <a:latin typeface="Courier"/>
                <a:ea typeface="Courier"/>
                <a:cs typeface="Courier"/>
                <a:sym typeface="Courier"/>
              </a:rPr>
              <a:t>0</a:t>
            </a:r>
            <a:r>
              <a:rPr sz="1600" b="1" dirty="0">
                <a:solidFill>
                  <a:srgbClr val="6A8188"/>
                </a:solidFill>
                <a:latin typeface="Courier"/>
                <a:ea typeface="Courier"/>
                <a:cs typeface="Courier"/>
                <a:sym typeface="Courier"/>
              </a:rPr>
              <a:t>;</a:t>
            </a:r>
            <a:r>
              <a:rPr lang="en-US" sz="1600" b="1" dirty="0">
                <a:solidFill>
                  <a:srgbClr val="6A8188"/>
                </a:solidFill>
                <a:latin typeface="Courier"/>
                <a:ea typeface="Courier"/>
                <a:cs typeface="Courier"/>
                <a:sym typeface="Courier"/>
              </a:rPr>
              <a:t> </a:t>
            </a:r>
            <a:r>
              <a:rPr sz="1600" b="1" dirty="0" err="1">
                <a:solidFill>
                  <a:srgbClr val="788E95"/>
                </a:solidFill>
                <a:latin typeface="Courier"/>
                <a:ea typeface="Courier"/>
                <a:cs typeface="Courier"/>
                <a:sym typeface="Courier"/>
              </a:rPr>
              <a:t>fahr</a:t>
            </a:r>
            <a:r>
              <a:rPr sz="1600" b="1" dirty="0">
                <a:latin typeface="Courier"/>
                <a:ea typeface="Courier"/>
                <a:cs typeface="Courier"/>
                <a:sym typeface="Courier"/>
              </a:rPr>
              <a:t> </a:t>
            </a:r>
            <a:r>
              <a:rPr sz="1600" b="1" dirty="0">
                <a:solidFill>
                  <a:srgbClr val="6A8188"/>
                </a:solidFill>
                <a:latin typeface="Courier"/>
                <a:ea typeface="Courier"/>
                <a:cs typeface="Courier"/>
                <a:sym typeface="Courier"/>
              </a:rPr>
              <a:t>&lt;=</a:t>
            </a:r>
            <a:r>
              <a:rPr sz="1600" b="1" dirty="0">
                <a:latin typeface="Courier"/>
                <a:ea typeface="Courier"/>
                <a:cs typeface="Courier"/>
                <a:sym typeface="Courier"/>
              </a:rPr>
              <a:t> </a:t>
            </a:r>
            <a:r>
              <a:rPr lang="en-US" sz="1600" b="1" dirty="0">
                <a:latin typeface="Courier"/>
                <a:ea typeface="Courier"/>
                <a:cs typeface="Courier"/>
                <a:sym typeface="Courier"/>
              </a:rPr>
              <a:t>300</a:t>
            </a:r>
            <a:r>
              <a:rPr sz="1600" b="1" dirty="0">
                <a:solidFill>
                  <a:srgbClr val="6A8188"/>
                </a:solidFill>
                <a:latin typeface="Courier"/>
                <a:ea typeface="Courier"/>
                <a:cs typeface="Courier"/>
                <a:sym typeface="Courier"/>
              </a:rPr>
              <a:t>;</a:t>
            </a:r>
            <a:r>
              <a:rPr lang="en-US" sz="1600" b="1" dirty="0">
                <a:solidFill>
                  <a:srgbClr val="6A8188"/>
                </a:solidFill>
                <a:latin typeface="Courier"/>
                <a:ea typeface="Courier"/>
                <a:cs typeface="Courier"/>
                <a:sym typeface="Courier"/>
              </a:rPr>
              <a:t> </a:t>
            </a:r>
            <a:r>
              <a:rPr sz="1600" b="1" dirty="0" err="1">
                <a:solidFill>
                  <a:srgbClr val="788E95"/>
                </a:solidFill>
                <a:latin typeface="Courier"/>
                <a:ea typeface="Courier"/>
                <a:cs typeface="Courier"/>
                <a:sym typeface="Courier"/>
              </a:rPr>
              <a:t>fahr</a:t>
            </a:r>
            <a:r>
              <a:rPr sz="1600" b="1" dirty="0">
                <a:latin typeface="Courier"/>
                <a:ea typeface="Courier"/>
                <a:cs typeface="Courier"/>
                <a:sym typeface="Courier"/>
              </a:rPr>
              <a:t> </a:t>
            </a:r>
            <a:r>
              <a:rPr sz="1600" b="1" dirty="0">
                <a:solidFill>
                  <a:srgbClr val="6A8188"/>
                </a:solidFill>
                <a:latin typeface="Courier"/>
                <a:ea typeface="Courier"/>
                <a:cs typeface="Courier"/>
                <a:sym typeface="Courier"/>
              </a:rPr>
              <a:t>+=</a:t>
            </a:r>
            <a:r>
              <a:rPr sz="1600" b="1" dirty="0">
                <a:latin typeface="Courier"/>
                <a:ea typeface="Courier"/>
                <a:cs typeface="Courier"/>
                <a:sym typeface="Courier"/>
              </a:rPr>
              <a:t> </a:t>
            </a:r>
            <a:r>
              <a:rPr lang="en-US" sz="1600" b="1" dirty="0">
                <a:solidFill>
                  <a:srgbClr val="788E95"/>
                </a:solidFill>
                <a:latin typeface="Courier"/>
                <a:ea typeface="Courier"/>
                <a:cs typeface="Courier"/>
                <a:sym typeface="Courier"/>
              </a:rPr>
              <a:t>10</a:t>
            </a: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r>
              <a:rPr sz="1600" b="1" dirty="0">
                <a:latin typeface="Courier"/>
                <a:ea typeface="Courier"/>
                <a:cs typeface="Courier"/>
                <a:sym typeface="Courier"/>
              </a:rPr>
              <a:t>      </a:t>
            </a:r>
            <a:r>
              <a:rPr sz="1600" b="1" dirty="0" err="1">
                <a:solidFill>
                  <a:srgbClr val="6A8188"/>
                </a:solidFill>
                <a:latin typeface="Courier"/>
                <a:ea typeface="Courier"/>
                <a:cs typeface="Courier"/>
                <a:sym typeface="Courier"/>
              </a:rPr>
              <a:t>printf</a:t>
            </a:r>
            <a:r>
              <a:rPr sz="1600" b="1" dirty="0">
                <a:solidFill>
                  <a:srgbClr val="6A8188"/>
                </a:solidFill>
                <a:latin typeface="Courier"/>
                <a:ea typeface="Courier"/>
                <a:cs typeface="Courier"/>
                <a:sym typeface="Courier"/>
              </a:rPr>
              <a:t>(</a:t>
            </a:r>
            <a:r>
              <a:rPr sz="1600" b="1" dirty="0">
                <a:solidFill>
                  <a:srgbClr val="E5493D"/>
                </a:solidFill>
                <a:latin typeface="Courier"/>
                <a:ea typeface="Courier"/>
                <a:cs typeface="Courier"/>
                <a:sym typeface="Courier"/>
              </a:rPr>
              <a:t>"%d F </a:t>
            </a:r>
            <a:r>
              <a:rPr lang="en-US" sz="1600" b="1" dirty="0">
                <a:solidFill>
                  <a:srgbClr val="E5493D"/>
                </a:solidFill>
                <a:latin typeface="Courier"/>
                <a:ea typeface="Courier"/>
                <a:cs typeface="Courier"/>
                <a:sym typeface="Courier"/>
              </a:rPr>
              <a:t>is</a:t>
            </a:r>
            <a:r>
              <a:rPr sz="1600" b="1" dirty="0">
                <a:solidFill>
                  <a:srgbClr val="E5493D"/>
                </a:solidFill>
                <a:latin typeface="Courier"/>
                <a:ea typeface="Courier"/>
                <a:cs typeface="Courier"/>
                <a:sym typeface="Courier"/>
              </a:rPr>
              <a:t> %d C degrees</a:t>
            </a:r>
            <a:r>
              <a:rPr sz="1600" b="1" dirty="0">
                <a:solidFill>
                  <a:srgbClr val="7F87CF"/>
                </a:solidFill>
                <a:latin typeface="Courier"/>
                <a:ea typeface="Courier"/>
                <a:cs typeface="Courier"/>
                <a:sym typeface="Courier"/>
              </a:rPr>
              <a:t>\n</a:t>
            </a:r>
            <a:r>
              <a:rPr sz="1600" b="1" dirty="0">
                <a:solidFill>
                  <a:srgbClr val="E5493D"/>
                </a:solidFill>
                <a:latin typeface="Courier"/>
                <a:ea typeface="Courier"/>
                <a:cs typeface="Courier"/>
                <a:sym typeface="Courier"/>
              </a:rPr>
              <a:t>"</a:t>
            </a:r>
            <a:r>
              <a:rPr sz="1600" b="1" dirty="0">
                <a:solidFill>
                  <a:srgbClr val="6A8188"/>
                </a:solidFill>
                <a:latin typeface="Courier"/>
                <a:ea typeface="Courier"/>
                <a:cs typeface="Courier"/>
                <a:sym typeface="Courier"/>
              </a:rPr>
              <a:t>,</a:t>
            </a:r>
            <a:r>
              <a:rPr sz="1600" b="1" dirty="0" err="1">
                <a:solidFill>
                  <a:srgbClr val="788E95"/>
                </a:solidFill>
                <a:latin typeface="Courier"/>
                <a:ea typeface="Courier"/>
                <a:cs typeface="Courier"/>
                <a:sym typeface="Courier"/>
              </a:rPr>
              <a:t>fahr</a:t>
            </a:r>
            <a:r>
              <a:rPr sz="1600" b="1" dirty="0" err="1">
                <a:solidFill>
                  <a:srgbClr val="6A8188"/>
                </a:solidFill>
                <a:latin typeface="Courier"/>
                <a:ea typeface="Courier"/>
                <a:cs typeface="Courier"/>
                <a:sym typeface="Courier"/>
              </a:rPr>
              <a:t>,</a:t>
            </a:r>
            <a:r>
              <a:rPr lang="en-US" sz="1600" b="1" dirty="0" err="1">
                <a:solidFill>
                  <a:srgbClr val="6A8188"/>
                </a:solidFill>
                <a:latin typeface="Courier"/>
                <a:ea typeface="Courier"/>
                <a:cs typeface="Courier"/>
                <a:sym typeface="Courier"/>
              </a:rPr>
              <a:t>fahrToCelsius</a:t>
            </a:r>
            <a:r>
              <a:rPr lang="en-US" sz="1600" b="1" dirty="0">
                <a:solidFill>
                  <a:srgbClr val="6A8188"/>
                </a:solidFill>
                <a:latin typeface="Courier"/>
                <a:ea typeface="Courier"/>
                <a:cs typeface="Courier"/>
                <a:sym typeface="Courier"/>
              </a:rPr>
              <a:t>(</a:t>
            </a:r>
            <a:r>
              <a:rPr lang="en-US" sz="1600" b="1" dirty="0" err="1">
                <a:solidFill>
                  <a:srgbClr val="788E95"/>
                </a:solidFill>
                <a:latin typeface="Courier"/>
                <a:ea typeface="Courier"/>
                <a:cs typeface="Courier"/>
                <a:sym typeface="Courier"/>
              </a:rPr>
              <a:t>fahr</a:t>
            </a:r>
            <a:r>
              <a:rPr lang="en-US" sz="1600" b="1" dirty="0">
                <a:solidFill>
                  <a:srgbClr val="6A8188"/>
                </a:solidFill>
                <a:latin typeface="Courier"/>
                <a:ea typeface="Courier"/>
                <a:cs typeface="Courier"/>
                <a:sym typeface="Courier"/>
              </a:rPr>
              <a:t>)</a:t>
            </a: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r>
              <a:rPr sz="1600" b="1" dirty="0">
                <a:latin typeface="Courier"/>
                <a:ea typeface="Courier"/>
                <a:cs typeface="Courier"/>
                <a:sym typeface="Courier"/>
              </a:rPr>
              <a:t>   </a:t>
            </a:r>
            <a:r>
              <a:rPr sz="1600" b="1" dirty="0">
                <a:solidFill>
                  <a:srgbClr val="D7601B"/>
                </a:solidFill>
                <a:latin typeface="Courier"/>
                <a:ea typeface="Courier"/>
                <a:cs typeface="Courier"/>
                <a:sym typeface="Courier"/>
              </a:rPr>
              <a:t>return</a:t>
            </a:r>
            <a:r>
              <a:rPr sz="1600" b="1" dirty="0">
                <a:latin typeface="Courier"/>
                <a:ea typeface="Courier"/>
                <a:cs typeface="Courier"/>
                <a:sym typeface="Courier"/>
              </a:rPr>
              <a:t> </a:t>
            </a:r>
            <a:r>
              <a:rPr sz="1600" b="1" dirty="0">
                <a:solidFill>
                  <a:srgbClr val="E5493D"/>
                </a:solidFill>
                <a:latin typeface="Courier"/>
                <a:ea typeface="Courier"/>
                <a:cs typeface="Courier"/>
                <a:sym typeface="Courier"/>
              </a:rPr>
              <a:t>0</a:t>
            </a: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endParaRPr sz="1600" b="1" dirty="0">
              <a:latin typeface="Courier"/>
              <a:ea typeface="Courier"/>
              <a:cs typeface="Courier"/>
              <a:sym typeface="Courier"/>
            </a:endParaRPr>
          </a:p>
          <a:p>
            <a:pPr lvl="0" algn="l" defTabSz="457200">
              <a:defRPr sz="1800"/>
            </a:pPr>
            <a:r>
              <a:rPr sz="1600" b="1" dirty="0" err="1">
                <a:solidFill>
                  <a:srgbClr val="96A700"/>
                </a:solidFill>
                <a:latin typeface="Courier"/>
                <a:ea typeface="Courier"/>
                <a:cs typeface="Courier"/>
                <a:sym typeface="Courier"/>
              </a:rPr>
              <a:t>int</a:t>
            </a:r>
            <a:r>
              <a:rPr sz="1600" b="1" dirty="0">
                <a:latin typeface="Courier"/>
                <a:ea typeface="Courier"/>
                <a:cs typeface="Courier"/>
                <a:sym typeface="Courier"/>
              </a:rPr>
              <a:t> </a:t>
            </a:r>
            <a:r>
              <a:rPr sz="1600" b="1" dirty="0" err="1">
                <a:solidFill>
                  <a:srgbClr val="6A8188"/>
                </a:solidFill>
                <a:latin typeface="Courier"/>
                <a:ea typeface="Courier"/>
                <a:cs typeface="Courier"/>
                <a:sym typeface="Courier"/>
              </a:rPr>
              <a:t>fahrToCel</a:t>
            </a:r>
            <a:r>
              <a:rPr lang="en-US" sz="1600" b="1" dirty="0" err="1">
                <a:solidFill>
                  <a:srgbClr val="6A8188"/>
                </a:solidFill>
                <a:latin typeface="Courier"/>
                <a:ea typeface="Courier"/>
                <a:cs typeface="Courier"/>
                <a:sym typeface="Courier"/>
              </a:rPr>
              <a:t>s</a:t>
            </a:r>
            <a:r>
              <a:rPr sz="1600" b="1" dirty="0" err="1">
                <a:solidFill>
                  <a:srgbClr val="6A8188"/>
                </a:solidFill>
                <a:latin typeface="Courier"/>
                <a:ea typeface="Courier"/>
                <a:cs typeface="Courier"/>
                <a:sym typeface="Courier"/>
              </a:rPr>
              <a:t>ius</a:t>
            </a:r>
            <a:r>
              <a:rPr sz="1600" b="1" dirty="0">
                <a:solidFill>
                  <a:srgbClr val="6A8188"/>
                </a:solidFill>
                <a:latin typeface="Courier"/>
                <a:ea typeface="Courier"/>
                <a:cs typeface="Courier"/>
                <a:sym typeface="Courier"/>
              </a:rPr>
              <a:t>(</a:t>
            </a:r>
            <a:r>
              <a:rPr sz="1600" b="1" dirty="0" err="1">
                <a:solidFill>
                  <a:srgbClr val="96A700"/>
                </a:solidFill>
                <a:latin typeface="Courier"/>
                <a:ea typeface="Courier"/>
                <a:cs typeface="Courier"/>
                <a:sym typeface="Courier"/>
              </a:rPr>
              <a:t>int</a:t>
            </a:r>
            <a:r>
              <a:rPr sz="1600" b="1" dirty="0">
                <a:latin typeface="Courier"/>
                <a:ea typeface="Courier"/>
                <a:cs typeface="Courier"/>
                <a:sym typeface="Courier"/>
              </a:rPr>
              <a:t> </a:t>
            </a:r>
            <a:r>
              <a:rPr sz="1600" b="1" dirty="0" err="1">
                <a:solidFill>
                  <a:srgbClr val="788E95"/>
                </a:solidFill>
                <a:latin typeface="Courier"/>
                <a:ea typeface="Courier"/>
                <a:cs typeface="Courier"/>
                <a:sym typeface="Courier"/>
              </a:rPr>
              <a:t>degF</a:t>
            </a:r>
            <a:r>
              <a:rPr sz="1600" b="1" dirty="0">
                <a:solidFill>
                  <a:srgbClr val="6A8188"/>
                </a:solidFill>
                <a:latin typeface="Courier"/>
                <a:ea typeface="Courier"/>
                <a:cs typeface="Courier"/>
                <a:sym typeface="Courier"/>
              </a:rPr>
              <a:t>) {</a:t>
            </a:r>
            <a:endParaRPr sz="1600" b="1" dirty="0">
              <a:latin typeface="Courier"/>
              <a:ea typeface="Courier"/>
              <a:cs typeface="Courier"/>
              <a:sym typeface="Courier"/>
            </a:endParaRPr>
          </a:p>
          <a:p>
            <a:pPr lvl="0" algn="l" defTabSz="457200">
              <a:defRPr sz="1800"/>
            </a:pPr>
            <a:r>
              <a:rPr sz="1600" b="1" dirty="0">
                <a:latin typeface="Courier"/>
                <a:ea typeface="Courier"/>
                <a:cs typeface="Courier"/>
                <a:sym typeface="Courier"/>
              </a:rPr>
              <a:t>   </a:t>
            </a:r>
            <a:r>
              <a:rPr sz="1600" b="1" dirty="0">
                <a:solidFill>
                  <a:srgbClr val="D7601B"/>
                </a:solidFill>
                <a:latin typeface="Courier"/>
                <a:ea typeface="Courier"/>
                <a:cs typeface="Courier"/>
                <a:sym typeface="Courier"/>
              </a:rPr>
              <a:t>return</a:t>
            </a:r>
            <a:r>
              <a:rPr sz="1600" b="1" dirty="0">
                <a:latin typeface="Courier"/>
                <a:ea typeface="Courier"/>
                <a:cs typeface="Courier"/>
                <a:sym typeface="Courier"/>
              </a:rPr>
              <a:t> </a:t>
            </a:r>
            <a:r>
              <a:rPr sz="1600" b="1" dirty="0">
                <a:solidFill>
                  <a:srgbClr val="E5493D"/>
                </a:solidFill>
                <a:latin typeface="Courier"/>
                <a:ea typeface="Courier"/>
                <a:cs typeface="Courier"/>
                <a:sym typeface="Courier"/>
              </a:rPr>
              <a:t>5</a:t>
            </a:r>
            <a:r>
              <a:rPr sz="1600" b="1" dirty="0">
                <a:latin typeface="Courier"/>
                <a:ea typeface="Courier"/>
                <a:cs typeface="Courier"/>
                <a:sym typeface="Courier"/>
              </a:rPr>
              <a:t> </a:t>
            </a:r>
            <a:r>
              <a:rPr sz="1600" b="1" dirty="0">
                <a:solidFill>
                  <a:srgbClr val="6A8188"/>
                </a:solidFill>
                <a:latin typeface="Courier"/>
                <a:ea typeface="Courier"/>
                <a:cs typeface="Courier"/>
                <a:sym typeface="Courier"/>
              </a:rPr>
              <a:t>* (</a:t>
            </a:r>
            <a:r>
              <a:rPr sz="1600" b="1" dirty="0" err="1">
                <a:solidFill>
                  <a:srgbClr val="788E95"/>
                </a:solidFill>
                <a:latin typeface="Courier"/>
                <a:ea typeface="Courier"/>
                <a:cs typeface="Courier"/>
                <a:sym typeface="Courier"/>
              </a:rPr>
              <a:t>degF</a:t>
            </a:r>
            <a:r>
              <a:rPr sz="1600" b="1" dirty="0">
                <a:latin typeface="Courier"/>
                <a:ea typeface="Courier"/>
                <a:cs typeface="Courier"/>
                <a:sym typeface="Courier"/>
              </a:rPr>
              <a:t> </a:t>
            </a:r>
            <a:r>
              <a:rPr sz="1600" b="1" dirty="0">
                <a:solidFill>
                  <a:srgbClr val="6A8188"/>
                </a:solidFill>
                <a:latin typeface="Courier"/>
                <a:ea typeface="Courier"/>
                <a:cs typeface="Courier"/>
                <a:sym typeface="Courier"/>
              </a:rPr>
              <a:t>-</a:t>
            </a:r>
            <a:r>
              <a:rPr sz="1600" b="1" dirty="0">
                <a:latin typeface="Courier"/>
                <a:ea typeface="Courier"/>
                <a:cs typeface="Courier"/>
                <a:sym typeface="Courier"/>
              </a:rPr>
              <a:t> </a:t>
            </a:r>
            <a:r>
              <a:rPr sz="1600" b="1" dirty="0">
                <a:solidFill>
                  <a:srgbClr val="E5493D"/>
                </a:solidFill>
                <a:latin typeface="Courier"/>
                <a:ea typeface="Courier"/>
                <a:cs typeface="Courier"/>
                <a:sym typeface="Courier"/>
              </a:rPr>
              <a:t>32</a:t>
            </a:r>
            <a:r>
              <a:rPr sz="1600" b="1" dirty="0">
                <a:solidFill>
                  <a:srgbClr val="6A8188"/>
                </a:solidFill>
                <a:latin typeface="Courier"/>
                <a:ea typeface="Courier"/>
                <a:cs typeface="Courier"/>
                <a:sym typeface="Courier"/>
              </a:rPr>
              <a:t>) /</a:t>
            </a:r>
            <a:r>
              <a:rPr sz="1600" b="1" dirty="0">
                <a:latin typeface="Courier"/>
                <a:ea typeface="Courier"/>
                <a:cs typeface="Courier"/>
                <a:sym typeface="Courier"/>
              </a:rPr>
              <a:t> </a:t>
            </a:r>
            <a:r>
              <a:rPr sz="1600" b="1" dirty="0">
                <a:solidFill>
                  <a:srgbClr val="E5493D"/>
                </a:solidFill>
                <a:latin typeface="Courier"/>
                <a:ea typeface="Courier"/>
                <a:cs typeface="Courier"/>
                <a:sym typeface="Courier"/>
              </a:rPr>
              <a:t>9</a:t>
            </a:r>
            <a:r>
              <a:rPr sz="1600" b="1" dirty="0">
                <a:solidFill>
                  <a:srgbClr val="6A8188"/>
                </a:solidFill>
                <a:latin typeface="Courier"/>
                <a:ea typeface="Courier"/>
                <a:cs typeface="Courier"/>
                <a:sym typeface="Courier"/>
              </a:rPr>
              <a:t>;</a:t>
            </a:r>
            <a:endParaRPr sz="1600" b="1" dirty="0">
              <a:latin typeface="Courier"/>
              <a:ea typeface="Courier"/>
              <a:cs typeface="Courier"/>
              <a:sym typeface="Courier"/>
            </a:endParaRPr>
          </a:p>
          <a:p>
            <a:pPr lvl="0" algn="l" defTabSz="457200">
              <a:defRPr sz="1800"/>
            </a:pPr>
            <a:r>
              <a:rPr sz="1600" b="1" dirty="0">
                <a:solidFill>
                  <a:srgbClr val="6A8188"/>
                </a:solidFill>
                <a:latin typeface="Courier"/>
                <a:ea typeface="Courier"/>
                <a:cs typeface="Courier"/>
                <a:sym typeface="Courier"/>
              </a:rPr>
              <a:t>}</a:t>
            </a:r>
          </a:p>
        </p:txBody>
      </p:sp>
      <p:sp>
        <p:nvSpPr>
          <p:cNvPr id="5" name="Rectangle 4">
            <a:extLst>
              <a:ext uri="{FF2B5EF4-FFF2-40B4-BE49-F238E27FC236}">
                <a16:creationId xmlns:a16="http://schemas.microsoft.com/office/drawing/2014/main" id="{19F3F457-9C37-473B-6166-21F4C713E3E4}"/>
              </a:ext>
            </a:extLst>
          </p:cNvPr>
          <p:cNvSpPr/>
          <p:nvPr/>
        </p:nvSpPr>
        <p:spPr>
          <a:xfrm>
            <a:off x="1164166" y="3674533"/>
            <a:ext cx="3293533" cy="359834"/>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8764EF9-035B-4FA0-3968-8992EDB058B0}"/>
              </a:ext>
            </a:extLst>
          </p:cNvPr>
          <p:cNvSpPr/>
          <p:nvPr/>
        </p:nvSpPr>
        <p:spPr>
          <a:xfrm>
            <a:off x="1164165" y="5604933"/>
            <a:ext cx="3831168" cy="887942"/>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62B0A8E-FAA8-6369-B3CE-0C4940BDB811}"/>
              </a:ext>
            </a:extLst>
          </p:cNvPr>
          <p:cNvSpPr txBox="1"/>
          <p:nvPr/>
        </p:nvSpPr>
        <p:spPr>
          <a:xfrm>
            <a:off x="4495875" y="3631962"/>
            <a:ext cx="4749802" cy="369332"/>
          </a:xfrm>
          <a:prstGeom prst="rect">
            <a:avLst/>
          </a:prstGeom>
          <a:noFill/>
        </p:spPr>
        <p:txBody>
          <a:bodyPr wrap="square" rtlCol="0">
            <a:spAutoFit/>
          </a:bodyPr>
          <a:lstStyle/>
          <a:p>
            <a:r>
              <a:rPr lang="en-US" i="1" dirty="0">
                <a:solidFill>
                  <a:srgbClr val="00B0F0"/>
                </a:solidFill>
              </a:rPr>
              <a:t>Declaration/Prototype of the function</a:t>
            </a:r>
          </a:p>
        </p:txBody>
      </p:sp>
      <p:sp>
        <p:nvSpPr>
          <p:cNvPr id="8" name="TextBox 7">
            <a:extLst>
              <a:ext uri="{FF2B5EF4-FFF2-40B4-BE49-F238E27FC236}">
                <a16:creationId xmlns:a16="http://schemas.microsoft.com/office/drawing/2014/main" id="{5E6D47DC-7A8F-6ADE-61AB-6124B8E63283}"/>
              </a:ext>
            </a:extLst>
          </p:cNvPr>
          <p:cNvSpPr txBox="1"/>
          <p:nvPr/>
        </p:nvSpPr>
        <p:spPr>
          <a:xfrm>
            <a:off x="5033509" y="5807631"/>
            <a:ext cx="4749802" cy="369332"/>
          </a:xfrm>
          <a:prstGeom prst="rect">
            <a:avLst/>
          </a:prstGeom>
          <a:noFill/>
        </p:spPr>
        <p:txBody>
          <a:bodyPr wrap="square" rtlCol="0">
            <a:spAutoFit/>
          </a:bodyPr>
          <a:lstStyle/>
          <a:p>
            <a:r>
              <a:rPr lang="en-US" i="1" dirty="0">
                <a:solidFill>
                  <a:srgbClr val="00B0F0"/>
                </a:solidFill>
              </a:rPr>
              <a:t>Definition of the function </a:t>
            </a:r>
          </a:p>
        </p:txBody>
      </p:sp>
    </p:spTree>
    <p:extLst>
      <p:ext uri="{BB962C8B-B14F-4D97-AF65-F5344CB8AC3E}">
        <p14:creationId xmlns:p14="http://schemas.microsoft.com/office/powerpoint/2010/main" val="2968972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0457D-27A6-34FC-96BD-A12049DCA8BF}"/>
              </a:ext>
            </a:extLst>
          </p:cNvPr>
          <p:cNvSpPr>
            <a:spLocks noGrp="1"/>
          </p:cNvSpPr>
          <p:nvPr>
            <p:ph type="title"/>
          </p:nvPr>
        </p:nvSpPr>
        <p:spPr>
          <a:xfrm>
            <a:off x="838200" y="174625"/>
            <a:ext cx="10515600" cy="1325563"/>
          </a:xfrm>
        </p:spPr>
        <p:style>
          <a:lnRef idx="2">
            <a:schemeClr val="accent5"/>
          </a:lnRef>
          <a:fillRef idx="1">
            <a:schemeClr val="lt1"/>
          </a:fillRef>
          <a:effectRef idx="0">
            <a:schemeClr val="accent5"/>
          </a:effectRef>
          <a:fontRef idx="minor">
            <a:schemeClr val="dk1"/>
          </a:fontRef>
        </p:style>
        <p:txBody>
          <a:bodyPr/>
          <a:lstStyle/>
          <a:p>
            <a:r>
              <a:rPr lang="en-US" i="1" dirty="0"/>
              <a:t>What is the purpose of function prototypes? </a:t>
            </a:r>
          </a:p>
        </p:txBody>
      </p:sp>
      <p:sp>
        <p:nvSpPr>
          <p:cNvPr id="3" name="Content Placeholder 2">
            <a:extLst>
              <a:ext uri="{FF2B5EF4-FFF2-40B4-BE49-F238E27FC236}">
                <a16:creationId xmlns:a16="http://schemas.microsoft.com/office/drawing/2014/main" id="{0535607B-FF20-DC39-DB0D-D35EE5B3707D}"/>
              </a:ext>
            </a:extLst>
          </p:cNvPr>
          <p:cNvSpPr>
            <a:spLocks noGrp="1"/>
          </p:cNvSpPr>
          <p:nvPr>
            <p:ph idx="1"/>
          </p:nvPr>
        </p:nvSpPr>
        <p:spPr>
          <a:xfrm>
            <a:off x="821267" y="4309533"/>
            <a:ext cx="10515600" cy="2323042"/>
          </a:xfrm>
        </p:spPr>
        <p:style>
          <a:lnRef idx="2">
            <a:schemeClr val="dk1"/>
          </a:lnRef>
          <a:fillRef idx="1">
            <a:schemeClr val="lt1"/>
          </a:fillRef>
          <a:effectRef idx="0">
            <a:schemeClr val="dk1"/>
          </a:effectRef>
          <a:fontRef idx="minor">
            <a:schemeClr val="dk1"/>
          </a:fontRef>
        </p:style>
        <p:txBody>
          <a:bodyPr>
            <a:normAutofit/>
          </a:bodyPr>
          <a:lstStyle/>
          <a:p>
            <a:pPr algn="l"/>
            <a:r>
              <a:rPr lang="en-US" b="0" i="0" u="none" strike="noStrike" baseline="0" dirty="0"/>
              <a:t>A function prototype tells the compiler the number and type of arguments that are to be passed to the function and the type of the value that is to be returned by the function.</a:t>
            </a:r>
          </a:p>
          <a:p>
            <a:pPr algn="l"/>
            <a:r>
              <a:rPr lang="en-US" dirty="0"/>
              <a:t>Function prototypes allow the compiler to check the code more thoroughly.</a:t>
            </a:r>
          </a:p>
        </p:txBody>
      </p:sp>
      <p:pic>
        <p:nvPicPr>
          <p:cNvPr id="2050" name="Picture 2" descr="States join in tribute to first flight of Orville and Wilbur Wright">
            <a:extLst>
              <a:ext uri="{FF2B5EF4-FFF2-40B4-BE49-F238E27FC236}">
                <a16:creationId xmlns:a16="http://schemas.microsoft.com/office/drawing/2014/main" id="{F8EF812F-CAA8-C7A5-395C-BB60E2FC5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067" y="1783904"/>
            <a:ext cx="10481732" cy="22419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25D4C76-BD2C-6699-758D-A447387B3341}"/>
              </a:ext>
            </a:extLst>
          </p:cNvPr>
          <p:cNvSpPr txBox="1"/>
          <p:nvPr/>
        </p:nvSpPr>
        <p:spPr>
          <a:xfrm>
            <a:off x="838200" y="1948587"/>
            <a:ext cx="1511300" cy="923330"/>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Compiler checking the prototype:</a:t>
            </a:r>
          </a:p>
        </p:txBody>
      </p:sp>
      <p:sp>
        <p:nvSpPr>
          <p:cNvPr id="8" name="TextBox 7">
            <a:extLst>
              <a:ext uri="{FF2B5EF4-FFF2-40B4-BE49-F238E27FC236}">
                <a16:creationId xmlns:a16="http://schemas.microsoft.com/office/drawing/2014/main" id="{7611E323-767A-5944-7851-0E3C5654D917}"/>
              </a:ext>
            </a:extLst>
          </p:cNvPr>
          <p:cNvSpPr txBox="1"/>
          <p:nvPr/>
        </p:nvSpPr>
        <p:spPr>
          <a:xfrm>
            <a:off x="5181600" y="1893554"/>
            <a:ext cx="1828800" cy="369332"/>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C Programmer:</a:t>
            </a:r>
          </a:p>
        </p:txBody>
      </p:sp>
    </p:spTree>
    <p:extLst>
      <p:ext uri="{BB962C8B-B14F-4D97-AF65-F5344CB8AC3E}">
        <p14:creationId xmlns:p14="http://schemas.microsoft.com/office/powerpoint/2010/main" val="3707222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9516-D6DE-9300-B6AB-C43F55C7221B}"/>
              </a:ext>
            </a:extLst>
          </p:cNvPr>
          <p:cNvSpPr>
            <a:spLocks noGrp="1"/>
          </p:cNvSpPr>
          <p:nvPr>
            <p:ph type="title"/>
          </p:nvPr>
        </p:nvSpPr>
        <p:spPr>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6200000" scaled="1"/>
            <a:tileRect/>
          </a:gradFill>
          <a:ln>
            <a:noFill/>
          </a:ln>
        </p:spPr>
        <p:style>
          <a:lnRef idx="2">
            <a:schemeClr val="accent5"/>
          </a:lnRef>
          <a:fillRef idx="1">
            <a:schemeClr val="lt1"/>
          </a:fillRef>
          <a:effectRef idx="0">
            <a:schemeClr val="accent5"/>
          </a:effectRef>
          <a:fontRef idx="minor">
            <a:schemeClr val="dk1"/>
          </a:fontRef>
        </p:style>
        <p:txBody>
          <a:bodyPr/>
          <a:lstStyle/>
          <a:p>
            <a:pPr algn="ctr"/>
            <a:r>
              <a:rPr lang="en-US" dirty="0"/>
              <a:t>Side Note 1: Macros in C </a:t>
            </a:r>
          </a:p>
        </p:txBody>
      </p:sp>
      <p:sp>
        <p:nvSpPr>
          <p:cNvPr id="3" name="Content Placeholder 2">
            <a:extLst>
              <a:ext uri="{FF2B5EF4-FFF2-40B4-BE49-F238E27FC236}">
                <a16:creationId xmlns:a16="http://schemas.microsoft.com/office/drawing/2014/main" id="{382AA0B6-7E3B-4867-4035-98FF300FDDEF}"/>
              </a:ext>
            </a:extLst>
          </p:cNvPr>
          <p:cNvSpPr>
            <a:spLocks noGrp="1"/>
          </p:cNvSpPr>
          <p:nvPr>
            <p:ph idx="1"/>
          </p:nvPr>
        </p:nvSpPr>
        <p:spPr/>
        <p:txBody>
          <a:bodyPr/>
          <a:lstStyle/>
          <a:p>
            <a:r>
              <a:rPr lang="en-US" dirty="0"/>
              <a:t>You can actually put the entire function in a single line if you so desire:</a:t>
            </a:r>
          </a:p>
        </p:txBody>
      </p:sp>
      <p:sp>
        <p:nvSpPr>
          <p:cNvPr id="4" name="Shape 190">
            <a:extLst>
              <a:ext uri="{FF2B5EF4-FFF2-40B4-BE49-F238E27FC236}">
                <a16:creationId xmlns:a16="http://schemas.microsoft.com/office/drawing/2014/main" id="{BF2F5326-72EB-CEE9-793C-7A1999E30EE6}"/>
              </a:ext>
            </a:extLst>
          </p:cNvPr>
          <p:cNvSpPr/>
          <p:nvPr/>
        </p:nvSpPr>
        <p:spPr>
          <a:xfrm>
            <a:off x="1921032" y="2941385"/>
            <a:ext cx="8349936" cy="3048001"/>
          </a:xfrm>
          <a:prstGeom prst="rect">
            <a:avLst/>
          </a:prstGeom>
          <a:solidFill>
            <a:schemeClr val="bg2"/>
          </a:solidFill>
          <a:ln w="12700">
            <a:miter lim="400000"/>
          </a:ln>
          <a:effectLst>
            <a:outerShdw blurRad="177800" dist="139700" dir="5400000" rotWithShape="0">
              <a:srgbClr val="000000">
                <a:alpha val="50000"/>
              </a:srgbClr>
            </a:outerShdw>
          </a:effectLst>
          <a:extLst>
            <a:ext uri="{C572A759-6A51-4108-AA02-DFA0A04FC94B}">
              <ma14:wrappingTextBoxFlag xmlns="" xmlns:ma14="http://schemas.microsoft.com/office/mac/drawingml/2011/main" val="1"/>
            </a:ext>
          </a:extLst>
        </p:spPr>
        <p:txBody>
          <a:bodyPr lIns="0" tIns="0" rIns="0" bIns="0" anchor="ctr">
            <a:spAutoFit/>
          </a:bodyPr>
          <a:lstStyle/>
          <a:p>
            <a:pPr lvl="0" algn="l" defTabSz="457200">
              <a:defRPr sz="1800"/>
            </a:pPr>
            <a:r>
              <a:rPr sz="2400" b="1" dirty="0">
                <a:latin typeface="Courier"/>
                <a:ea typeface="Courier"/>
                <a:cs typeface="Courier"/>
                <a:sym typeface="Courier"/>
              </a:rPr>
              <a:t>#define MIN(</a:t>
            </a:r>
            <a:r>
              <a:rPr sz="2400" b="1" dirty="0" err="1">
                <a:latin typeface="Courier"/>
                <a:ea typeface="Courier"/>
                <a:cs typeface="Courier"/>
                <a:sym typeface="Courier"/>
              </a:rPr>
              <a:t>x,y</a:t>
            </a:r>
            <a:r>
              <a:rPr sz="2400" b="1" dirty="0">
                <a:latin typeface="Courier"/>
                <a:ea typeface="Courier"/>
                <a:cs typeface="Courier"/>
                <a:sym typeface="Courier"/>
              </a:rPr>
              <a:t>) ((x) &lt;  (y) ? (x) : (y))</a:t>
            </a:r>
          </a:p>
          <a:p>
            <a:pPr lvl="0" algn="l" defTabSz="457200">
              <a:defRPr sz="1800"/>
            </a:pPr>
            <a:r>
              <a:rPr sz="2400" b="1" dirty="0">
                <a:latin typeface="Courier"/>
                <a:ea typeface="Courier"/>
                <a:cs typeface="Courier"/>
                <a:sym typeface="Courier"/>
              </a:rPr>
              <a:t>#define MAX(</a:t>
            </a:r>
            <a:r>
              <a:rPr sz="2400" b="1" dirty="0" err="1">
                <a:latin typeface="Courier"/>
                <a:ea typeface="Courier"/>
                <a:cs typeface="Courier"/>
                <a:sym typeface="Courier"/>
              </a:rPr>
              <a:t>x,y</a:t>
            </a:r>
            <a:r>
              <a:rPr sz="2400" b="1" dirty="0">
                <a:latin typeface="Courier"/>
                <a:ea typeface="Courier"/>
                <a:cs typeface="Courier"/>
                <a:sym typeface="Courier"/>
              </a:rPr>
              <a:t>) ((x) &gt;= (y) ? (x) : (y))</a:t>
            </a:r>
          </a:p>
          <a:p>
            <a:pPr lvl="0" algn="l" defTabSz="457200">
              <a:defRPr sz="1800"/>
            </a:pPr>
            <a:endParaRPr sz="2400" b="1" dirty="0">
              <a:latin typeface="Courier"/>
              <a:ea typeface="Courier"/>
              <a:cs typeface="Courier"/>
              <a:sym typeface="Courier"/>
            </a:endParaRPr>
          </a:p>
          <a:p>
            <a:pPr lvl="0" algn="l" defTabSz="457200">
              <a:defRPr sz="1800"/>
            </a:pPr>
            <a:r>
              <a:rPr sz="2400" b="1" dirty="0" err="1">
                <a:latin typeface="Courier"/>
                <a:ea typeface="Courier"/>
                <a:cs typeface="Courier"/>
                <a:sym typeface="Courier"/>
              </a:rPr>
              <a:t>int</a:t>
            </a:r>
            <a:r>
              <a:rPr sz="2400" b="1" dirty="0">
                <a:latin typeface="Courier"/>
                <a:ea typeface="Courier"/>
                <a:cs typeface="Courier"/>
                <a:sym typeface="Courier"/>
              </a:rPr>
              <a:t> main()</a:t>
            </a:r>
          </a:p>
          <a:p>
            <a:pPr lvl="0" algn="l" defTabSz="457200">
              <a:defRPr sz="1800"/>
            </a:pPr>
            <a:r>
              <a:rPr sz="2400" b="1" dirty="0">
                <a:latin typeface="Courier"/>
                <a:ea typeface="Courier"/>
                <a:cs typeface="Courier"/>
                <a:sym typeface="Courier"/>
              </a:rPr>
              <a:t>{</a:t>
            </a:r>
          </a:p>
          <a:p>
            <a:pPr lvl="0" algn="l" defTabSz="457200">
              <a:defRPr sz="1800"/>
            </a:pPr>
            <a:r>
              <a:rPr sz="2400" b="1" dirty="0">
                <a:latin typeface="Courier"/>
                <a:ea typeface="Courier"/>
                <a:cs typeface="Courier"/>
                <a:sym typeface="Courier"/>
              </a:rPr>
              <a:t>	</a:t>
            </a:r>
            <a:r>
              <a:rPr sz="2400" b="1" dirty="0" err="1">
                <a:latin typeface="Courier"/>
                <a:ea typeface="Courier"/>
                <a:cs typeface="Courier"/>
                <a:sym typeface="Courier"/>
              </a:rPr>
              <a:t>int</a:t>
            </a:r>
            <a:r>
              <a:rPr sz="2400" b="1" dirty="0">
                <a:latin typeface="Courier"/>
                <a:ea typeface="Courier"/>
                <a:cs typeface="Courier"/>
                <a:sym typeface="Courier"/>
              </a:rPr>
              <a:t> a = 10,</a:t>
            </a:r>
            <a:r>
              <a:rPr lang="en-US" sz="2400" b="1" dirty="0">
                <a:latin typeface="Courier"/>
                <a:ea typeface="Courier"/>
                <a:cs typeface="Courier"/>
                <a:sym typeface="Courier"/>
              </a:rPr>
              <a:t> </a:t>
            </a:r>
            <a:r>
              <a:rPr sz="2400" b="1" dirty="0">
                <a:latin typeface="Courier"/>
                <a:ea typeface="Courier"/>
                <a:cs typeface="Courier"/>
                <a:sym typeface="Courier"/>
              </a:rPr>
              <a:t>b = 20;</a:t>
            </a:r>
          </a:p>
          <a:p>
            <a:pPr lvl="0" algn="l" defTabSz="457200">
              <a:defRPr sz="1800"/>
            </a:pPr>
            <a:r>
              <a:rPr sz="2400" b="1" dirty="0">
                <a:latin typeface="Courier"/>
                <a:ea typeface="Courier"/>
                <a:cs typeface="Courier"/>
                <a:sym typeface="Courier"/>
              </a:rPr>
              <a:t>	</a:t>
            </a:r>
            <a:r>
              <a:rPr sz="2400" b="1" dirty="0" err="1">
                <a:latin typeface="Courier"/>
                <a:ea typeface="Courier"/>
                <a:cs typeface="Courier"/>
                <a:sym typeface="Courier"/>
              </a:rPr>
              <a:t>int</a:t>
            </a:r>
            <a:r>
              <a:rPr sz="2400" b="1" dirty="0">
                <a:latin typeface="Courier"/>
                <a:ea typeface="Courier"/>
                <a:cs typeface="Courier"/>
                <a:sym typeface="Courier"/>
              </a:rPr>
              <a:t> x = MIN(</a:t>
            </a:r>
            <a:r>
              <a:rPr sz="2400" b="1" dirty="0" err="1">
                <a:latin typeface="Courier"/>
                <a:ea typeface="Courier"/>
                <a:cs typeface="Courier"/>
                <a:sym typeface="Courier"/>
              </a:rPr>
              <a:t>a,b</a:t>
            </a:r>
            <a:r>
              <a:rPr sz="2400" b="1" dirty="0">
                <a:latin typeface="Courier"/>
                <a:ea typeface="Courier"/>
                <a:cs typeface="Courier"/>
                <a:sym typeface="Courier"/>
              </a:rPr>
              <a:t>);</a:t>
            </a:r>
          </a:p>
          <a:p>
            <a:pPr lvl="0" algn="l" defTabSz="457200">
              <a:defRPr sz="1800"/>
            </a:pPr>
            <a:r>
              <a:rPr sz="2400" b="1" dirty="0">
                <a:latin typeface="Courier"/>
                <a:ea typeface="Courier"/>
                <a:cs typeface="Courier"/>
                <a:sym typeface="Courier"/>
              </a:rPr>
              <a:t>}</a:t>
            </a:r>
          </a:p>
        </p:txBody>
      </p:sp>
    </p:spTree>
    <p:extLst>
      <p:ext uri="{BB962C8B-B14F-4D97-AF65-F5344CB8AC3E}">
        <p14:creationId xmlns:p14="http://schemas.microsoft.com/office/powerpoint/2010/main" val="3961763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42458-C593-B9EC-2221-E06CBC88AC93}"/>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a:t>Side Note 2: </a:t>
            </a:r>
            <a:r>
              <a:rPr lang="en-US" dirty="0"/>
              <a:t>Recursion in C</a:t>
            </a:r>
          </a:p>
        </p:txBody>
      </p:sp>
      <p:sp>
        <p:nvSpPr>
          <p:cNvPr id="3" name="Content Placeholder 2">
            <a:extLst>
              <a:ext uri="{FF2B5EF4-FFF2-40B4-BE49-F238E27FC236}">
                <a16:creationId xmlns:a16="http://schemas.microsoft.com/office/drawing/2014/main" id="{34A398E9-9023-C1CB-66E2-5FCCAE6A0545}"/>
              </a:ext>
            </a:extLst>
          </p:cNvPr>
          <p:cNvSpPr>
            <a:spLocks noGrp="1"/>
          </p:cNvSpPr>
          <p:nvPr>
            <p:ph idx="1"/>
          </p:nvPr>
        </p:nvSpPr>
        <p:spPr>
          <a:xfrm>
            <a:off x="838200" y="1821615"/>
            <a:ext cx="10515600" cy="833353"/>
          </a:xfrm>
          <a:ln>
            <a:noFill/>
          </a:ln>
        </p:spPr>
        <p:style>
          <a:lnRef idx="2">
            <a:schemeClr val="dk1"/>
          </a:lnRef>
          <a:fillRef idx="1">
            <a:schemeClr val="lt1"/>
          </a:fillRef>
          <a:effectRef idx="0">
            <a:schemeClr val="dk1"/>
          </a:effectRef>
          <a:fontRef idx="minor">
            <a:schemeClr val="dk1"/>
          </a:fontRef>
        </p:style>
        <p:txBody>
          <a:bodyPr/>
          <a:lstStyle/>
          <a:p>
            <a:pPr marL="0" indent="0">
              <a:buNone/>
            </a:pPr>
            <a:r>
              <a:rPr lang="en-US" dirty="0"/>
              <a:t>C does support recursive programming…</a:t>
            </a:r>
          </a:p>
        </p:txBody>
      </p:sp>
      <p:sp>
        <p:nvSpPr>
          <p:cNvPr id="4" name="int power(int base,int n) {…">
            <a:extLst>
              <a:ext uri="{FF2B5EF4-FFF2-40B4-BE49-F238E27FC236}">
                <a16:creationId xmlns:a16="http://schemas.microsoft.com/office/drawing/2014/main" id="{BB613F31-A2CB-28EB-B46B-046D5C516E0F}"/>
              </a:ext>
            </a:extLst>
          </p:cNvPr>
          <p:cNvSpPr txBox="1"/>
          <p:nvPr/>
        </p:nvSpPr>
        <p:spPr>
          <a:xfrm>
            <a:off x="270252" y="3218070"/>
            <a:ext cx="5110845" cy="3057247"/>
          </a:xfrm>
          <a:prstGeom prst="rect">
            <a:avLst/>
          </a:prstGeom>
          <a:solidFill>
            <a:schemeClr val="bg1">
              <a:lumMod val="85000"/>
            </a:schemeClr>
          </a:solidFill>
          <a:ln w="12700">
            <a:miter lim="400000"/>
          </a:ln>
          <a:effectLst>
            <a:outerShdw blurRad="177800" dist="139700" dir="5400000" rotWithShape="0">
              <a:srgbClr val="000000">
                <a:alpha val="50000"/>
              </a:srgbClr>
            </a:outerShdw>
          </a:effectLst>
          <a:extLst>
            <a:ext uri="{C572A759-6A51-4108-AA02-DFA0A04FC94B}">
              <ma14:wrappingTextBoxFlag xmlns:ma14="http://schemas.microsoft.com/office/mac/drawingml/2011/main" xmlns="" val="1"/>
            </a:ext>
          </a:extLst>
        </p:spPr>
        <p:txBody>
          <a:bodyPr lIns="50800" tIns="50800" rIns="50800" bIns="50800" anchor="ctr">
            <a:spAutoFit/>
          </a:bodyPr>
          <a:lstStyle/>
          <a:p>
            <a:pPr algn="l" defTabSz="457200">
              <a:defRPr sz="2400">
                <a:solidFill>
                  <a:srgbClr val="7F87CF"/>
                </a:solidFill>
                <a:latin typeface="Courier"/>
                <a:ea typeface="Courier"/>
                <a:cs typeface="Courier"/>
                <a:sym typeface="Courier"/>
              </a:defRPr>
            </a:pPr>
            <a:r>
              <a:rPr dirty="0" err="1"/>
              <a:t>int</a:t>
            </a:r>
            <a:r>
              <a:rPr dirty="0"/>
              <a:t> power(</a:t>
            </a:r>
            <a:r>
              <a:rPr dirty="0" err="1"/>
              <a:t>int</a:t>
            </a:r>
            <a:r>
              <a:rPr dirty="0"/>
              <a:t> </a:t>
            </a:r>
            <a:r>
              <a:rPr dirty="0" err="1"/>
              <a:t>base,int</a:t>
            </a:r>
            <a:r>
              <a:rPr dirty="0"/>
              <a:t> n) {</a:t>
            </a:r>
          </a:p>
          <a:p>
            <a:pPr algn="l" defTabSz="457200">
              <a:defRPr sz="2400">
                <a:solidFill>
                  <a:srgbClr val="7F87CF"/>
                </a:solidFill>
                <a:latin typeface="Courier"/>
                <a:ea typeface="Courier"/>
                <a:cs typeface="Courier"/>
                <a:sym typeface="Courier"/>
              </a:defRPr>
            </a:pPr>
            <a:r>
              <a:rPr dirty="0"/>
              <a:t>   </a:t>
            </a:r>
            <a:r>
              <a:rPr dirty="0" err="1"/>
              <a:t>int</a:t>
            </a:r>
            <a:r>
              <a:rPr dirty="0"/>
              <a:t> </a:t>
            </a:r>
            <a:r>
              <a:rPr dirty="0" err="1"/>
              <a:t>rv</a:t>
            </a:r>
            <a:r>
              <a:rPr dirty="0"/>
              <a:t> = 1;</a:t>
            </a:r>
          </a:p>
          <a:p>
            <a:pPr algn="l" defTabSz="457200">
              <a:defRPr sz="2400">
                <a:solidFill>
                  <a:srgbClr val="7F87CF"/>
                </a:solidFill>
                <a:latin typeface="Courier"/>
                <a:ea typeface="Courier"/>
                <a:cs typeface="Courier"/>
                <a:sym typeface="Courier"/>
              </a:defRPr>
            </a:pPr>
            <a:r>
              <a:rPr dirty="0"/>
              <a:t>   while (n</a:t>
            </a:r>
            <a:r>
              <a:rPr lang="en-US" dirty="0"/>
              <a:t>&gt;0</a:t>
            </a:r>
            <a:r>
              <a:rPr dirty="0"/>
              <a:t>) {</a:t>
            </a:r>
          </a:p>
          <a:p>
            <a:pPr algn="l" defTabSz="457200">
              <a:defRPr sz="2400">
                <a:solidFill>
                  <a:srgbClr val="7F87CF"/>
                </a:solidFill>
                <a:latin typeface="Courier"/>
                <a:ea typeface="Courier"/>
                <a:cs typeface="Courier"/>
                <a:sym typeface="Courier"/>
              </a:defRPr>
            </a:pPr>
            <a:r>
              <a:rPr dirty="0"/>
              <a:t>      </a:t>
            </a:r>
            <a:r>
              <a:rPr dirty="0" err="1"/>
              <a:t>rv</a:t>
            </a:r>
            <a:r>
              <a:rPr dirty="0"/>
              <a:t> *= base;</a:t>
            </a:r>
          </a:p>
          <a:p>
            <a:pPr algn="l" defTabSz="457200">
              <a:defRPr sz="2400">
                <a:solidFill>
                  <a:srgbClr val="7F87CF"/>
                </a:solidFill>
                <a:latin typeface="Courier"/>
                <a:ea typeface="Courier"/>
                <a:cs typeface="Courier"/>
                <a:sym typeface="Courier"/>
              </a:defRPr>
            </a:pPr>
            <a:r>
              <a:rPr dirty="0"/>
              <a:t>      n</a:t>
            </a:r>
            <a:r>
              <a:rPr lang="en-US" dirty="0"/>
              <a:t>--</a:t>
            </a:r>
            <a:r>
              <a:rPr dirty="0"/>
              <a:t>;</a:t>
            </a:r>
          </a:p>
          <a:p>
            <a:pPr algn="l" defTabSz="457200">
              <a:defRPr sz="2400">
                <a:solidFill>
                  <a:srgbClr val="7F87CF"/>
                </a:solidFill>
                <a:latin typeface="Courier"/>
                <a:ea typeface="Courier"/>
                <a:cs typeface="Courier"/>
                <a:sym typeface="Courier"/>
              </a:defRPr>
            </a:pPr>
            <a:r>
              <a:rPr dirty="0"/>
              <a:t>   }</a:t>
            </a:r>
          </a:p>
          <a:p>
            <a:pPr algn="l" defTabSz="457200">
              <a:defRPr sz="2400">
                <a:solidFill>
                  <a:srgbClr val="7F87CF"/>
                </a:solidFill>
                <a:latin typeface="Courier"/>
                <a:ea typeface="Courier"/>
                <a:cs typeface="Courier"/>
                <a:sym typeface="Courier"/>
              </a:defRPr>
            </a:pPr>
            <a:r>
              <a:rPr dirty="0"/>
              <a:t>   return </a:t>
            </a:r>
            <a:r>
              <a:rPr dirty="0" err="1"/>
              <a:t>rv</a:t>
            </a:r>
            <a:r>
              <a:rPr dirty="0"/>
              <a:t>;</a:t>
            </a:r>
          </a:p>
          <a:p>
            <a:pPr algn="l" defTabSz="457200">
              <a:defRPr sz="2400">
                <a:solidFill>
                  <a:srgbClr val="7F87CF"/>
                </a:solidFill>
                <a:latin typeface="Courier"/>
                <a:ea typeface="Courier"/>
                <a:cs typeface="Courier"/>
                <a:sym typeface="Courier"/>
              </a:defRPr>
            </a:pPr>
            <a:r>
              <a:rPr dirty="0"/>
              <a:t>}</a:t>
            </a:r>
          </a:p>
        </p:txBody>
      </p:sp>
      <p:sp>
        <p:nvSpPr>
          <p:cNvPr id="5" name="int power(int base,int n) {…">
            <a:extLst>
              <a:ext uri="{FF2B5EF4-FFF2-40B4-BE49-F238E27FC236}">
                <a16:creationId xmlns:a16="http://schemas.microsoft.com/office/drawing/2014/main" id="{46D51F93-50D8-EC70-7F90-32EFC7074567}"/>
              </a:ext>
            </a:extLst>
          </p:cNvPr>
          <p:cNvSpPr txBox="1"/>
          <p:nvPr/>
        </p:nvSpPr>
        <p:spPr>
          <a:xfrm>
            <a:off x="5773198" y="3218070"/>
            <a:ext cx="6074039" cy="3057247"/>
          </a:xfrm>
          <a:prstGeom prst="rect">
            <a:avLst/>
          </a:prstGeom>
          <a:solidFill>
            <a:schemeClr val="bg1">
              <a:lumMod val="85000"/>
            </a:schemeClr>
          </a:solidFill>
          <a:ln w="12700">
            <a:miter lim="400000"/>
          </a:ln>
          <a:effectLst>
            <a:outerShdw blurRad="177800" dist="139700" dir="5400000" rotWithShape="0">
              <a:srgbClr val="000000">
                <a:alpha val="50000"/>
              </a:srgbClr>
            </a:outerShdw>
          </a:effectLst>
          <a:extLst>
            <a:ext uri="{C572A759-6A51-4108-AA02-DFA0A04FC94B}">
              <ma14:wrappingTextBoxFlag xmlns:ma14="http://schemas.microsoft.com/office/mac/drawingml/2011/main" xmlns="" val="1"/>
            </a:ext>
          </a:extLst>
        </p:spPr>
        <p:txBody>
          <a:bodyPr wrap="square" lIns="50800" tIns="50800" rIns="50800" bIns="50800" anchor="ctr">
            <a:spAutoFit/>
          </a:bodyPr>
          <a:lstStyle/>
          <a:p>
            <a:pPr algn="l" defTabSz="457200">
              <a:defRPr sz="2400">
                <a:solidFill>
                  <a:srgbClr val="6A8188"/>
                </a:solidFill>
                <a:latin typeface="Courier"/>
                <a:ea typeface="Courier"/>
                <a:cs typeface="Courier"/>
                <a:sym typeface="Courier"/>
              </a:defRPr>
            </a:pPr>
            <a:r>
              <a:rPr lang="en-US" dirty="0" err="1">
                <a:solidFill>
                  <a:srgbClr val="96A700"/>
                </a:solidFill>
              </a:rPr>
              <a:t>int</a:t>
            </a:r>
            <a:r>
              <a:rPr lang="en-US" dirty="0"/>
              <a:t> power(</a:t>
            </a:r>
            <a:r>
              <a:rPr lang="en-US" dirty="0" err="1">
                <a:solidFill>
                  <a:srgbClr val="96A700"/>
                </a:solidFill>
              </a:rPr>
              <a:t>int</a:t>
            </a:r>
            <a:r>
              <a:rPr lang="en-US" dirty="0"/>
              <a:t> </a:t>
            </a:r>
            <a:r>
              <a:rPr lang="en-US" dirty="0" err="1">
                <a:solidFill>
                  <a:srgbClr val="788E95"/>
                </a:solidFill>
              </a:rPr>
              <a:t>base</a:t>
            </a:r>
            <a:r>
              <a:rPr lang="en-US" dirty="0" err="1"/>
              <a:t>,</a:t>
            </a:r>
            <a:r>
              <a:rPr lang="en-US" dirty="0" err="1">
                <a:solidFill>
                  <a:srgbClr val="96A700"/>
                </a:solidFill>
              </a:rPr>
              <a:t>int</a:t>
            </a:r>
            <a:r>
              <a:rPr lang="en-US" dirty="0"/>
              <a:t> </a:t>
            </a:r>
            <a:r>
              <a:rPr lang="en-US" dirty="0">
                <a:solidFill>
                  <a:srgbClr val="788E95"/>
                </a:solidFill>
              </a:rPr>
              <a:t>n</a:t>
            </a:r>
            <a:r>
              <a:rPr lang="en-US" dirty="0"/>
              <a:t>) {</a:t>
            </a:r>
          </a:p>
          <a:p>
            <a:pPr algn="l" defTabSz="457200">
              <a:defRPr sz="2400">
                <a:latin typeface="Courier"/>
                <a:ea typeface="Courier"/>
                <a:cs typeface="Courier"/>
                <a:sym typeface="Courier"/>
              </a:defRPr>
            </a:pPr>
            <a:r>
              <a:rPr lang="en-US" dirty="0"/>
              <a:t>   </a:t>
            </a:r>
            <a:r>
              <a:rPr lang="en-US" dirty="0">
                <a:solidFill>
                  <a:srgbClr val="D7601B"/>
                </a:solidFill>
              </a:rPr>
              <a:t>if</a:t>
            </a:r>
            <a:r>
              <a:rPr lang="en-US" dirty="0"/>
              <a:t> </a:t>
            </a:r>
            <a:r>
              <a:rPr lang="en-US" dirty="0">
                <a:solidFill>
                  <a:srgbClr val="6A8188"/>
                </a:solidFill>
              </a:rPr>
              <a:t>(</a:t>
            </a:r>
            <a:r>
              <a:rPr lang="en-US" dirty="0">
                <a:solidFill>
                  <a:srgbClr val="788E95"/>
                </a:solidFill>
              </a:rPr>
              <a:t>n</a:t>
            </a:r>
            <a:r>
              <a:rPr lang="en-US" dirty="0">
                <a:solidFill>
                  <a:srgbClr val="6A8188"/>
                </a:solidFill>
              </a:rPr>
              <a:t>==</a:t>
            </a:r>
            <a:r>
              <a:rPr lang="en-US" dirty="0">
                <a:solidFill>
                  <a:srgbClr val="E5493D"/>
                </a:solidFill>
              </a:rPr>
              <a:t>0</a:t>
            </a:r>
            <a:r>
              <a:rPr lang="en-US" dirty="0">
                <a:solidFill>
                  <a:srgbClr val="6A8188"/>
                </a:solidFill>
              </a:rPr>
              <a:t>)</a:t>
            </a:r>
          </a:p>
          <a:p>
            <a:pPr algn="l" defTabSz="457200">
              <a:defRPr sz="2400">
                <a:latin typeface="Courier"/>
                <a:ea typeface="Courier"/>
                <a:cs typeface="Courier"/>
                <a:sym typeface="Courier"/>
              </a:defRPr>
            </a:pPr>
            <a:r>
              <a:rPr lang="en-US" dirty="0"/>
              <a:t>      </a:t>
            </a:r>
            <a:r>
              <a:rPr lang="en-US" dirty="0">
                <a:solidFill>
                  <a:srgbClr val="D7601B"/>
                </a:solidFill>
              </a:rPr>
              <a:t>return</a:t>
            </a:r>
            <a:r>
              <a:rPr lang="en-US" dirty="0"/>
              <a:t> </a:t>
            </a:r>
            <a:r>
              <a:rPr lang="en-US" dirty="0">
                <a:solidFill>
                  <a:srgbClr val="E5493D"/>
                </a:solidFill>
              </a:rPr>
              <a:t>1</a:t>
            </a:r>
            <a:r>
              <a:rPr lang="en-US" dirty="0">
                <a:solidFill>
                  <a:srgbClr val="6A8188"/>
                </a:solidFill>
              </a:rPr>
              <a:t>;</a:t>
            </a:r>
          </a:p>
          <a:p>
            <a:pPr algn="l" defTabSz="457200">
              <a:defRPr sz="2400">
                <a:solidFill>
                  <a:srgbClr val="D7601B"/>
                </a:solidFill>
                <a:latin typeface="Courier"/>
                <a:ea typeface="Courier"/>
                <a:cs typeface="Courier"/>
                <a:sym typeface="Courier"/>
              </a:defRPr>
            </a:pPr>
            <a:r>
              <a:rPr lang="en-US" dirty="0"/>
              <a:t>   else </a:t>
            </a:r>
            <a:r>
              <a:rPr lang="en-US" dirty="0">
                <a:solidFill>
                  <a:srgbClr val="6A8188"/>
                </a:solidFill>
              </a:rPr>
              <a:t>{</a:t>
            </a:r>
            <a:endParaRPr lang="en-US" dirty="0"/>
          </a:p>
          <a:p>
            <a:pPr algn="l" defTabSz="457200">
              <a:defRPr sz="2400">
                <a:latin typeface="Courier"/>
                <a:ea typeface="Courier"/>
                <a:cs typeface="Courier"/>
                <a:sym typeface="Courier"/>
              </a:defRPr>
            </a:pPr>
            <a:r>
              <a:rPr lang="en-US" dirty="0"/>
              <a:t>      </a:t>
            </a:r>
            <a:r>
              <a:rPr lang="en-US" dirty="0" err="1">
                <a:solidFill>
                  <a:srgbClr val="96A700"/>
                </a:solidFill>
              </a:rPr>
              <a:t>int</a:t>
            </a:r>
            <a:r>
              <a:rPr lang="en-US" dirty="0"/>
              <a:t> </a:t>
            </a:r>
            <a:r>
              <a:rPr lang="en-US" dirty="0">
                <a:solidFill>
                  <a:srgbClr val="788E95"/>
                </a:solidFill>
              </a:rPr>
              <a:t>p</a:t>
            </a:r>
            <a:r>
              <a:rPr lang="en-US" dirty="0"/>
              <a:t> </a:t>
            </a:r>
            <a:r>
              <a:rPr lang="en-US" dirty="0">
                <a:solidFill>
                  <a:srgbClr val="6A8188"/>
                </a:solidFill>
              </a:rPr>
              <a:t>=</a:t>
            </a:r>
            <a:r>
              <a:rPr lang="en-US" dirty="0"/>
              <a:t> </a:t>
            </a:r>
            <a:r>
              <a:rPr lang="en-US" dirty="0">
                <a:solidFill>
                  <a:srgbClr val="6A8188"/>
                </a:solidFill>
              </a:rPr>
              <a:t>power(</a:t>
            </a:r>
            <a:r>
              <a:rPr lang="en-US" dirty="0">
                <a:solidFill>
                  <a:srgbClr val="788E95"/>
                </a:solidFill>
              </a:rPr>
              <a:t>base</a:t>
            </a:r>
            <a:r>
              <a:rPr lang="en-US" dirty="0">
                <a:solidFill>
                  <a:srgbClr val="6A8188"/>
                </a:solidFill>
              </a:rPr>
              <a:t>,</a:t>
            </a:r>
            <a:r>
              <a:rPr lang="en-US" dirty="0">
                <a:solidFill>
                  <a:srgbClr val="788E95"/>
                </a:solidFill>
              </a:rPr>
              <a:t>n</a:t>
            </a:r>
            <a:r>
              <a:rPr lang="en-US" dirty="0">
                <a:solidFill>
                  <a:srgbClr val="6A8188"/>
                </a:solidFill>
              </a:rPr>
              <a:t>-</a:t>
            </a:r>
            <a:r>
              <a:rPr lang="en-US" dirty="0">
                <a:solidFill>
                  <a:srgbClr val="E5493D"/>
                </a:solidFill>
              </a:rPr>
              <a:t>1</a:t>
            </a:r>
            <a:r>
              <a:rPr lang="en-US" dirty="0">
                <a:solidFill>
                  <a:srgbClr val="6A8188"/>
                </a:solidFill>
              </a:rPr>
              <a:t>);</a:t>
            </a:r>
          </a:p>
          <a:p>
            <a:pPr algn="l" defTabSz="457200">
              <a:defRPr sz="2400">
                <a:latin typeface="Courier"/>
                <a:ea typeface="Courier"/>
                <a:cs typeface="Courier"/>
                <a:sym typeface="Courier"/>
              </a:defRPr>
            </a:pPr>
            <a:r>
              <a:rPr lang="en-US" dirty="0"/>
              <a:t>      </a:t>
            </a:r>
            <a:r>
              <a:rPr lang="en-US" dirty="0">
                <a:solidFill>
                  <a:srgbClr val="D7601B"/>
                </a:solidFill>
              </a:rPr>
              <a:t>return</a:t>
            </a:r>
            <a:r>
              <a:rPr lang="en-US" dirty="0"/>
              <a:t> </a:t>
            </a:r>
            <a:r>
              <a:rPr lang="en-US" dirty="0">
                <a:solidFill>
                  <a:srgbClr val="788E95"/>
                </a:solidFill>
              </a:rPr>
              <a:t>base</a:t>
            </a:r>
            <a:r>
              <a:rPr lang="en-US" dirty="0"/>
              <a:t> </a:t>
            </a:r>
            <a:r>
              <a:rPr lang="en-US" dirty="0">
                <a:solidFill>
                  <a:srgbClr val="6A8188"/>
                </a:solidFill>
              </a:rPr>
              <a:t>*</a:t>
            </a:r>
            <a:r>
              <a:rPr lang="en-US" dirty="0"/>
              <a:t> </a:t>
            </a:r>
            <a:r>
              <a:rPr lang="en-US" dirty="0">
                <a:solidFill>
                  <a:srgbClr val="788E95"/>
                </a:solidFill>
              </a:rPr>
              <a:t>p</a:t>
            </a:r>
            <a:r>
              <a:rPr lang="en-US" dirty="0">
                <a:solidFill>
                  <a:srgbClr val="6A8188"/>
                </a:solidFill>
              </a:rPr>
              <a:t>;</a:t>
            </a:r>
          </a:p>
          <a:p>
            <a:pPr algn="l" defTabSz="457200">
              <a:defRPr sz="2400">
                <a:latin typeface="Courier"/>
                <a:ea typeface="Courier"/>
                <a:cs typeface="Courier"/>
                <a:sym typeface="Courier"/>
              </a:defRPr>
            </a:pPr>
            <a:r>
              <a:rPr lang="en-US" dirty="0"/>
              <a:t>   </a:t>
            </a:r>
            <a:r>
              <a:rPr lang="en-US" dirty="0">
                <a:solidFill>
                  <a:srgbClr val="6A8188"/>
                </a:solidFill>
              </a:rPr>
              <a:t>}</a:t>
            </a:r>
          </a:p>
          <a:p>
            <a:pPr algn="l" defTabSz="457200">
              <a:defRPr sz="2400">
                <a:solidFill>
                  <a:srgbClr val="6A8188"/>
                </a:solidFill>
                <a:latin typeface="Courier"/>
                <a:ea typeface="Courier"/>
                <a:cs typeface="Courier"/>
                <a:sym typeface="Courier"/>
              </a:defRPr>
            </a:pPr>
            <a:r>
              <a:rPr lang="en-US" dirty="0"/>
              <a:t>}</a:t>
            </a:r>
          </a:p>
        </p:txBody>
      </p:sp>
      <p:sp>
        <p:nvSpPr>
          <p:cNvPr id="6" name="TextBox 5">
            <a:extLst>
              <a:ext uri="{FF2B5EF4-FFF2-40B4-BE49-F238E27FC236}">
                <a16:creationId xmlns:a16="http://schemas.microsoft.com/office/drawing/2014/main" id="{372B75FF-098F-A1EF-C291-269F73BBEEB4}"/>
              </a:ext>
            </a:extLst>
          </p:cNvPr>
          <p:cNvSpPr txBox="1"/>
          <p:nvPr/>
        </p:nvSpPr>
        <p:spPr>
          <a:xfrm>
            <a:off x="678037" y="2785895"/>
            <a:ext cx="4295274" cy="369332"/>
          </a:xfrm>
          <a:prstGeom prst="rect">
            <a:avLst/>
          </a:prstGeom>
          <a:noFill/>
        </p:spPr>
        <p:txBody>
          <a:bodyPr wrap="square" rtlCol="0">
            <a:spAutoFit/>
          </a:bodyPr>
          <a:lstStyle/>
          <a:p>
            <a:r>
              <a:rPr lang="en-US" u="sng" dirty="0"/>
              <a:t>Non recursive way to write power function:</a:t>
            </a:r>
          </a:p>
        </p:txBody>
      </p:sp>
      <p:sp>
        <p:nvSpPr>
          <p:cNvPr id="8" name="TextBox 7">
            <a:extLst>
              <a:ext uri="{FF2B5EF4-FFF2-40B4-BE49-F238E27FC236}">
                <a16:creationId xmlns:a16="http://schemas.microsoft.com/office/drawing/2014/main" id="{557107DB-8864-57C4-F0F0-35305ACFEB22}"/>
              </a:ext>
            </a:extLst>
          </p:cNvPr>
          <p:cNvSpPr txBox="1"/>
          <p:nvPr/>
        </p:nvSpPr>
        <p:spPr>
          <a:xfrm>
            <a:off x="6525220" y="2785895"/>
            <a:ext cx="4569994" cy="369332"/>
          </a:xfrm>
          <a:prstGeom prst="rect">
            <a:avLst/>
          </a:prstGeom>
          <a:noFill/>
        </p:spPr>
        <p:txBody>
          <a:bodyPr wrap="square">
            <a:spAutoFit/>
          </a:bodyPr>
          <a:lstStyle/>
          <a:p>
            <a:pPr algn="ctr"/>
            <a:r>
              <a:rPr lang="en-US" u="sng" dirty="0"/>
              <a:t>Recursive way to write power function:</a:t>
            </a:r>
          </a:p>
        </p:txBody>
      </p:sp>
    </p:spTree>
    <p:extLst>
      <p:ext uri="{BB962C8B-B14F-4D97-AF65-F5344CB8AC3E}">
        <p14:creationId xmlns:p14="http://schemas.microsoft.com/office/powerpoint/2010/main" val="1549900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1C63-1404-2451-88A6-40DCFB71040E}"/>
              </a:ext>
            </a:extLst>
          </p:cNvPr>
          <p:cNvSpPr>
            <a:spLocks noGrp="1"/>
          </p:cNvSpPr>
          <p:nvPr>
            <p:ph type="title"/>
          </p:nvPr>
        </p:nvSpPr>
        <p:spPr>
          <a:xfrm>
            <a:off x="838200" y="18255"/>
            <a:ext cx="10515600" cy="1325563"/>
          </a:xfrm>
        </p:spPr>
        <p:txBody>
          <a:bodyPr/>
          <a:lstStyle/>
          <a:p>
            <a:pPr algn="ctr"/>
            <a:r>
              <a:rPr lang="en-US" u="sng" dirty="0"/>
              <a:t>Summary of the Basic Function Examples</a:t>
            </a:r>
          </a:p>
        </p:txBody>
      </p:sp>
      <p:sp>
        <p:nvSpPr>
          <p:cNvPr id="3" name="Content Placeholder 2">
            <a:extLst>
              <a:ext uri="{FF2B5EF4-FFF2-40B4-BE49-F238E27FC236}">
                <a16:creationId xmlns:a16="http://schemas.microsoft.com/office/drawing/2014/main" id="{11862B76-1C19-96EC-1F27-4D5B445238E5}"/>
              </a:ext>
            </a:extLst>
          </p:cNvPr>
          <p:cNvSpPr>
            <a:spLocks noGrp="1"/>
          </p:cNvSpPr>
          <p:nvPr>
            <p:ph idx="1"/>
          </p:nvPr>
        </p:nvSpPr>
        <p:spPr>
          <a:xfrm>
            <a:off x="838200" y="2806700"/>
            <a:ext cx="10515600" cy="3771901"/>
          </a:xfrm>
        </p:spPr>
        <p:style>
          <a:lnRef idx="2">
            <a:schemeClr val="accent5"/>
          </a:lnRef>
          <a:fillRef idx="1">
            <a:schemeClr val="lt1"/>
          </a:fillRef>
          <a:effectRef idx="0">
            <a:schemeClr val="accent5"/>
          </a:effectRef>
          <a:fontRef idx="minor">
            <a:schemeClr val="dk1"/>
          </a:fontRef>
        </p:style>
        <p:txBody>
          <a:bodyPr>
            <a:normAutofit lnSpcReduction="10000"/>
          </a:bodyPr>
          <a:lstStyle/>
          <a:p>
            <a:r>
              <a:rPr lang="en-US" dirty="0"/>
              <a:t>No nesting (cannot define functions in a function)</a:t>
            </a:r>
          </a:p>
          <a:p>
            <a:r>
              <a:rPr lang="en-US" dirty="0"/>
              <a:t>Return type can be “</a:t>
            </a:r>
            <a:r>
              <a:rPr lang="en-US" dirty="0">
                <a:solidFill>
                  <a:srgbClr val="FF0000"/>
                </a:solidFill>
              </a:rPr>
              <a:t>void</a:t>
            </a:r>
            <a:r>
              <a:rPr lang="en-US" dirty="0"/>
              <a:t>” (no return value expected)</a:t>
            </a:r>
          </a:p>
          <a:p>
            <a:pPr lvl="1"/>
            <a:r>
              <a:rPr lang="en-US" dirty="0"/>
              <a:t>If missing, compiler assumes int</a:t>
            </a:r>
          </a:p>
          <a:p>
            <a:r>
              <a:rPr lang="en-US" dirty="0"/>
              <a:t>Return statements:</a:t>
            </a:r>
          </a:p>
          <a:p>
            <a:endParaRPr lang="en-US" dirty="0"/>
          </a:p>
          <a:p>
            <a:endParaRPr lang="en-US" dirty="0"/>
          </a:p>
          <a:p>
            <a:r>
              <a:rPr lang="en-US" dirty="0"/>
              <a:t>Execution also terminates if end of function body reached</a:t>
            </a:r>
          </a:p>
          <a:p>
            <a:pPr lvl="1"/>
            <a:r>
              <a:rPr lang="en-US" dirty="0"/>
              <a:t>Returned value undefined</a:t>
            </a:r>
          </a:p>
          <a:p>
            <a:endParaRPr lang="en-US" dirty="0"/>
          </a:p>
          <a:p>
            <a:endParaRPr lang="en-US" dirty="0"/>
          </a:p>
        </p:txBody>
      </p:sp>
      <p:sp>
        <p:nvSpPr>
          <p:cNvPr id="4" name="&lt;returnType&gt; &lt;name&gt;(&lt;parameters&gt;) {…">
            <a:extLst>
              <a:ext uri="{FF2B5EF4-FFF2-40B4-BE49-F238E27FC236}">
                <a16:creationId xmlns:a16="http://schemas.microsoft.com/office/drawing/2014/main" id="{C3C4EB8A-97B5-874C-F311-BC823B742467}"/>
              </a:ext>
            </a:extLst>
          </p:cNvPr>
          <p:cNvSpPr txBox="1"/>
          <p:nvPr/>
        </p:nvSpPr>
        <p:spPr>
          <a:xfrm>
            <a:off x="2302933" y="1253331"/>
            <a:ext cx="7292061" cy="1210588"/>
          </a:xfrm>
          <a:prstGeom prst="rect">
            <a:avLst/>
          </a:prstGeom>
          <a:solidFill>
            <a:schemeClr val="bg1">
              <a:lumMod val="95000"/>
            </a:schemeClr>
          </a:solidFill>
          <a:ln w="12700">
            <a:miter lim="400000"/>
          </a:ln>
          <a:effectLst>
            <a:outerShdw blurRad="177800" dist="139700" dir="5400000" rotWithShape="0">
              <a:srgbClr val="000000">
                <a:alpha val="50000"/>
              </a:srgbClr>
            </a:outerShdw>
          </a:effectLst>
          <a:extLst>
            <a:ext uri="{C572A759-6A51-4108-AA02-DFA0A04FC94B}">
              <ma14:wrappingTextBoxFlag xmlns="" xmlns:ma14="http://schemas.microsoft.com/office/mac/drawingml/2011/main" val="1"/>
            </a:ext>
          </a:extLst>
        </p:spPr>
        <p:txBody>
          <a:bodyPr wrap="none" lIns="50800" tIns="50800" rIns="50800" bIns="50800" anchor="ctr">
            <a:spAutoFit/>
          </a:bodyPr>
          <a:lstStyle/>
          <a:p>
            <a:pPr algn="l" defTabSz="457200">
              <a:defRPr sz="2400">
                <a:solidFill>
                  <a:srgbClr val="4F8187"/>
                </a:solidFill>
                <a:latin typeface="Courier"/>
                <a:ea typeface="Courier"/>
                <a:cs typeface="Courier"/>
                <a:sym typeface="Courier"/>
              </a:defRPr>
            </a:pPr>
            <a:r>
              <a:rPr lang="en-US" b="1" dirty="0">
                <a:solidFill>
                  <a:schemeClr val="tx1">
                    <a:lumMod val="95000"/>
                    <a:lumOff val="5000"/>
                  </a:schemeClr>
                </a:solidFill>
              </a:rPr>
              <a:t>type </a:t>
            </a:r>
            <a:r>
              <a:rPr lang="en-US" b="1" dirty="0" err="1">
                <a:solidFill>
                  <a:schemeClr val="tx1">
                    <a:lumMod val="95000"/>
                    <a:lumOff val="5000"/>
                  </a:schemeClr>
                </a:solidFill>
              </a:rPr>
              <a:t>function_name</a:t>
            </a:r>
            <a:r>
              <a:rPr lang="en-US" b="1" dirty="0">
                <a:solidFill>
                  <a:schemeClr val="tx1">
                    <a:lumMod val="95000"/>
                    <a:lumOff val="5000"/>
                  </a:schemeClr>
                </a:solidFill>
              </a:rPr>
              <a:t> ( </a:t>
            </a:r>
            <a:r>
              <a:rPr lang="en-US" b="1" dirty="0" err="1">
                <a:solidFill>
                  <a:schemeClr val="tx1">
                    <a:lumMod val="95000"/>
                    <a:lumOff val="5000"/>
                  </a:schemeClr>
                </a:solidFill>
              </a:rPr>
              <a:t>parameter_list</a:t>
            </a:r>
            <a:r>
              <a:rPr lang="en-US" b="1" dirty="0">
                <a:solidFill>
                  <a:schemeClr val="tx1">
                    <a:lumMod val="95000"/>
                    <a:lumOff val="5000"/>
                  </a:schemeClr>
                </a:solidFill>
              </a:rPr>
              <a:t> ) {</a:t>
            </a:r>
          </a:p>
          <a:p>
            <a:pPr algn="l" defTabSz="457200">
              <a:defRPr sz="2400">
                <a:solidFill>
                  <a:srgbClr val="4F8187"/>
                </a:solidFill>
                <a:latin typeface="Courier"/>
                <a:ea typeface="Courier"/>
                <a:cs typeface="Courier"/>
                <a:sym typeface="Courier"/>
              </a:defRPr>
            </a:pPr>
            <a:r>
              <a:rPr lang="en-US" b="1" dirty="0">
                <a:solidFill>
                  <a:schemeClr val="tx1">
                    <a:lumMod val="95000"/>
                    <a:lumOff val="5000"/>
                  </a:schemeClr>
                </a:solidFill>
              </a:rPr>
              <a:t>  declarations &amp; statements</a:t>
            </a:r>
          </a:p>
          <a:p>
            <a:pPr algn="l" defTabSz="457200">
              <a:defRPr sz="2400">
                <a:solidFill>
                  <a:srgbClr val="4F8187"/>
                </a:solidFill>
                <a:latin typeface="Courier"/>
                <a:ea typeface="Courier"/>
                <a:cs typeface="Courier"/>
                <a:sym typeface="Courier"/>
              </a:defRPr>
            </a:pPr>
            <a:r>
              <a:rPr b="1" dirty="0">
                <a:solidFill>
                  <a:schemeClr val="tx1">
                    <a:lumMod val="95000"/>
                    <a:lumOff val="5000"/>
                  </a:schemeClr>
                </a:solidFill>
              </a:rPr>
              <a:t>}</a:t>
            </a:r>
          </a:p>
        </p:txBody>
      </p:sp>
      <p:sp>
        <p:nvSpPr>
          <p:cNvPr id="5" name="&lt;returnType&gt; &lt;name&gt;(&lt;parameters&gt;) {…">
            <a:extLst>
              <a:ext uri="{FF2B5EF4-FFF2-40B4-BE49-F238E27FC236}">
                <a16:creationId xmlns:a16="http://schemas.microsoft.com/office/drawing/2014/main" id="{6CDE66F4-C4BE-B09D-87DE-FC55E02CC6FA}"/>
              </a:ext>
            </a:extLst>
          </p:cNvPr>
          <p:cNvSpPr txBox="1"/>
          <p:nvPr/>
        </p:nvSpPr>
        <p:spPr>
          <a:xfrm>
            <a:off x="982449" y="4602891"/>
            <a:ext cx="10105330" cy="718145"/>
          </a:xfrm>
          <a:prstGeom prst="rect">
            <a:avLst/>
          </a:prstGeom>
          <a:solidFill>
            <a:schemeClr val="bg1">
              <a:lumMod val="95000"/>
            </a:schemeClr>
          </a:solidFill>
          <a:ln w="12700">
            <a:miter lim="400000"/>
          </a:ln>
          <a:effectLst>
            <a:outerShdw blurRad="177800" dist="139700" dir="5400000" rotWithShape="0">
              <a:srgbClr val="000000">
                <a:alpha val="50000"/>
              </a:srgbClr>
            </a:outerShdw>
          </a:effectLst>
          <a:extLst>
            <a:ext uri="{C572A759-6A51-4108-AA02-DFA0A04FC94B}">
              <ma14:wrappingTextBoxFlag xmlns="" xmlns:ma14="http://schemas.microsoft.com/office/mac/drawingml/2011/main" val="1"/>
            </a:ext>
          </a:extLst>
        </p:spPr>
        <p:txBody>
          <a:bodyPr wrap="none" lIns="50800" tIns="50800" rIns="50800" bIns="50800" anchor="ctr">
            <a:spAutoFit/>
          </a:bodyPr>
          <a:lstStyle/>
          <a:p>
            <a:pPr algn="l" defTabSz="457200">
              <a:defRPr sz="2400">
                <a:solidFill>
                  <a:srgbClr val="4F8187"/>
                </a:solidFill>
                <a:latin typeface="Courier"/>
                <a:ea typeface="Courier"/>
                <a:cs typeface="Courier"/>
                <a:sym typeface="Courier"/>
              </a:defRPr>
            </a:pPr>
            <a:r>
              <a:rPr lang="en-US" sz="2000" b="1" dirty="0">
                <a:solidFill>
                  <a:schemeClr val="tx1">
                    <a:lumMod val="95000"/>
                    <a:lumOff val="5000"/>
                  </a:schemeClr>
                </a:solidFill>
              </a:rPr>
              <a:t>return;       // terminate execution and return control to caller</a:t>
            </a:r>
          </a:p>
          <a:p>
            <a:pPr algn="l" defTabSz="457200">
              <a:defRPr sz="2400">
                <a:solidFill>
                  <a:srgbClr val="4F8187"/>
                </a:solidFill>
                <a:latin typeface="Courier"/>
                <a:ea typeface="Courier"/>
                <a:cs typeface="Courier"/>
                <a:sym typeface="Courier"/>
              </a:defRPr>
            </a:pPr>
            <a:r>
              <a:rPr lang="en-US" sz="2000" b="1" dirty="0">
                <a:solidFill>
                  <a:schemeClr val="tx1">
                    <a:lumMod val="95000"/>
                    <a:lumOff val="5000"/>
                  </a:schemeClr>
                </a:solidFill>
              </a:rPr>
              <a:t>return expr;  // terminate and pass value of expr back to caller</a:t>
            </a:r>
            <a:endParaRPr sz="2000" b="1" dirty="0">
              <a:solidFill>
                <a:schemeClr val="tx1">
                  <a:lumMod val="95000"/>
                  <a:lumOff val="5000"/>
                </a:schemeClr>
              </a:solidFill>
            </a:endParaRPr>
          </a:p>
        </p:txBody>
      </p:sp>
    </p:spTree>
    <p:extLst>
      <p:ext uri="{BB962C8B-B14F-4D97-AF65-F5344CB8AC3E}">
        <p14:creationId xmlns:p14="http://schemas.microsoft.com/office/powerpoint/2010/main" val="2161681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94348" y="2766218"/>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dirty="0">
                <a:effectLst>
                  <a:outerShdw blurRad="38100" dist="38100" dir="2700000" algn="tl">
                    <a:srgbClr val="000000">
                      <a:alpha val="43137"/>
                    </a:srgbClr>
                  </a:outerShdw>
                </a:effectLst>
              </a:rPr>
              <a:t>2. Types of Variables in C</a:t>
            </a:r>
          </a:p>
        </p:txBody>
      </p:sp>
    </p:spTree>
    <p:extLst>
      <p:ext uri="{BB962C8B-B14F-4D97-AF65-F5344CB8AC3E}">
        <p14:creationId xmlns:p14="http://schemas.microsoft.com/office/powerpoint/2010/main" val="39111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6C90-ACD9-FEBF-04C1-B6A568F238B0}"/>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r>
              <a:rPr lang="en-US" dirty="0"/>
              <a:t>Types of Variables in C (based on scope)</a:t>
            </a:r>
          </a:p>
        </p:txBody>
      </p:sp>
      <p:sp>
        <p:nvSpPr>
          <p:cNvPr id="3" name="Content Placeholder 2">
            <a:extLst>
              <a:ext uri="{FF2B5EF4-FFF2-40B4-BE49-F238E27FC236}">
                <a16:creationId xmlns:a16="http://schemas.microsoft.com/office/drawing/2014/main" id="{E9CE74E3-42E0-ABDF-6EA5-FCAF343D68DA}"/>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marL="742950" indent="-742950">
              <a:buFont typeface="+mj-lt"/>
              <a:buAutoNum type="arabicPeriod"/>
            </a:pPr>
            <a:r>
              <a:rPr lang="en-US" sz="3600" b="1" dirty="0">
                <a:solidFill>
                  <a:schemeClr val="tx1"/>
                </a:solidFill>
              </a:rPr>
              <a:t>Local variables</a:t>
            </a:r>
          </a:p>
          <a:p>
            <a:pPr marL="742950" indent="-742950">
              <a:buFont typeface="+mj-lt"/>
              <a:buAutoNum type="arabicPeriod"/>
            </a:pPr>
            <a:r>
              <a:rPr lang="en-US" sz="3600" b="1" dirty="0">
                <a:solidFill>
                  <a:schemeClr val="tx1"/>
                </a:solidFill>
              </a:rPr>
              <a:t>Static local variables</a:t>
            </a:r>
          </a:p>
          <a:p>
            <a:pPr marL="742950" indent="-742950">
              <a:buFont typeface="+mj-lt"/>
              <a:buAutoNum type="arabicPeriod"/>
            </a:pPr>
            <a:r>
              <a:rPr lang="en-US" sz="3600" b="1" dirty="0">
                <a:solidFill>
                  <a:schemeClr val="tx1"/>
                </a:solidFill>
              </a:rPr>
              <a:t>Global variables </a:t>
            </a:r>
          </a:p>
          <a:p>
            <a:pPr marL="742950" indent="-742950">
              <a:buFont typeface="+mj-lt"/>
              <a:buAutoNum type="arabicPeriod"/>
            </a:pPr>
            <a:r>
              <a:rPr lang="en-US" sz="3600" b="1" dirty="0">
                <a:solidFill>
                  <a:schemeClr val="tx1"/>
                </a:solidFill>
              </a:rPr>
              <a:t>Static global variables</a:t>
            </a:r>
          </a:p>
          <a:p>
            <a:pPr marL="0" indent="0">
              <a:buNone/>
            </a:pPr>
            <a:endParaRPr lang="en-US" dirty="0"/>
          </a:p>
        </p:txBody>
      </p:sp>
    </p:spTree>
    <p:extLst>
      <p:ext uri="{BB962C8B-B14F-4D97-AF65-F5344CB8AC3E}">
        <p14:creationId xmlns:p14="http://schemas.microsoft.com/office/powerpoint/2010/main" val="2082961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6C90-ACD9-FEBF-04C1-B6A568F238B0}"/>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Types of Variables in C: Local Variables</a:t>
            </a:r>
          </a:p>
        </p:txBody>
      </p:sp>
      <p:sp>
        <p:nvSpPr>
          <p:cNvPr id="3" name="Content Placeholder 2">
            <a:extLst>
              <a:ext uri="{FF2B5EF4-FFF2-40B4-BE49-F238E27FC236}">
                <a16:creationId xmlns:a16="http://schemas.microsoft.com/office/drawing/2014/main" id="{E9CE74E3-42E0-ABDF-6EA5-FCAF343D68DA}"/>
              </a:ext>
            </a:extLst>
          </p:cNvPr>
          <p:cNvSpPr>
            <a:spLocks noGrp="1"/>
          </p:cNvSpPr>
          <p:nvPr>
            <p:ph idx="1"/>
          </p:nvPr>
        </p:nvSpPr>
        <p:spPr>
          <a:xfrm>
            <a:off x="838199" y="2683878"/>
            <a:ext cx="5346032" cy="2870701"/>
          </a:xfrm>
        </p:spPr>
        <p:style>
          <a:lnRef idx="2">
            <a:schemeClr val="dk1"/>
          </a:lnRef>
          <a:fillRef idx="1">
            <a:schemeClr val="lt1"/>
          </a:fillRef>
          <a:effectRef idx="0">
            <a:schemeClr val="dk1"/>
          </a:effectRef>
          <a:fontRef idx="minor">
            <a:schemeClr val="dk1"/>
          </a:fontRef>
        </p:style>
        <p:txBody>
          <a:bodyPr>
            <a:normAutofit/>
          </a:bodyPr>
          <a:lstStyle/>
          <a:p>
            <a:pPr marL="742950" indent="-742950">
              <a:buFont typeface="+mj-lt"/>
              <a:buAutoNum type="arabicPeriod"/>
            </a:pPr>
            <a:r>
              <a:rPr lang="en-US" sz="3600" b="1" dirty="0">
                <a:solidFill>
                  <a:srgbClr val="00B0F0"/>
                </a:solidFill>
              </a:rPr>
              <a:t>Local variables</a:t>
            </a:r>
          </a:p>
          <a:p>
            <a:pPr lvl="1"/>
            <a:r>
              <a:rPr lang="en-US" sz="3200" dirty="0">
                <a:solidFill>
                  <a:schemeClr val="tx1"/>
                </a:solidFill>
              </a:rPr>
              <a:t>Only visible inside the function.</a:t>
            </a:r>
          </a:p>
          <a:p>
            <a:pPr lvl="1"/>
            <a:r>
              <a:rPr lang="en-US" sz="3200" dirty="0">
                <a:solidFill>
                  <a:schemeClr val="tx1"/>
                </a:solidFill>
              </a:rPr>
              <a:t> Value is </a:t>
            </a:r>
            <a:r>
              <a:rPr lang="en-US" sz="3200" b="1" u="sng" dirty="0">
                <a:solidFill>
                  <a:schemeClr val="tx1"/>
                </a:solidFill>
              </a:rPr>
              <a:t>not retained </a:t>
            </a:r>
            <a:r>
              <a:rPr lang="en-US" sz="3200" dirty="0">
                <a:solidFill>
                  <a:schemeClr val="tx1"/>
                </a:solidFill>
              </a:rPr>
              <a:t>across function calls.</a:t>
            </a:r>
          </a:p>
          <a:p>
            <a:pPr marL="0" indent="0">
              <a:buNone/>
            </a:pPr>
            <a:endParaRPr lang="en-US" dirty="0"/>
          </a:p>
        </p:txBody>
      </p:sp>
      <p:pic>
        <p:nvPicPr>
          <p:cNvPr id="2050" name="Picture 2" descr="I Have No Memory GIFs | Tenor">
            <a:extLst>
              <a:ext uri="{FF2B5EF4-FFF2-40B4-BE49-F238E27FC236}">
                <a16:creationId xmlns:a16="http://schemas.microsoft.com/office/drawing/2014/main" id="{ECBCB07A-3831-1973-AB86-A1E9DEAA10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350" y="3196390"/>
            <a:ext cx="4743450" cy="26479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FB3F2D-11F3-C427-2A91-79D443BAA88D}"/>
              </a:ext>
            </a:extLst>
          </p:cNvPr>
          <p:cNvSpPr txBox="1"/>
          <p:nvPr/>
        </p:nvSpPr>
        <p:spPr>
          <a:xfrm>
            <a:off x="6610351" y="2488504"/>
            <a:ext cx="4743450" cy="70788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ln w="10160">
                  <a:solidFill>
                    <a:schemeClr val="tx1"/>
                  </a:solidFill>
                  <a:prstDash val="solid"/>
                </a:ln>
                <a:solidFill>
                  <a:srgbClr val="FFFFFF"/>
                </a:solidFill>
                <a:effectLst>
                  <a:outerShdw blurRad="38100" dist="22860" dir="5400000" algn="tl" rotWithShape="0">
                    <a:srgbClr val="000000">
                      <a:alpha val="30000"/>
                    </a:srgbClr>
                  </a:outerShdw>
                </a:effectLst>
              </a:rPr>
              <a:t>Trying to figure out the local variable value after leaving the function:</a:t>
            </a:r>
          </a:p>
        </p:txBody>
      </p:sp>
    </p:spTree>
    <p:extLst>
      <p:ext uri="{BB962C8B-B14F-4D97-AF65-F5344CB8AC3E}">
        <p14:creationId xmlns:p14="http://schemas.microsoft.com/office/powerpoint/2010/main" val="196290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C8AB0-5105-E9F5-E929-EE65F2E48DBB}"/>
              </a:ext>
            </a:extLst>
          </p:cNvPr>
          <p:cNvSpPr>
            <a:spLocks noGrp="1"/>
          </p:cNvSpPr>
          <p:nvPr>
            <p:ph type="title"/>
          </p:nvPr>
        </p:nvSpPr>
        <p:spPr>
          <a:xfrm>
            <a:off x="838200" y="157691"/>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t>Local Variable Code Example</a:t>
            </a:r>
          </a:p>
        </p:txBody>
      </p:sp>
      <p:sp>
        <p:nvSpPr>
          <p:cNvPr id="3" name="Content Placeholder 2">
            <a:extLst>
              <a:ext uri="{FF2B5EF4-FFF2-40B4-BE49-F238E27FC236}">
                <a16:creationId xmlns:a16="http://schemas.microsoft.com/office/drawing/2014/main" id="{FF6CD35D-5E5A-AC86-6D15-3972735B2880}"/>
              </a:ext>
            </a:extLst>
          </p:cNvPr>
          <p:cNvSpPr>
            <a:spLocks noGrp="1"/>
          </p:cNvSpPr>
          <p:nvPr>
            <p:ph idx="1"/>
          </p:nvPr>
        </p:nvSpPr>
        <p:spPr>
          <a:xfrm>
            <a:off x="791633" y="1563158"/>
            <a:ext cx="10515600" cy="4351338"/>
          </a:xfrm>
        </p:spPr>
        <p:txBody>
          <a:bodyPr/>
          <a:lstStyle/>
          <a:p>
            <a:pPr algn="ctr"/>
            <a:r>
              <a:rPr lang="en-US" dirty="0"/>
              <a:t>Local variables: only accessible in the method where they are created.</a:t>
            </a:r>
          </a:p>
          <a:p>
            <a:pPr marL="0" indent="0" algn="ctr">
              <a:buNone/>
            </a:pPr>
            <a:r>
              <a:rPr lang="en-US" i="1" dirty="0"/>
              <a:t>What happens if we try to print the value of w in the main?</a:t>
            </a:r>
          </a:p>
        </p:txBody>
      </p:sp>
      <p:pic>
        <p:nvPicPr>
          <p:cNvPr id="5" name="Picture 4">
            <a:extLst>
              <a:ext uri="{FF2B5EF4-FFF2-40B4-BE49-F238E27FC236}">
                <a16:creationId xmlns:a16="http://schemas.microsoft.com/office/drawing/2014/main" id="{2953DCEF-C665-9510-CEF9-1DB4353EF25F}"/>
              </a:ext>
            </a:extLst>
          </p:cNvPr>
          <p:cNvPicPr>
            <a:picLocks noChangeAspect="1"/>
          </p:cNvPicPr>
          <p:nvPr/>
        </p:nvPicPr>
        <p:blipFill>
          <a:blip r:embed="rId2"/>
          <a:stretch>
            <a:fillRect/>
          </a:stretch>
        </p:blipFill>
        <p:spPr>
          <a:xfrm>
            <a:off x="1974850" y="2770243"/>
            <a:ext cx="8149166" cy="3969224"/>
          </a:xfrm>
          <a:prstGeom prst="rect">
            <a:avLst/>
          </a:prstGeom>
          <a:ln>
            <a:solidFill>
              <a:schemeClr val="tx1"/>
            </a:solidFill>
          </a:ln>
        </p:spPr>
      </p:pic>
      <p:sp>
        <p:nvSpPr>
          <p:cNvPr id="6" name="Rectangle 5">
            <a:extLst>
              <a:ext uri="{FF2B5EF4-FFF2-40B4-BE49-F238E27FC236}">
                <a16:creationId xmlns:a16="http://schemas.microsoft.com/office/drawing/2014/main" id="{CEBF518D-72F4-E790-4BA4-E9188E77E4F5}"/>
              </a:ext>
            </a:extLst>
          </p:cNvPr>
          <p:cNvSpPr/>
          <p:nvPr/>
        </p:nvSpPr>
        <p:spPr>
          <a:xfrm>
            <a:off x="3225800" y="6155266"/>
            <a:ext cx="5473700" cy="35983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135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6C90-ACD9-FEBF-04C1-B6A568F238B0}"/>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Types of Variables in C: Static Local Variables</a:t>
            </a:r>
          </a:p>
        </p:txBody>
      </p:sp>
      <p:sp>
        <p:nvSpPr>
          <p:cNvPr id="3" name="Content Placeholder 2">
            <a:extLst>
              <a:ext uri="{FF2B5EF4-FFF2-40B4-BE49-F238E27FC236}">
                <a16:creationId xmlns:a16="http://schemas.microsoft.com/office/drawing/2014/main" id="{E9CE74E3-42E0-ABDF-6EA5-FCAF343D68DA}"/>
              </a:ext>
            </a:extLst>
          </p:cNvPr>
          <p:cNvSpPr>
            <a:spLocks noGrp="1"/>
          </p:cNvSpPr>
          <p:nvPr>
            <p:ph idx="1"/>
          </p:nvPr>
        </p:nvSpPr>
        <p:spPr>
          <a:xfrm>
            <a:off x="838199" y="1993650"/>
            <a:ext cx="10515599" cy="1748172"/>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3600" b="1" dirty="0">
                <a:solidFill>
                  <a:srgbClr val="00B0F0"/>
                </a:solidFill>
              </a:rPr>
              <a:t>2. Static local variables</a:t>
            </a:r>
          </a:p>
          <a:p>
            <a:pPr lvl="1"/>
            <a:r>
              <a:rPr lang="en-US" sz="3200" dirty="0"/>
              <a:t>Not visible outside function, but </a:t>
            </a:r>
            <a:r>
              <a:rPr lang="en-US" sz="3200" b="1" dirty="0"/>
              <a:t>retain</a:t>
            </a:r>
            <a:r>
              <a:rPr lang="en-US" sz="3200" dirty="0"/>
              <a:t> value across function calls.</a:t>
            </a:r>
          </a:p>
          <a:p>
            <a:pPr marL="0" indent="0">
              <a:buNone/>
            </a:pPr>
            <a:endParaRPr lang="en-US" dirty="0"/>
          </a:p>
        </p:txBody>
      </p:sp>
    </p:spTree>
    <p:extLst>
      <p:ext uri="{BB962C8B-B14F-4D97-AF65-F5344CB8AC3E}">
        <p14:creationId xmlns:p14="http://schemas.microsoft.com/office/powerpoint/2010/main" val="1081079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090D-7803-60BC-A51E-128C683E7300}"/>
              </a:ext>
            </a:extLst>
          </p:cNvPr>
          <p:cNvSpPr>
            <a:spLocks noGrp="1"/>
          </p:cNvSpPr>
          <p:nvPr>
            <p:ph type="title"/>
          </p:nvPr>
        </p:nvSpPr>
        <p:spPr>
          <a:xfrm>
            <a:off x="838200" y="128337"/>
            <a:ext cx="10515600" cy="898359"/>
          </a:xfrm>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Local Static Variable Code Example 1</a:t>
            </a:r>
          </a:p>
        </p:txBody>
      </p:sp>
      <p:pic>
        <p:nvPicPr>
          <p:cNvPr id="5" name="Picture 4">
            <a:extLst>
              <a:ext uri="{FF2B5EF4-FFF2-40B4-BE49-F238E27FC236}">
                <a16:creationId xmlns:a16="http://schemas.microsoft.com/office/drawing/2014/main" id="{86291A08-52E5-73F3-E726-958E6B78ADE8}"/>
              </a:ext>
            </a:extLst>
          </p:cNvPr>
          <p:cNvPicPr>
            <a:picLocks noChangeAspect="1"/>
          </p:cNvPicPr>
          <p:nvPr/>
        </p:nvPicPr>
        <p:blipFill>
          <a:blip r:embed="rId2"/>
          <a:stretch>
            <a:fillRect/>
          </a:stretch>
        </p:blipFill>
        <p:spPr>
          <a:xfrm>
            <a:off x="393391" y="1896979"/>
            <a:ext cx="5996566" cy="4756483"/>
          </a:xfrm>
          <a:prstGeom prst="rect">
            <a:avLst/>
          </a:prstGeom>
          <a:ln>
            <a:solidFill>
              <a:schemeClr val="tx1"/>
            </a:solidFill>
          </a:ln>
        </p:spPr>
      </p:pic>
      <p:sp>
        <p:nvSpPr>
          <p:cNvPr id="6" name="Arrow: Right 5">
            <a:extLst>
              <a:ext uri="{FF2B5EF4-FFF2-40B4-BE49-F238E27FC236}">
                <a16:creationId xmlns:a16="http://schemas.microsoft.com/office/drawing/2014/main" id="{2EDCCA1E-4958-583D-D3CE-21C2B7AA120D}"/>
              </a:ext>
            </a:extLst>
          </p:cNvPr>
          <p:cNvSpPr/>
          <p:nvPr/>
        </p:nvSpPr>
        <p:spPr>
          <a:xfrm>
            <a:off x="6529137" y="3789947"/>
            <a:ext cx="990600" cy="10347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0769549A-6844-7858-D5A6-5C3607CF8157}"/>
              </a:ext>
            </a:extLst>
          </p:cNvPr>
          <p:cNvPicPr>
            <a:picLocks noChangeAspect="1"/>
          </p:cNvPicPr>
          <p:nvPr/>
        </p:nvPicPr>
        <p:blipFill>
          <a:blip r:embed="rId3"/>
          <a:stretch>
            <a:fillRect/>
          </a:stretch>
        </p:blipFill>
        <p:spPr>
          <a:xfrm>
            <a:off x="7630526" y="3477364"/>
            <a:ext cx="4381000" cy="1659882"/>
          </a:xfrm>
          <a:prstGeom prst="rect">
            <a:avLst/>
          </a:prstGeom>
        </p:spPr>
      </p:pic>
      <p:sp>
        <p:nvSpPr>
          <p:cNvPr id="4" name="TextBox 3">
            <a:extLst>
              <a:ext uri="{FF2B5EF4-FFF2-40B4-BE49-F238E27FC236}">
                <a16:creationId xmlns:a16="http://schemas.microsoft.com/office/drawing/2014/main" id="{F2F11E5C-7737-8B3F-0D9E-413479091A41}"/>
              </a:ext>
            </a:extLst>
          </p:cNvPr>
          <p:cNvSpPr txBox="1"/>
          <p:nvPr/>
        </p:nvSpPr>
        <p:spPr>
          <a:xfrm>
            <a:off x="838200" y="1170448"/>
            <a:ext cx="10515600" cy="584775"/>
          </a:xfrm>
          <a:prstGeom prst="rect">
            <a:avLst/>
          </a:prstGeom>
          <a:noFill/>
        </p:spPr>
        <p:txBody>
          <a:bodyPr wrap="square">
            <a:spAutoFit/>
          </a:bodyPr>
          <a:lstStyle/>
          <a:p>
            <a:pPr algn="ctr"/>
            <a:r>
              <a:rPr lang="en-US" sz="3200" i="1" dirty="0"/>
              <a:t>What is the value of hidden after the code finishes?</a:t>
            </a:r>
          </a:p>
        </p:txBody>
      </p:sp>
    </p:spTree>
    <p:extLst>
      <p:ext uri="{BB962C8B-B14F-4D97-AF65-F5344CB8AC3E}">
        <p14:creationId xmlns:p14="http://schemas.microsoft.com/office/powerpoint/2010/main" val="231060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090D-7803-60BC-A51E-128C683E7300}"/>
              </a:ext>
            </a:extLst>
          </p:cNvPr>
          <p:cNvSpPr>
            <a:spLocks noGrp="1"/>
          </p:cNvSpPr>
          <p:nvPr>
            <p:ph type="title"/>
          </p:nvPr>
        </p:nvSpPr>
        <p:spPr>
          <a:xfrm>
            <a:off x="838200" y="128337"/>
            <a:ext cx="10515600" cy="898359"/>
          </a:xfrm>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Local Static Variable Code Example 2</a:t>
            </a:r>
          </a:p>
        </p:txBody>
      </p:sp>
      <p:sp>
        <p:nvSpPr>
          <p:cNvPr id="4" name="TextBox 3">
            <a:extLst>
              <a:ext uri="{FF2B5EF4-FFF2-40B4-BE49-F238E27FC236}">
                <a16:creationId xmlns:a16="http://schemas.microsoft.com/office/drawing/2014/main" id="{F2F11E5C-7737-8B3F-0D9E-413479091A41}"/>
              </a:ext>
            </a:extLst>
          </p:cNvPr>
          <p:cNvSpPr txBox="1"/>
          <p:nvPr/>
        </p:nvSpPr>
        <p:spPr>
          <a:xfrm>
            <a:off x="838200" y="1170448"/>
            <a:ext cx="10515600" cy="584775"/>
          </a:xfrm>
          <a:prstGeom prst="rect">
            <a:avLst/>
          </a:prstGeom>
          <a:noFill/>
        </p:spPr>
        <p:txBody>
          <a:bodyPr wrap="square">
            <a:spAutoFit/>
          </a:bodyPr>
          <a:lstStyle/>
          <a:p>
            <a:pPr algn="ctr"/>
            <a:r>
              <a:rPr lang="en-US" sz="3200" i="1" dirty="0"/>
              <a:t>What will be the output of this code?</a:t>
            </a:r>
          </a:p>
        </p:txBody>
      </p:sp>
      <p:pic>
        <p:nvPicPr>
          <p:cNvPr id="7" name="Picture 6">
            <a:extLst>
              <a:ext uri="{FF2B5EF4-FFF2-40B4-BE49-F238E27FC236}">
                <a16:creationId xmlns:a16="http://schemas.microsoft.com/office/drawing/2014/main" id="{ADA5E610-681D-52A6-007A-309BEDCA4E1F}"/>
              </a:ext>
            </a:extLst>
          </p:cNvPr>
          <p:cNvPicPr>
            <a:picLocks noChangeAspect="1"/>
          </p:cNvPicPr>
          <p:nvPr/>
        </p:nvPicPr>
        <p:blipFill>
          <a:blip r:embed="rId2"/>
          <a:stretch>
            <a:fillRect/>
          </a:stretch>
        </p:blipFill>
        <p:spPr>
          <a:xfrm>
            <a:off x="351673" y="2007260"/>
            <a:ext cx="6077832" cy="4221088"/>
          </a:xfrm>
          <a:prstGeom prst="rect">
            <a:avLst/>
          </a:prstGeom>
          <a:ln>
            <a:solidFill>
              <a:schemeClr val="tx1"/>
            </a:solidFill>
          </a:ln>
        </p:spPr>
      </p:pic>
      <p:sp>
        <p:nvSpPr>
          <p:cNvPr id="9" name="Arrow: Right 8">
            <a:extLst>
              <a:ext uri="{FF2B5EF4-FFF2-40B4-BE49-F238E27FC236}">
                <a16:creationId xmlns:a16="http://schemas.microsoft.com/office/drawing/2014/main" id="{844B643A-FB8E-921B-5B77-29A0A10D0EB3}"/>
              </a:ext>
            </a:extLst>
          </p:cNvPr>
          <p:cNvSpPr/>
          <p:nvPr/>
        </p:nvSpPr>
        <p:spPr>
          <a:xfrm>
            <a:off x="6521116" y="3497179"/>
            <a:ext cx="990600" cy="10347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01901E5-562A-FFA6-D032-809918686417}"/>
              </a:ext>
            </a:extLst>
          </p:cNvPr>
          <p:cNvSpPr/>
          <p:nvPr/>
        </p:nvSpPr>
        <p:spPr>
          <a:xfrm>
            <a:off x="7603327" y="2677026"/>
            <a:ext cx="4339389" cy="26750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t>Won’t compile!</a:t>
            </a:r>
          </a:p>
          <a:p>
            <a:r>
              <a:rPr lang="en-US" sz="3200" b="1" dirty="0"/>
              <a:t>Local static functions can’t be accessed outside of the function they are created in.</a:t>
            </a:r>
          </a:p>
        </p:txBody>
      </p:sp>
    </p:spTree>
    <p:extLst>
      <p:ext uri="{BB962C8B-B14F-4D97-AF65-F5344CB8AC3E}">
        <p14:creationId xmlns:p14="http://schemas.microsoft.com/office/powerpoint/2010/main" val="198422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6C90-ACD9-FEBF-04C1-B6A568F238B0}"/>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Types of Variables in C: </a:t>
            </a:r>
            <a:r>
              <a:rPr lang="en-US" sz="4400" dirty="0"/>
              <a:t>Global Variables </a:t>
            </a:r>
            <a:endParaRPr lang="en-US" dirty="0"/>
          </a:p>
        </p:txBody>
      </p:sp>
      <p:sp>
        <p:nvSpPr>
          <p:cNvPr id="3" name="Content Placeholder 2">
            <a:extLst>
              <a:ext uri="{FF2B5EF4-FFF2-40B4-BE49-F238E27FC236}">
                <a16:creationId xmlns:a16="http://schemas.microsoft.com/office/drawing/2014/main" id="{E9CE74E3-42E0-ABDF-6EA5-FCAF343D68DA}"/>
              </a:ext>
            </a:extLst>
          </p:cNvPr>
          <p:cNvSpPr>
            <a:spLocks noGrp="1"/>
          </p:cNvSpPr>
          <p:nvPr>
            <p:ph idx="1"/>
          </p:nvPr>
        </p:nvSpPr>
        <p:spPr>
          <a:xfrm>
            <a:off x="838199" y="1993650"/>
            <a:ext cx="10515600" cy="1671971"/>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3600" b="1" dirty="0">
                <a:solidFill>
                  <a:srgbClr val="00B0F0"/>
                </a:solidFill>
              </a:rPr>
              <a:t>3. Global variables </a:t>
            </a:r>
          </a:p>
          <a:p>
            <a:pPr lvl="1"/>
            <a:r>
              <a:rPr lang="en-US" sz="3200" dirty="0"/>
              <a:t>Declared outside functions.</a:t>
            </a:r>
          </a:p>
          <a:p>
            <a:pPr lvl="1"/>
            <a:r>
              <a:rPr lang="en-US" sz="3200" dirty="0"/>
              <a:t>Variable retained for entire duration of program.</a:t>
            </a:r>
          </a:p>
          <a:p>
            <a:pPr marL="0" indent="0">
              <a:buNone/>
            </a:pPr>
            <a:endParaRPr lang="en-US" dirty="0"/>
          </a:p>
        </p:txBody>
      </p:sp>
    </p:spTree>
    <p:extLst>
      <p:ext uri="{BB962C8B-B14F-4D97-AF65-F5344CB8AC3E}">
        <p14:creationId xmlns:p14="http://schemas.microsoft.com/office/powerpoint/2010/main" val="3713868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F4F1-6E6C-CDD4-0291-8A681D96695C}"/>
              </a:ext>
            </a:extLst>
          </p:cNvPr>
          <p:cNvSpPr>
            <a:spLocks noGrp="1"/>
          </p:cNvSpPr>
          <p:nvPr>
            <p:ph type="title"/>
          </p:nvPr>
        </p:nvSpPr>
        <p:spPr>
          <a:xfrm>
            <a:off x="774700" y="115359"/>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t>Global Variable Code Example</a:t>
            </a:r>
          </a:p>
        </p:txBody>
      </p:sp>
      <p:pic>
        <p:nvPicPr>
          <p:cNvPr id="12" name="Picture 11">
            <a:extLst>
              <a:ext uri="{FF2B5EF4-FFF2-40B4-BE49-F238E27FC236}">
                <a16:creationId xmlns:a16="http://schemas.microsoft.com/office/drawing/2014/main" id="{6434CA6D-0599-4C05-A62D-41DB57DBFBE2}"/>
              </a:ext>
            </a:extLst>
          </p:cNvPr>
          <p:cNvPicPr>
            <a:picLocks noChangeAspect="1"/>
          </p:cNvPicPr>
          <p:nvPr/>
        </p:nvPicPr>
        <p:blipFill>
          <a:blip r:embed="rId2"/>
          <a:stretch>
            <a:fillRect/>
          </a:stretch>
        </p:blipFill>
        <p:spPr>
          <a:xfrm>
            <a:off x="6095999" y="0"/>
            <a:ext cx="2" cy="6858000"/>
          </a:xfrm>
          <a:prstGeom prst="rect">
            <a:avLst/>
          </a:prstGeom>
        </p:spPr>
      </p:pic>
      <p:pic>
        <p:nvPicPr>
          <p:cNvPr id="14" name="Picture 13">
            <a:extLst>
              <a:ext uri="{FF2B5EF4-FFF2-40B4-BE49-F238E27FC236}">
                <a16:creationId xmlns:a16="http://schemas.microsoft.com/office/drawing/2014/main" id="{8E72FA0D-FAA3-1A19-AD52-77C126FF6DD7}"/>
              </a:ext>
            </a:extLst>
          </p:cNvPr>
          <p:cNvPicPr>
            <a:picLocks noChangeAspect="1"/>
          </p:cNvPicPr>
          <p:nvPr/>
        </p:nvPicPr>
        <p:blipFill>
          <a:blip r:embed="rId3"/>
          <a:stretch>
            <a:fillRect/>
          </a:stretch>
        </p:blipFill>
        <p:spPr>
          <a:xfrm>
            <a:off x="774697" y="1665555"/>
            <a:ext cx="5754859" cy="4599443"/>
          </a:xfrm>
          <a:prstGeom prst="rect">
            <a:avLst/>
          </a:prstGeom>
          <a:ln>
            <a:solidFill>
              <a:schemeClr val="tx1"/>
            </a:solidFill>
          </a:ln>
        </p:spPr>
      </p:pic>
      <p:sp>
        <p:nvSpPr>
          <p:cNvPr id="15" name="Rectangle 14">
            <a:extLst>
              <a:ext uri="{FF2B5EF4-FFF2-40B4-BE49-F238E27FC236}">
                <a16:creationId xmlns:a16="http://schemas.microsoft.com/office/drawing/2014/main" id="{92E5DD31-6955-BFFC-BACB-D9FD4C9C2519}"/>
              </a:ext>
            </a:extLst>
          </p:cNvPr>
          <p:cNvSpPr/>
          <p:nvPr/>
        </p:nvSpPr>
        <p:spPr>
          <a:xfrm>
            <a:off x="774697" y="2417275"/>
            <a:ext cx="5754859" cy="316872"/>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AB9C84-C292-B42A-CC61-26893C8FA84E}"/>
              </a:ext>
            </a:extLst>
          </p:cNvPr>
          <p:cNvSpPr/>
          <p:nvPr/>
        </p:nvSpPr>
        <p:spPr>
          <a:xfrm>
            <a:off x="730314" y="3965276"/>
            <a:ext cx="5799242" cy="977916"/>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5F22D27-058F-825D-138D-B684519DB495}"/>
              </a:ext>
            </a:extLst>
          </p:cNvPr>
          <p:cNvSpPr/>
          <p:nvPr/>
        </p:nvSpPr>
        <p:spPr>
          <a:xfrm>
            <a:off x="730315" y="4950595"/>
            <a:ext cx="5799240" cy="762142"/>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BD32499-887C-C118-0E9B-2501DC609945}"/>
              </a:ext>
            </a:extLst>
          </p:cNvPr>
          <p:cNvCxnSpPr>
            <a:endCxn id="15" idx="3"/>
          </p:cNvCxnSpPr>
          <p:nvPr/>
        </p:nvCxnSpPr>
        <p:spPr>
          <a:xfrm flipH="1">
            <a:off x="6529556" y="2417275"/>
            <a:ext cx="1591402" cy="15843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83A1290-63B8-F609-595E-7C700AF77015}"/>
              </a:ext>
            </a:extLst>
          </p:cNvPr>
          <p:cNvCxnSpPr>
            <a:cxnSpLocks/>
          </p:cNvCxnSpPr>
          <p:nvPr/>
        </p:nvCxnSpPr>
        <p:spPr>
          <a:xfrm flipH="1">
            <a:off x="6529556" y="3503623"/>
            <a:ext cx="1681937" cy="1053147"/>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9A8A14C-F766-9BAA-8158-670549327E6D}"/>
              </a:ext>
            </a:extLst>
          </p:cNvPr>
          <p:cNvCxnSpPr/>
          <p:nvPr/>
        </p:nvCxnSpPr>
        <p:spPr>
          <a:xfrm flipH="1">
            <a:off x="6529556" y="5179283"/>
            <a:ext cx="1591402" cy="158436"/>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FFC0FCD5-E1DF-F67E-C528-74641EEC2815}"/>
              </a:ext>
            </a:extLst>
          </p:cNvPr>
          <p:cNvSpPr txBox="1">
            <a:spLocks/>
          </p:cNvSpPr>
          <p:nvPr/>
        </p:nvSpPr>
        <p:spPr>
          <a:xfrm>
            <a:off x="8057584" y="2035097"/>
            <a:ext cx="2824681" cy="849138"/>
          </a:xfrm>
          <a:prstGeom prst="rect">
            <a:avLst/>
          </a:prstGeom>
        </p:spPr>
        <p:style>
          <a:lnRef idx="2">
            <a:schemeClr val="dk1"/>
          </a:lnRef>
          <a:fillRef idx="1">
            <a:schemeClr val="lt1"/>
          </a:fillRef>
          <a:effectRef idx="0">
            <a:schemeClr val="dk1"/>
          </a:effectRef>
          <a:fontRef idx="minor">
            <a:schemeClr val="dk1"/>
          </a:fontRef>
        </p:style>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dirty="0"/>
              <a:t>Declare global variable here.</a:t>
            </a:r>
          </a:p>
        </p:txBody>
      </p:sp>
      <p:sp>
        <p:nvSpPr>
          <p:cNvPr id="23" name="Content Placeholder 2">
            <a:extLst>
              <a:ext uri="{FF2B5EF4-FFF2-40B4-BE49-F238E27FC236}">
                <a16:creationId xmlns:a16="http://schemas.microsoft.com/office/drawing/2014/main" id="{F67FC83C-8193-1FF8-28FC-E0B29DC0FF6E}"/>
              </a:ext>
            </a:extLst>
          </p:cNvPr>
          <p:cNvSpPr txBox="1">
            <a:spLocks/>
          </p:cNvSpPr>
          <p:nvPr/>
        </p:nvSpPr>
        <p:spPr>
          <a:xfrm>
            <a:off x="8057584" y="2998340"/>
            <a:ext cx="3404103" cy="1375265"/>
          </a:xfrm>
          <a:prstGeom prst="rect">
            <a:avLst/>
          </a:prstGeom>
        </p:spPr>
        <p:style>
          <a:lnRef idx="2">
            <a:schemeClr val="dk1"/>
          </a:lnRef>
          <a:fillRef idx="1">
            <a:schemeClr val="lt1"/>
          </a:fillRef>
          <a:effectRef idx="0">
            <a:schemeClr val="dk1"/>
          </a:effectRef>
          <a:fontRef idx="minor">
            <a:schemeClr val="dk1"/>
          </a:fontRef>
        </p:style>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en-US" dirty="0"/>
              <a:t>Global variables can be accessed in main without being passed as a parameter.</a:t>
            </a:r>
          </a:p>
        </p:txBody>
      </p:sp>
      <p:sp>
        <p:nvSpPr>
          <p:cNvPr id="26" name="Content Placeholder 2">
            <a:extLst>
              <a:ext uri="{FF2B5EF4-FFF2-40B4-BE49-F238E27FC236}">
                <a16:creationId xmlns:a16="http://schemas.microsoft.com/office/drawing/2014/main" id="{6CF5144B-3920-6CA7-F12B-CE3ECB615139}"/>
              </a:ext>
            </a:extLst>
          </p:cNvPr>
          <p:cNvSpPr txBox="1">
            <a:spLocks/>
          </p:cNvSpPr>
          <p:nvPr/>
        </p:nvSpPr>
        <p:spPr>
          <a:xfrm>
            <a:off x="8057583" y="4720442"/>
            <a:ext cx="3404103" cy="1375265"/>
          </a:xfrm>
          <a:prstGeom prst="rect">
            <a:avLst/>
          </a:prstGeom>
        </p:spPr>
        <p:style>
          <a:lnRef idx="2">
            <a:schemeClr val="dk1"/>
          </a:lnRef>
          <a:fillRef idx="1">
            <a:schemeClr val="lt1"/>
          </a:fillRef>
          <a:effectRef idx="0">
            <a:schemeClr val="dk1"/>
          </a:effectRef>
          <a:fontRef idx="minor">
            <a:schemeClr val="dk1"/>
          </a:fontRef>
        </p:style>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en-US" dirty="0"/>
              <a:t>Global variables can be accessed by other methods without being passed as a parameter.</a:t>
            </a:r>
          </a:p>
        </p:txBody>
      </p:sp>
    </p:spTree>
    <p:extLst>
      <p:ext uri="{BB962C8B-B14F-4D97-AF65-F5344CB8AC3E}">
        <p14:creationId xmlns:p14="http://schemas.microsoft.com/office/powerpoint/2010/main" val="127995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3" grpId="0" animBg="1"/>
      <p:bldP spid="2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6C90-ACD9-FEBF-04C1-B6A568F238B0}"/>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Types of Variables in C: </a:t>
            </a:r>
            <a:r>
              <a:rPr lang="en-US" sz="4400" dirty="0"/>
              <a:t>Global Variables </a:t>
            </a:r>
            <a:endParaRPr lang="en-US" dirty="0"/>
          </a:p>
        </p:txBody>
      </p:sp>
      <p:sp>
        <p:nvSpPr>
          <p:cNvPr id="3" name="Content Placeholder 2">
            <a:extLst>
              <a:ext uri="{FF2B5EF4-FFF2-40B4-BE49-F238E27FC236}">
                <a16:creationId xmlns:a16="http://schemas.microsoft.com/office/drawing/2014/main" id="{E9CE74E3-42E0-ABDF-6EA5-FCAF343D68DA}"/>
              </a:ext>
            </a:extLst>
          </p:cNvPr>
          <p:cNvSpPr>
            <a:spLocks noGrp="1"/>
          </p:cNvSpPr>
          <p:nvPr>
            <p:ph idx="1"/>
          </p:nvPr>
        </p:nvSpPr>
        <p:spPr>
          <a:xfrm>
            <a:off x="838199" y="1993650"/>
            <a:ext cx="10515600" cy="2596457"/>
          </a:xfrm>
        </p:spPr>
        <p:style>
          <a:lnRef idx="2">
            <a:schemeClr val="dk1"/>
          </a:lnRef>
          <a:fillRef idx="1">
            <a:schemeClr val="lt1"/>
          </a:fillRef>
          <a:effectRef idx="0">
            <a:schemeClr val="dk1"/>
          </a:effectRef>
          <a:fontRef idx="minor">
            <a:schemeClr val="dk1"/>
          </a:fontRef>
        </p:style>
        <p:txBody>
          <a:bodyPr>
            <a:normAutofit/>
          </a:bodyPr>
          <a:lstStyle/>
          <a:p>
            <a:pPr marL="0" indent="0">
              <a:buNone/>
            </a:pPr>
            <a:r>
              <a:rPr lang="en-US" sz="3600" b="1" dirty="0">
                <a:solidFill>
                  <a:srgbClr val="00B0F0"/>
                </a:solidFill>
              </a:rPr>
              <a:t>4. Global static variables </a:t>
            </a:r>
          </a:p>
          <a:p>
            <a:pPr lvl="1"/>
            <a:r>
              <a:rPr lang="en-US" sz="3200" dirty="0"/>
              <a:t>Declared outside functions.</a:t>
            </a:r>
          </a:p>
          <a:p>
            <a:pPr lvl="1"/>
            <a:r>
              <a:rPr lang="en-US" sz="3200" dirty="0"/>
              <a:t>Variable retained for entire duration of program.</a:t>
            </a:r>
          </a:p>
          <a:p>
            <a:pPr lvl="1"/>
            <a:r>
              <a:rPr lang="en-US" sz="3200" dirty="0"/>
              <a:t>Visible only in functions defined in the same file following variable declaration.</a:t>
            </a:r>
          </a:p>
          <a:p>
            <a:pPr marL="0" indent="0">
              <a:buNone/>
            </a:pPr>
            <a:endParaRPr lang="en-US" dirty="0"/>
          </a:p>
        </p:txBody>
      </p:sp>
    </p:spTree>
    <p:extLst>
      <p:ext uri="{BB962C8B-B14F-4D97-AF65-F5344CB8AC3E}">
        <p14:creationId xmlns:p14="http://schemas.microsoft.com/office/powerpoint/2010/main" val="2681062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F4F1-6E6C-CDD4-0291-8A681D96695C}"/>
              </a:ext>
            </a:extLst>
          </p:cNvPr>
          <p:cNvSpPr>
            <a:spLocks noGrp="1"/>
          </p:cNvSpPr>
          <p:nvPr>
            <p:ph type="title"/>
          </p:nvPr>
        </p:nvSpPr>
        <p:spPr>
          <a:xfrm>
            <a:off x="774700" y="115359"/>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dirty="0"/>
              <a:t>Global Static Variable Code Example</a:t>
            </a:r>
          </a:p>
        </p:txBody>
      </p:sp>
      <p:pic>
        <p:nvPicPr>
          <p:cNvPr id="4" name="Picture 3">
            <a:extLst>
              <a:ext uri="{FF2B5EF4-FFF2-40B4-BE49-F238E27FC236}">
                <a16:creationId xmlns:a16="http://schemas.microsoft.com/office/drawing/2014/main" id="{A8F6DF27-F4CB-B10D-CA46-CF708D152E9C}"/>
              </a:ext>
            </a:extLst>
          </p:cNvPr>
          <p:cNvPicPr>
            <a:picLocks noChangeAspect="1"/>
          </p:cNvPicPr>
          <p:nvPr/>
        </p:nvPicPr>
        <p:blipFill>
          <a:blip r:embed="rId2"/>
          <a:stretch>
            <a:fillRect/>
          </a:stretch>
        </p:blipFill>
        <p:spPr>
          <a:xfrm>
            <a:off x="774700" y="1631086"/>
            <a:ext cx="7778146" cy="5226914"/>
          </a:xfrm>
          <a:prstGeom prst="rect">
            <a:avLst/>
          </a:prstGeom>
          <a:ln>
            <a:solidFill>
              <a:schemeClr val="tx1"/>
            </a:solidFill>
          </a:ln>
        </p:spPr>
      </p:pic>
      <p:sp>
        <p:nvSpPr>
          <p:cNvPr id="5" name="Rectangle 4">
            <a:extLst>
              <a:ext uri="{FF2B5EF4-FFF2-40B4-BE49-F238E27FC236}">
                <a16:creationId xmlns:a16="http://schemas.microsoft.com/office/drawing/2014/main" id="{8B21F848-749A-A0E1-D93B-96F15ABCD97D}"/>
              </a:ext>
            </a:extLst>
          </p:cNvPr>
          <p:cNvSpPr/>
          <p:nvPr/>
        </p:nvSpPr>
        <p:spPr>
          <a:xfrm>
            <a:off x="941312" y="2667000"/>
            <a:ext cx="4796367" cy="334433"/>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847E909-08D6-E662-982E-CD30012DF33D}"/>
              </a:ext>
            </a:extLst>
          </p:cNvPr>
          <p:cNvPicPr>
            <a:picLocks noChangeAspect="1"/>
          </p:cNvPicPr>
          <p:nvPr/>
        </p:nvPicPr>
        <p:blipFill>
          <a:blip r:embed="rId3"/>
          <a:stretch>
            <a:fillRect/>
          </a:stretch>
        </p:blipFill>
        <p:spPr>
          <a:xfrm>
            <a:off x="9218083" y="4064236"/>
            <a:ext cx="2863850" cy="590843"/>
          </a:xfrm>
          <a:prstGeom prst="rect">
            <a:avLst/>
          </a:prstGeom>
        </p:spPr>
      </p:pic>
      <p:sp>
        <p:nvSpPr>
          <p:cNvPr id="7" name="Arrow: Right 6">
            <a:extLst>
              <a:ext uri="{FF2B5EF4-FFF2-40B4-BE49-F238E27FC236}">
                <a16:creationId xmlns:a16="http://schemas.microsoft.com/office/drawing/2014/main" id="{97BF65CA-D03B-1E36-9A72-B8F19DDF6DA2}"/>
              </a:ext>
            </a:extLst>
          </p:cNvPr>
          <p:cNvSpPr/>
          <p:nvPr/>
        </p:nvSpPr>
        <p:spPr>
          <a:xfrm>
            <a:off x="8648398" y="4064236"/>
            <a:ext cx="474133" cy="6519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374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FDF4-0C81-B7EA-2F55-CD5FD59930E1}"/>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normAutofit fontScale="90000"/>
          </a:bodyPr>
          <a:lstStyle/>
          <a:p>
            <a:pPr algn="ctr"/>
            <a:r>
              <a:rPr lang="en-US" dirty="0"/>
              <a:t>Test your knowledge: Is </a:t>
            </a:r>
            <a:r>
              <a:rPr lang="en-US" dirty="0" err="1"/>
              <a:t>piApprox</a:t>
            </a:r>
            <a:r>
              <a:rPr lang="en-US" dirty="0"/>
              <a:t> a global or local static variable here? Would this code run?</a:t>
            </a:r>
          </a:p>
        </p:txBody>
      </p:sp>
      <p:pic>
        <p:nvPicPr>
          <p:cNvPr id="5" name="Picture 4">
            <a:extLst>
              <a:ext uri="{FF2B5EF4-FFF2-40B4-BE49-F238E27FC236}">
                <a16:creationId xmlns:a16="http://schemas.microsoft.com/office/drawing/2014/main" id="{F16F5CBA-FA2F-6A94-4A76-DE75F4F91384}"/>
              </a:ext>
            </a:extLst>
          </p:cNvPr>
          <p:cNvPicPr>
            <a:picLocks noChangeAspect="1"/>
          </p:cNvPicPr>
          <p:nvPr/>
        </p:nvPicPr>
        <p:blipFill>
          <a:blip r:embed="rId2"/>
          <a:stretch>
            <a:fillRect/>
          </a:stretch>
        </p:blipFill>
        <p:spPr>
          <a:xfrm>
            <a:off x="2197768" y="1883898"/>
            <a:ext cx="7740316" cy="4271545"/>
          </a:xfrm>
          <a:prstGeom prst="rect">
            <a:avLst/>
          </a:prstGeom>
          <a:ln>
            <a:solidFill>
              <a:schemeClr val="tx1"/>
            </a:solidFill>
          </a:ln>
        </p:spPr>
      </p:pic>
    </p:spTree>
    <p:extLst>
      <p:ext uri="{BB962C8B-B14F-4D97-AF65-F5344CB8AC3E}">
        <p14:creationId xmlns:p14="http://schemas.microsoft.com/office/powerpoint/2010/main" val="4206984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40DA9-D1D9-CE03-19AD-5231E174AFF8}"/>
              </a:ext>
            </a:extLst>
          </p:cNvPr>
          <p:cNvSpPr>
            <a:spLocks noGrp="1"/>
          </p:cNvSpPr>
          <p:nvPr>
            <p:ph type="title"/>
          </p:nvPr>
        </p:nvSpPr>
        <p:spPr>
          <a:xfrm>
            <a:off x="711452" y="30147"/>
            <a:ext cx="10515600" cy="1325563"/>
          </a:xfrm>
        </p:spPr>
        <p:txBody>
          <a:bodyPr/>
          <a:lstStyle/>
          <a:p>
            <a:pPr algn="ctr"/>
            <a:r>
              <a:rPr lang="en-US" dirty="0"/>
              <a:t>Summary of the types of variables</a:t>
            </a:r>
          </a:p>
        </p:txBody>
      </p:sp>
      <p:sp>
        <p:nvSpPr>
          <p:cNvPr id="4" name="Oval 3">
            <a:extLst>
              <a:ext uri="{FF2B5EF4-FFF2-40B4-BE49-F238E27FC236}">
                <a16:creationId xmlns:a16="http://schemas.microsoft.com/office/drawing/2014/main" id="{37DBFB5E-9CA9-9AD3-9272-73DA2CBAC1D4}"/>
              </a:ext>
            </a:extLst>
          </p:cNvPr>
          <p:cNvSpPr/>
          <p:nvPr/>
        </p:nvSpPr>
        <p:spPr>
          <a:xfrm>
            <a:off x="1992640" y="1690412"/>
            <a:ext cx="8206720" cy="5033726"/>
          </a:xfrm>
          <a:prstGeom prst="ellipse">
            <a:avLst/>
          </a:prstGeom>
          <a:gradFill flip="none" rotWithShape="1">
            <a:gsLst>
              <a:gs pos="0">
                <a:schemeClr val="accent1">
                  <a:tint val="66000"/>
                  <a:satMod val="160000"/>
                </a:schemeClr>
              </a:gs>
              <a:gs pos="50000">
                <a:srgbClr val="00B0F0"/>
              </a:gs>
              <a:gs pos="100000">
                <a:schemeClr val="accent1">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7C1BE6D7-A50B-8224-723D-5C10B0E598A5}"/>
              </a:ext>
            </a:extLst>
          </p:cNvPr>
          <p:cNvSpPr/>
          <p:nvPr/>
        </p:nvSpPr>
        <p:spPr>
          <a:xfrm>
            <a:off x="2845391" y="2886054"/>
            <a:ext cx="4720100" cy="3578553"/>
          </a:xfrm>
          <a:prstGeom prst="ellipse">
            <a:avLst/>
          </a:prstGeom>
          <a:gradFill flip="none" rotWithShape="1">
            <a:gsLst>
              <a:gs pos="0">
                <a:schemeClr val="accent1">
                  <a:lumMod val="75000"/>
                  <a:tint val="66000"/>
                  <a:satMod val="160000"/>
                </a:schemeClr>
              </a:gs>
              <a:gs pos="50000">
                <a:schemeClr val="accent1">
                  <a:lumMod val="75000"/>
                  <a:tint val="44500"/>
                  <a:satMod val="160000"/>
                </a:schemeClr>
              </a:gs>
              <a:gs pos="100000">
                <a:schemeClr val="accent1">
                  <a:lumMod val="75000"/>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C2F733-47C5-2DF7-B8D4-18873F287253}"/>
              </a:ext>
            </a:extLst>
          </p:cNvPr>
          <p:cNvSpPr txBox="1"/>
          <p:nvPr/>
        </p:nvSpPr>
        <p:spPr>
          <a:xfrm>
            <a:off x="4626509" y="1255559"/>
            <a:ext cx="2938982" cy="369332"/>
          </a:xfrm>
          <a:prstGeom prst="rect">
            <a:avLst/>
          </a:prstGeom>
          <a:noFill/>
        </p:spPr>
        <p:txBody>
          <a:bodyPr wrap="square" rtlCol="0">
            <a:spAutoFit/>
          </a:bodyPr>
          <a:lstStyle/>
          <a:p>
            <a:pPr algn="ctr"/>
            <a:r>
              <a:rPr lang="en-US" b="1" u="sng" dirty="0">
                <a:effectLst>
                  <a:outerShdw blurRad="38100" dist="38100" dir="2700000" algn="tl">
                    <a:srgbClr val="000000">
                      <a:alpha val="43137"/>
                    </a:srgbClr>
                  </a:outerShdw>
                </a:effectLst>
              </a:rPr>
              <a:t>Entire Code (multiple .c files)</a:t>
            </a:r>
          </a:p>
        </p:txBody>
      </p:sp>
      <p:sp>
        <p:nvSpPr>
          <p:cNvPr id="7" name="TextBox 6">
            <a:extLst>
              <a:ext uri="{FF2B5EF4-FFF2-40B4-BE49-F238E27FC236}">
                <a16:creationId xmlns:a16="http://schemas.microsoft.com/office/drawing/2014/main" id="{8D2EEB3F-BF16-7235-A3B7-8507986E3CD1}"/>
              </a:ext>
            </a:extLst>
          </p:cNvPr>
          <p:cNvSpPr txBox="1"/>
          <p:nvPr/>
        </p:nvSpPr>
        <p:spPr>
          <a:xfrm>
            <a:off x="4284648" y="1839328"/>
            <a:ext cx="3876204" cy="646331"/>
          </a:xfrm>
          <a:prstGeom prst="rect">
            <a:avLst/>
          </a:prstGeom>
          <a:noFill/>
        </p:spPr>
        <p:txBody>
          <a:bodyPr wrap="square" rtlCol="0">
            <a:spAutoFit/>
          </a:bodyPr>
          <a:lstStyle/>
          <a:p>
            <a:pPr algn="ctr"/>
            <a:r>
              <a:rPr lang="en-US" b="1" dirty="0">
                <a:effectLst>
                  <a:outerShdw blurRad="38100" dist="38100" dir="2700000" algn="tl">
                    <a:srgbClr val="000000">
                      <a:alpha val="43137"/>
                    </a:srgbClr>
                  </a:outerShdw>
                </a:effectLst>
              </a:rPr>
              <a:t>Global Variables </a:t>
            </a:r>
          </a:p>
          <a:p>
            <a:pPr algn="ctr"/>
            <a:r>
              <a:rPr lang="en-US" b="1" dirty="0">
                <a:effectLst>
                  <a:outerShdw blurRad="38100" dist="38100" dir="2700000" algn="tl">
                    <a:srgbClr val="000000">
                      <a:alpha val="43137"/>
                    </a:srgbClr>
                  </a:outerShdw>
                </a:effectLst>
              </a:rPr>
              <a:t>(all .c files in your code can access)</a:t>
            </a:r>
          </a:p>
        </p:txBody>
      </p:sp>
      <p:sp>
        <p:nvSpPr>
          <p:cNvPr id="8" name="TextBox 7">
            <a:extLst>
              <a:ext uri="{FF2B5EF4-FFF2-40B4-BE49-F238E27FC236}">
                <a16:creationId xmlns:a16="http://schemas.microsoft.com/office/drawing/2014/main" id="{DA832F2C-333C-7663-A4FC-922893DDDB69}"/>
              </a:ext>
            </a:extLst>
          </p:cNvPr>
          <p:cNvSpPr txBox="1"/>
          <p:nvPr/>
        </p:nvSpPr>
        <p:spPr>
          <a:xfrm>
            <a:off x="3735950" y="2504255"/>
            <a:ext cx="2938982" cy="369332"/>
          </a:xfrm>
          <a:prstGeom prst="rect">
            <a:avLst/>
          </a:prstGeom>
          <a:noFill/>
        </p:spPr>
        <p:txBody>
          <a:bodyPr wrap="square" rtlCol="0">
            <a:spAutoFit/>
          </a:bodyPr>
          <a:lstStyle/>
          <a:p>
            <a:pPr algn="ctr"/>
            <a:r>
              <a:rPr lang="en-US" b="1" u="sng" dirty="0" err="1">
                <a:solidFill>
                  <a:schemeClr val="bg1"/>
                </a:solidFill>
                <a:effectLst>
                  <a:outerShdw blurRad="38100" dist="38100" dir="2700000" algn="tl">
                    <a:srgbClr val="000000">
                      <a:alpha val="43137"/>
                    </a:srgbClr>
                  </a:outerShdw>
                </a:effectLst>
              </a:rPr>
              <a:t>SomeFile.c</a:t>
            </a:r>
            <a:endParaRPr lang="en-US" b="1" u="sng" dirty="0">
              <a:solidFill>
                <a:schemeClr val="bg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97790468-FE77-1A92-9142-1A9CAE6C3372}"/>
              </a:ext>
            </a:extLst>
          </p:cNvPr>
          <p:cNvSpPr txBox="1"/>
          <p:nvPr/>
        </p:nvSpPr>
        <p:spPr>
          <a:xfrm>
            <a:off x="3331148" y="3089714"/>
            <a:ext cx="3700852" cy="646331"/>
          </a:xfrm>
          <a:prstGeom prst="rect">
            <a:avLst/>
          </a:prstGeom>
          <a:noFill/>
        </p:spPr>
        <p:txBody>
          <a:bodyPr wrap="square" rtlCol="0">
            <a:spAutoFit/>
          </a:bodyPr>
          <a:lstStyle/>
          <a:p>
            <a:pPr algn="ctr"/>
            <a:r>
              <a:rPr lang="en-US" b="1" dirty="0">
                <a:effectLst>
                  <a:outerShdw blurRad="38100" dist="38100" dir="2700000" algn="tl">
                    <a:srgbClr val="000000">
                      <a:alpha val="43137"/>
                    </a:srgbClr>
                  </a:outerShdw>
                </a:effectLst>
              </a:rPr>
              <a:t>Global Static Variables </a:t>
            </a:r>
          </a:p>
          <a:p>
            <a:pPr algn="ctr"/>
            <a:r>
              <a:rPr lang="en-US" b="1" dirty="0">
                <a:effectLst>
                  <a:outerShdw blurRad="38100" dist="38100" dir="2700000" algn="tl">
                    <a:srgbClr val="000000">
                      <a:alpha val="43137"/>
                    </a:srgbClr>
                  </a:outerShdw>
                </a:effectLst>
              </a:rPr>
              <a:t>(only methods in </a:t>
            </a:r>
            <a:r>
              <a:rPr lang="en-US" b="1" dirty="0" err="1">
                <a:effectLst>
                  <a:outerShdw blurRad="38100" dist="38100" dir="2700000" algn="tl">
                    <a:srgbClr val="000000">
                      <a:alpha val="43137"/>
                    </a:srgbClr>
                  </a:outerShdw>
                </a:effectLst>
              </a:rPr>
              <a:t>SomeFile.c</a:t>
            </a:r>
            <a:r>
              <a:rPr lang="en-US" b="1" dirty="0">
                <a:effectLst>
                  <a:outerShdw blurRad="38100" dist="38100" dir="2700000" algn="tl">
                    <a:srgbClr val="000000">
                      <a:alpha val="43137"/>
                    </a:srgbClr>
                  </a:outerShdw>
                </a:effectLst>
              </a:rPr>
              <a:t> can use)</a:t>
            </a:r>
          </a:p>
        </p:txBody>
      </p:sp>
      <p:sp>
        <p:nvSpPr>
          <p:cNvPr id="10" name="Oval 9">
            <a:extLst>
              <a:ext uri="{FF2B5EF4-FFF2-40B4-BE49-F238E27FC236}">
                <a16:creationId xmlns:a16="http://schemas.microsoft.com/office/drawing/2014/main" id="{778D0841-5BB7-E708-0BC4-4AC656109E4C}"/>
              </a:ext>
            </a:extLst>
          </p:cNvPr>
          <p:cNvSpPr/>
          <p:nvPr/>
        </p:nvSpPr>
        <p:spPr>
          <a:xfrm>
            <a:off x="3331148" y="4069229"/>
            <a:ext cx="2891602" cy="2164106"/>
          </a:xfrm>
          <a:prstGeom prst="ellipse">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4AE61A3-5967-EC9B-1C9E-27A0DF6504E3}"/>
              </a:ext>
            </a:extLst>
          </p:cNvPr>
          <p:cNvSpPr txBox="1"/>
          <p:nvPr/>
        </p:nvSpPr>
        <p:spPr>
          <a:xfrm>
            <a:off x="3331148" y="3737000"/>
            <a:ext cx="2938982" cy="369332"/>
          </a:xfrm>
          <a:prstGeom prst="rect">
            <a:avLst/>
          </a:prstGeom>
          <a:noFill/>
        </p:spPr>
        <p:txBody>
          <a:bodyPr wrap="square" rtlCol="0">
            <a:spAutoFit/>
          </a:bodyPr>
          <a:lstStyle/>
          <a:p>
            <a:pPr algn="ctr"/>
            <a:r>
              <a:rPr lang="en-US" b="1" u="sng" dirty="0">
                <a:solidFill>
                  <a:schemeClr val="bg1"/>
                </a:solidFill>
                <a:effectLst>
                  <a:outerShdw blurRad="38100" dist="38100" dir="2700000" algn="tl">
                    <a:srgbClr val="000000">
                      <a:alpha val="43137"/>
                    </a:srgbClr>
                  </a:outerShdw>
                </a:effectLst>
              </a:rPr>
              <a:t>void </a:t>
            </a:r>
            <a:r>
              <a:rPr lang="en-US" b="1" u="sng" dirty="0" err="1">
                <a:solidFill>
                  <a:schemeClr val="bg1"/>
                </a:solidFill>
                <a:effectLst>
                  <a:outerShdw blurRad="38100" dist="38100" dir="2700000" algn="tl">
                    <a:srgbClr val="000000">
                      <a:alpha val="43137"/>
                    </a:srgbClr>
                  </a:outerShdw>
                </a:effectLst>
              </a:rPr>
              <a:t>SomeMethod</a:t>
            </a:r>
            <a:r>
              <a:rPr lang="en-US" b="1" u="sng" dirty="0">
                <a:solidFill>
                  <a:schemeClr val="bg1"/>
                </a:solidFill>
                <a:effectLst>
                  <a:outerShdw blurRad="38100" dist="38100" dir="2700000" algn="tl">
                    <a:srgbClr val="000000">
                      <a:alpha val="43137"/>
                    </a:srgbClr>
                  </a:outerShdw>
                </a:effectLst>
              </a:rPr>
              <a:t>()</a:t>
            </a:r>
          </a:p>
        </p:txBody>
      </p:sp>
      <p:sp>
        <p:nvSpPr>
          <p:cNvPr id="12" name="TextBox 11">
            <a:extLst>
              <a:ext uri="{FF2B5EF4-FFF2-40B4-BE49-F238E27FC236}">
                <a16:creationId xmlns:a16="http://schemas.microsoft.com/office/drawing/2014/main" id="{2802E32D-EBBF-F336-C37C-825BC619C6B3}"/>
              </a:ext>
            </a:extLst>
          </p:cNvPr>
          <p:cNvSpPr txBox="1"/>
          <p:nvPr/>
        </p:nvSpPr>
        <p:spPr>
          <a:xfrm>
            <a:off x="3307458" y="4581287"/>
            <a:ext cx="2938982" cy="923330"/>
          </a:xfrm>
          <a:prstGeom prst="rect">
            <a:avLst/>
          </a:prstGeom>
          <a:noFill/>
        </p:spPr>
        <p:txBody>
          <a:bodyPr wrap="square" rtlCol="0">
            <a:spAutoFit/>
          </a:bodyPr>
          <a:lstStyle/>
          <a:p>
            <a:pPr algn="ctr"/>
            <a:r>
              <a:rPr lang="en-US" b="1" dirty="0">
                <a:effectLst>
                  <a:outerShdw blurRad="38100" dist="38100" dir="2700000" algn="tl">
                    <a:srgbClr val="000000">
                      <a:alpha val="43137"/>
                    </a:srgbClr>
                  </a:outerShdw>
                </a:effectLst>
              </a:rPr>
              <a:t>Local Static Variables </a:t>
            </a:r>
          </a:p>
          <a:p>
            <a:pPr algn="ctr"/>
            <a:r>
              <a:rPr lang="en-US" b="1" dirty="0">
                <a:effectLst>
                  <a:outerShdw blurRad="38100" dist="38100" dir="2700000" algn="tl">
                    <a:srgbClr val="000000">
                      <a:alpha val="43137"/>
                    </a:srgbClr>
                  </a:outerShdw>
                </a:effectLst>
              </a:rPr>
              <a:t>Local Variables</a:t>
            </a:r>
          </a:p>
          <a:p>
            <a:pPr algn="ctr"/>
            <a:r>
              <a:rPr lang="en-US" b="1" dirty="0">
                <a:effectLst>
                  <a:outerShdw blurRad="38100" dist="38100" dir="2700000" algn="tl">
                    <a:srgbClr val="000000">
                      <a:alpha val="43137"/>
                    </a:srgbClr>
                  </a:outerShdw>
                </a:effectLst>
              </a:rPr>
              <a:t>(only </a:t>
            </a:r>
            <a:r>
              <a:rPr lang="en-US" b="1" dirty="0" err="1">
                <a:effectLst>
                  <a:outerShdw blurRad="38100" dist="38100" dir="2700000" algn="tl">
                    <a:srgbClr val="000000">
                      <a:alpha val="43137"/>
                    </a:srgbClr>
                  </a:outerShdw>
                </a:effectLst>
              </a:rPr>
              <a:t>SomeMethod</a:t>
            </a:r>
            <a:r>
              <a:rPr lang="en-US" b="1" dirty="0">
                <a:effectLst>
                  <a:outerShdw blurRad="38100" dist="38100" dir="2700000" algn="tl">
                    <a:srgbClr val="000000">
                      <a:alpha val="43137"/>
                    </a:srgbClr>
                  </a:outerShdw>
                </a:effectLst>
              </a:rPr>
              <a:t> can use)</a:t>
            </a:r>
          </a:p>
        </p:txBody>
      </p:sp>
    </p:spTree>
    <p:extLst>
      <p:ext uri="{BB962C8B-B14F-4D97-AF65-F5344CB8AC3E}">
        <p14:creationId xmlns:p14="http://schemas.microsoft.com/office/powerpoint/2010/main" val="59306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p:bldP spid="10" grpId="0" animBg="1"/>
      <p:bldP spid="11"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Best Funny debugging Memes - 9GAG">
            <a:extLst>
              <a:ext uri="{FF2B5EF4-FFF2-40B4-BE49-F238E27FC236}">
                <a16:creationId xmlns:a16="http://schemas.microsoft.com/office/drawing/2014/main" id="{A4FE5B03-42ED-5529-15BE-DEA3CCABC1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5941"/>
          <a:stretch/>
        </p:blipFill>
        <p:spPr bwMode="auto">
          <a:xfrm>
            <a:off x="562383" y="1565303"/>
            <a:ext cx="4380809" cy="474496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BE99746-284D-53B6-A8B1-CE341663C22A}"/>
              </a:ext>
            </a:extLst>
          </p:cNvPr>
          <p:cNvSpPr>
            <a:spLocks noGrp="1"/>
          </p:cNvSpPr>
          <p:nvPr>
            <p:ph type="title"/>
          </p:nvPr>
        </p:nvSpPr>
        <p:spPr>
          <a:xfrm>
            <a:off x="838200" y="106891"/>
            <a:ext cx="10515600" cy="1325563"/>
          </a:xfrm>
        </p:spPr>
        <p:style>
          <a:lnRef idx="2">
            <a:schemeClr val="dk1"/>
          </a:lnRef>
          <a:fillRef idx="1">
            <a:schemeClr val="lt1"/>
          </a:fillRef>
          <a:effectRef idx="0">
            <a:schemeClr val="dk1"/>
          </a:effectRef>
          <a:fontRef idx="minor">
            <a:schemeClr val="dk1"/>
          </a:fontRef>
        </p:style>
        <p:txBody>
          <a:bodyPr/>
          <a:lstStyle/>
          <a:p>
            <a:r>
              <a:rPr lang="en-US" dirty="0"/>
              <a:t>Be cautious with static and global variables</a:t>
            </a:r>
          </a:p>
        </p:txBody>
      </p:sp>
      <p:sp>
        <p:nvSpPr>
          <p:cNvPr id="3" name="Content Placeholder 2">
            <a:extLst>
              <a:ext uri="{FF2B5EF4-FFF2-40B4-BE49-F238E27FC236}">
                <a16:creationId xmlns:a16="http://schemas.microsoft.com/office/drawing/2014/main" id="{104EEA69-05B3-AF86-D986-040E9F557623}"/>
              </a:ext>
            </a:extLst>
          </p:cNvPr>
          <p:cNvSpPr>
            <a:spLocks noGrp="1"/>
          </p:cNvSpPr>
          <p:nvPr>
            <p:ph idx="1"/>
          </p:nvPr>
        </p:nvSpPr>
        <p:spPr>
          <a:xfrm>
            <a:off x="5139267" y="1694401"/>
            <a:ext cx="6214533" cy="4621742"/>
          </a:xfrm>
        </p:spPr>
        <p:style>
          <a:lnRef idx="2">
            <a:schemeClr val="dk1"/>
          </a:lnRef>
          <a:fillRef idx="1">
            <a:schemeClr val="lt1"/>
          </a:fillRef>
          <a:effectRef idx="0">
            <a:schemeClr val="dk1"/>
          </a:effectRef>
          <a:fontRef idx="minor">
            <a:schemeClr val="dk1"/>
          </a:fontRef>
        </p:style>
        <p:txBody>
          <a:bodyPr/>
          <a:lstStyle/>
          <a:p>
            <a:r>
              <a:rPr lang="en-US" sz="3200" dirty="0"/>
              <a:t>“Nice” functions </a:t>
            </a:r>
            <a:r>
              <a:rPr lang="en-US" sz="3200" b="1" dirty="0">
                <a:solidFill>
                  <a:srgbClr val="00B0F0"/>
                </a:solidFill>
              </a:rPr>
              <a:t>only</a:t>
            </a:r>
            <a:r>
              <a:rPr lang="en-US" sz="3200" dirty="0"/>
              <a:t> depend on their inputs</a:t>
            </a:r>
          </a:p>
          <a:p>
            <a:pPr hangingPunct="1"/>
            <a:r>
              <a:rPr lang="en-US" sz="3200" dirty="0"/>
              <a:t>Static and global variables have side-effects</a:t>
            </a:r>
          </a:p>
          <a:p>
            <a:pPr lvl="1" hangingPunct="1"/>
            <a:r>
              <a:rPr lang="en-US" sz="2800" dirty="0"/>
              <a:t>Retain values across function calls</a:t>
            </a:r>
          </a:p>
          <a:p>
            <a:pPr lvl="1" hangingPunct="1"/>
            <a:r>
              <a:rPr lang="en-US" sz="2800" dirty="0"/>
              <a:t>Change the meaning of the function at each call!</a:t>
            </a:r>
          </a:p>
          <a:p>
            <a:pPr lvl="1" hangingPunct="1"/>
            <a:r>
              <a:rPr lang="en-US" sz="2800" dirty="0"/>
              <a:t>You cannot understand the function without holding </a:t>
            </a:r>
            <a:r>
              <a:rPr lang="en-US" sz="2800" b="1" u="sng" dirty="0"/>
              <a:t>all</a:t>
            </a:r>
            <a:r>
              <a:rPr lang="en-US" sz="2800" dirty="0"/>
              <a:t> the code in your head.</a:t>
            </a:r>
          </a:p>
          <a:p>
            <a:endParaRPr lang="en-US" dirty="0"/>
          </a:p>
        </p:txBody>
      </p:sp>
      <p:sp>
        <p:nvSpPr>
          <p:cNvPr id="6" name="TextBox 5">
            <a:extLst>
              <a:ext uri="{FF2B5EF4-FFF2-40B4-BE49-F238E27FC236}">
                <a16:creationId xmlns:a16="http://schemas.microsoft.com/office/drawing/2014/main" id="{0A68B887-3E96-693D-2989-5BAE3A8D04AC}"/>
              </a:ext>
            </a:extLst>
          </p:cNvPr>
          <p:cNvSpPr txBox="1"/>
          <p:nvPr/>
        </p:nvSpPr>
        <p:spPr>
          <a:xfrm>
            <a:off x="562383" y="1555303"/>
            <a:ext cx="4203700" cy="369332"/>
          </a:xfrm>
          <a:prstGeom prst="rect">
            <a:avLst/>
          </a:prstGeom>
          <a:noFill/>
        </p:spPr>
        <p:txBody>
          <a:bodyPr wrap="square" rtlCol="0">
            <a:spAutoFit/>
          </a:bodyP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Declares all variables globally:</a:t>
            </a:r>
          </a:p>
        </p:txBody>
      </p:sp>
      <p:sp>
        <p:nvSpPr>
          <p:cNvPr id="7" name="TextBox 6">
            <a:extLst>
              <a:ext uri="{FF2B5EF4-FFF2-40B4-BE49-F238E27FC236}">
                <a16:creationId xmlns:a16="http://schemas.microsoft.com/office/drawing/2014/main" id="{FC38CE23-FAB1-ACCF-C269-6E8943874139}"/>
              </a:ext>
            </a:extLst>
          </p:cNvPr>
          <p:cNvSpPr txBox="1"/>
          <p:nvPr/>
        </p:nvSpPr>
        <p:spPr>
          <a:xfrm>
            <a:off x="739492" y="3891097"/>
            <a:ext cx="4203700" cy="369332"/>
          </a:xfrm>
          <a:prstGeom prst="rect">
            <a:avLst/>
          </a:prstGeom>
          <a:noFill/>
        </p:spPr>
        <p:txBody>
          <a:bodyPr wrap="square" rtlCol="0">
            <a:spAutoFit/>
          </a:bodyPr>
          <a:lstStyle/>
          <a:p>
            <a:pPr algn="ctr"/>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30 seconds later when errors occur:</a:t>
            </a:r>
          </a:p>
        </p:txBody>
      </p:sp>
    </p:spTree>
    <p:extLst>
      <p:ext uri="{BB962C8B-B14F-4D97-AF65-F5344CB8AC3E}">
        <p14:creationId xmlns:p14="http://schemas.microsoft.com/office/powerpoint/2010/main" val="661355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6FE0-831F-2833-22D2-AF859DBB46FB}"/>
              </a:ext>
            </a:extLst>
          </p:cNvPr>
          <p:cNvSpPr>
            <a:spLocks noGrp="1"/>
          </p:cNvSpPr>
          <p:nvPr>
            <p:ph type="title"/>
          </p:nvPr>
        </p:nvSpPr>
        <p:spPr/>
        <p:txBody>
          <a:bodyPr/>
          <a:lstStyle/>
          <a:p>
            <a:pPr algn="ctr"/>
            <a:r>
              <a:rPr lang="en-US" u="sng" dirty="0"/>
              <a:t>Function Call Context</a:t>
            </a:r>
          </a:p>
        </p:txBody>
      </p:sp>
      <p:sp>
        <p:nvSpPr>
          <p:cNvPr id="3" name="Content Placeholder 2">
            <a:extLst>
              <a:ext uri="{FF2B5EF4-FFF2-40B4-BE49-F238E27FC236}">
                <a16:creationId xmlns:a16="http://schemas.microsoft.com/office/drawing/2014/main" id="{A7333731-834F-2C5F-EFE3-9200BECDB93D}"/>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r>
              <a:rPr lang="en-US" dirty="0"/>
              <a:t>Function call context includes</a:t>
            </a:r>
          </a:p>
          <a:p>
            <a:pPr lvl="1"/>
            <a:r>
              <a:rPr lang="en-US" dirty="0"/>
              <a:t>Copies of function arguments (call-by-value)</a:t>
            </a:r>
          </a:p>
          <a:p>
            <a:pPr lvl="1"/>
            <a:r>
              <a:rPr lang="en-US" dirty="0"/>
              <a:t>(Auto) local variables</a:t>
            </a:r>
          </a:p>
          <a:p>
            <a:pPr lvl="1"/>
            <a:r>
              <a:rPr lang="en-US" dirty="0"/>
              <a:t>Return address, …</a:t>
            </a:r>
          </a:p>
          <a:p>
            <a:r>
              <a:rPr lang="en-US" dirty="0"/>
              <a:t> Call contexts managed automatically using the </a:t>
            </a:r>
            <a:r>
              <a:rPr lang="en-US" b="1" dirty="0">
                <a:solidFill>
                  <a:srgbClr val="FF0000"/>
                </a:solidFill>
              </a:rPr>
              <a:t>execution stack</a:t>
            </a:r>
          </a:p>
          <a:p>
            <a:pPr lvl="1"/>
            <a:r>
              <a:rPr lang="en-US" dirty="0"/>
              <a:t>A stack frame is created automatically for each function call</a:t>
            </a:r>
          </a:p>
          <a:p>
            <a:pPr lvl="1"/>
            <a:r>
              <a:rPr lang="en-US" dirty="0"/>
              <a:t>The frame lasts for the duration of the call</a:t>
            </a:r>
          </a:p>
          <a:p>
            <a:pPr lvl="1"/>
            <a:r>
              <a:rPr lang="en-US" dirty="0"/>
              <a:t>Discarded automatically when the function terminates</a:t>
            </a:r>
          </a:p>
          <a:p>
            <a:pPr lvl="1"/>
            <a:r>
              <a:rPr lang="en-US" dirty="0"/>
              <a:t>NOTHING in the frame survives the call</a:t>
            </a:r>
          </a:p>
          <a:p>
            <a:endParaRPr lang="en-US" dirty="0"/>
          </a:p>
        </p:txBody>
      </p:sp>
    </p:spTree>
    <p:extLst>
      <p:ext uri="{BB962C8B-B14F-4D97-AF65-F5344CB8AC3E}">
        <p14:creationId xmlns:p14="http://schemas.microsoft.com/office/powerpoint/2010/main" val="8379862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6ACF0-B36E-0605-F6A0-C285873D219F}"/>
              </a:ext>
            </a:extLst>
          </p:cNvPr>
          <p:cNvSpPr>
            <a:spLocks noGrp="1"/>
          </p:cNvSpPr>
          <p:nvPr>
            <p:ph type="title"/>
          </p:nvPr>
        </p:nvSpPr>
        <p:spPr>
          <a:xfrm>
            <a:off x="894348" y="2766218"/>
            <a:ext cx="10515600" cy="1325563"/>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50000" t="50000" r="50000" b="50000"/>
            </a:path>
            <a:tileRect/>
          </a:gradFill>
          <a:scene3d>
            <a:camera prst="orthographicFront"/>
            <a:lightRig rig="threePt" dir="t"/>
          </a:scene3d>
          <a:sp3d>
            <a:bevelT w="152400" h="50800" prst="softRound"/>
          </a:sp3d>
        </p:spPr>
        <p:txBody>
          <a:bodyPr/>
          <a:lstStyle/>
          <a:p>
            <a:pPr algn="ctr"/>
            <a:r>
              <a:rPr lang="en-US" b="1" dirty="0">
                <a:effectLst>
                  <a:outerShdw blurRad="38100" dist="38100" dir="2700000" algn="tl">
                    <a:srgbClr val="000000">
                      <a:alpha val="43137"/>
                    </a:srgbClr>
                  </a:outerShdw>
                </a:effectLst>
              </a:rPr>
              <a:t>3. Memory Organization</a:t>
            </a:r>
          </a:p>
        </p:txBody>
      </p:sp>
    </p:spTree>
    <p:extLst>
      <p:ext uri="{BB962C8B-B14F-4D97-AF65-F5344CB8AC3E}">
        <p14:creationId xmlns:p14="http://schemas.microsoft.com/office/powerpoint/2010/main" val="960638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Shape 680"/>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Memory Organization</a:t>
            </a:r>
            <a:endParaRPr sz="4000" dirty="0"/>
          </a:p>
        </p:txBody>
      </p:sp>
      <p:sp>
        <p:nvSpPr>
          <p:cNvPr id="683" name="Shape 683"/>
          <p:cNvSpPr>
            <a:spLocks noGrp="1"/>
          </p:cNvSpPr>
          <p:nvPr>
            <p:ph type="body" idx="1"/>
          </p:nvPr>
        </p:nvSpPr>
        <p:spPr>
          <a:xfrm>
            <a:off x="645695" y="1617290"/>
            <a:ext cx="4436833" cy="4616648"/>
          </a:xfrm>
          <a:prstGeom prst="rect">
            <a:avLst/>
          </a:prstGeom>
        </p:spPr>
        <p:txBody>
          <a:bodyPr/>
          <a:lstStyle/>
          <a:p>
            <a:pPr lvl="0">
              <a:defRPr sz="1800">
                <a:solidFill>
                  <a:srgbClr val="000000"/>
                </a:solidFill>
              </a:defRPr>
            </a:pPr>
            <a:r>
              <a:rPr sz="2109" dirty="0">
                <a:solidFill>
                  <a:srgbClr val="941100"/>
                </a:solidFill>
              </a:rPr>
              <a:t>Memory….</a:t>
            </a:r>
          </a:p>
          <a:p>
            <a:pPr lvl="1">
              <a:defRPr sz="1800">
                <a:solidFill>
                  <a:srgbClr val="000000"/>
                </a:solidFill>
              </a:defRPr>
            </a:pPr>
            <a:r>
              <a:rPr sz="2109" dirty="0">
                <a:solidFill>
                  <a:srgbClr val="747474"/>
                </a:solidFill>
              </a:rPr>
              <a:t>Every </a:t>
            </a:r>
            <a:r>
              <a:rPr sz="2109" i="1" dirty="0">
                <a:solidFill>
                  <a:srgbClr val="0433FF"/>
                </a:solidFill>
              </a:rPr>
              <a:t>Process</a:t>
            </a:r>
            <a:r>
              <a:rPr sz="2109" dirty="0">
                <a:solidFill>
                  <a:srgbClr val="747474"/>
                </a:solidFill>
              </a:rPr>
              <a:t> has an</a:t>
            </a:r>
          </a:p>
          <a:p>
            <a:pPr lvl="2">
              <a:defRPr sz="1800">
                <a:solidFill>
                  <a:srgbClr val="000000"/>
                </a:solidFill>
              </a:defRPr>
            </a:pPr>
            <a:r>
              <a:rPr sz="2109" b="1" dirty="0">
                <a:solidFill>
                  <a:srgbClr val="747474"/>
                </a:solidFill>
              </a:rPr>
              <a:t>Address Space</a:t>
            </a:r>
          </a:p>
        </p:txBody>
      </p:sp>
      <p:sp>
        <p:nvSpPr>
          <p:cNvPr id="685" name="Shape 685"/>
          <p:cNvSpPr/>
          <p:nvPr/>
        </p:nvSpPr>
        <p:spPr>
          <a:xfrm>
            <a:off x="7878162" y="1597782"/>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686" name="Shape 686"/>
          <p:cNvSpPr/>
          <p:nvPr/>
        </p:nvSpPr>
        <p:spPr>
          <a:xfrm>
            <a:off x="6335285" y="158534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687" name="Shape 687"/>
          <p:cNvSpPr/>
          <p:nvPr/>
        </p:nvSpPr>
        <p:spPr>
          <a:xfrm>
            <a:off x="6335285" y="6050894"/>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dirty="0"/>
              <a:t>0x00000000</a:t>
            </a:r>
          </a:p>
        </p:txBody>
      </p:sp>
      <p:sp>
        <p:nvSpPr>
          <p:cNvPr id="688" name="Shape 688"/>
          <p:cNvSpPr/>
          <p:nvPr/>
        </p:nvSpPr>
        <p:spPr>
          <a:xfrm>
            <a:off x="5701844" y="2108115"/>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689" name="Shape 689"/>
          <p:cNvSpPr/>
          <p:nvPr/>
        </p:nvSpPr>
        <p:spPr>
          <a:xfrm>
            <a:off x="5728276" y="5540382"/>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Tree>
    <p:extLst>
      <p:ext uri="{BB962C8B-B14F-4D97-AF65-F5344CB8AC3E}">
        <p14:creationId xmlns:p14="http://schemas.microsoft.com/office/powerpoint/2010/main" val="3687236090"/>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 name="Shape 694"/>
          <p:cNvSpPr>
            <a:spLocks noGrp="1"/>
          </p:cNvSpPr>
          <p:nvPr>
            <p:ph type="body" idx="1"/>
          </p:nvPr>
        </p:nvSpPr>
        <p:spPr/>
        <p:txBody>
          <a:bodyPr/>
          <a:lstStyle/>
          <a:p>
            <a:pPr lvl="0"/>
            <a:r>
              <a:rPr lang="en-US" dirty="0"/>
              <a:t>Memory….</a:t>
            </a:r>
          </a:p>
          <a:p>
            <a:pPr lvl="1"/>
            <a:r>
              <a:rPr lang="en-US" dirty="0"/>
              <a:t>Every </a:t>
            </a:r>
            <a:r>
              <a:rPr lang="en-US" i="1" dirty="0">
                <a:solidFill>
                  <a:srgbClr val="0433FF"/>
                </a:solidFill>
              </a:rPr>
              <a:t>Process</a:t>
            </a:r>
            <a:r>
              <a:rPr lang="en-US" dirty="0"/>
              <a:t> has an</a:t>
            </a:r>
          </a:p>
          <a:p>
            <a:pPr lvl="2"/>
            <a:r>
              <a:rPr lang="en-US" dirty="0"/>
              <a:t>Address Space</a:t>
            </a:r>
          </a:p>
          <a:p>
            <a:pPr lvl="1"/>
            <a:r>
              <a:rPr lang="en-US" b="1" dirty="0">
                <a:solidFill>
                  <a:srgbClr val="0433FF"/>
                </a:solidFill>
              </a:rPr>
              <a:t>Executable</a:t>
            </a:r>
            <a:r>
              <a:rPr lang="en-US" dirty="0"/>
              <a:t> code is at the bottom</a:t>
            </a:r>
          </a:p>
          <a:p>
            <a:pPr lvl="2"/>
            <a:r>
              <a:rPr lang="en-US" dirty="0"/>
              <a:t>Not exactly from address 0</a:t>
            </a:r>
          </a:p>
        </p:txBody>
      </p:sp>
      <p:sp>
        <p:nvSpPr>
          <p:cNvPr id="696" name="Shape 696"/>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697" name="Shape 697"/>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698" name="Shape 698"/>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0x00000000</a:t>
            </a:r>
          </a:p>
        </p:txBody>
      </p:sp>
      <p:sp>
        <p:nvSpPr>
          <p:cNvPr id="699" name="Shape 699"/>
          <p:cNvSpPr/>
          <p:nvPr/>
        </p:nvSpPr>
        <p:spPr>
          <a:xfrm>
            <a:off x="5701844" y="2073117"/>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700" name="Shape 700"/>
          <p:cNvSpPr/>
          <p:nvPr/>
        </p:nvSpPr>
        <p:spPr>
          <a:xfrm>
            <a:off x="5728276" y="5505384"/>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
        <p:nvSpPr>
          <p:cNvPr id="701" name="Shape 701"/>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5" name="Shape 680">
            <a:extLst>
              <a:ext uri="{FF2B5EF4-FFF2-40B4-BE49-F238E27FC236}">
                <a16:creationId xmlns:a16="http://schemas.microsoft.com/office/drawing/2014/main" id="{0417B7D4-BCCF-510A-23D5-031518CD3B30}"/>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Memory Organization</a:t>
            </a:r>
            <a:endParaRPr sz="4000" dirty="0"/>
          </a:p>
        </p:txBody>
      </p:sp>
    </p:spTree>
    <p:extLst>
      <p:ext uri="{BB962C8B-B14F-4D97-AF65-F5344CB8AC3E}">
        <p14:creationId xmlns:p14="http://schemas.microsoft.com/office/powerpoint/2010/main" val="6235176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 name="Shape 706"/>
          <p:cNvSpPr>
            <a:spLocks noGrp="1"/>
          </p:cNvSpPr>
          <p:nvPr>
            <p:ph type="body" idx="1"/>
          </p:nvPr>
        </p:nvSpPr>
        <p:spPr>
          <a:xfrm>
            <a:off x="645695" y="1659281"/>
            <a:ext cx="5187498" cy="4616648"/>
          </a:xfrm>
          <a:prstGeom prst="rect">
            <a:avLst/>
          </a:prstGeom>
        </p:spPr>
        <p:txBody>
          <a:bodyPr/>
          <a:lstStyle/>
          <a:p>
            <a:pPr lvl="0">
              <a:defRPr sz="1800">
                <a:solidFill>
                  <a:srgbClr val="000000"/>
                </a:solidFill>
              </a:defRPr>
            </a:pPr>
            <a:r>
              <a:rPr sz="2109" dirty="0">
                <a:solidFill>
                  <a:srgbClr val="941100"/>
                </a:solidFill>
              </a:rPr>
              <a:t>Memory….</a:t>
            </a:r>
          </a:p>
          <a:p>
            <a:pPr lvl="1">
              <a:defRPr sz="1800">
                <a:solidFill>
                  <a:srgbClr val="000000"/>
                </a:solidFill>
              </a:defRPr>
            </a:pPr>
            <a:r>
              <a:rPr sz="2109" dirty="0">
                <a:solidFill>
                  <a:srgbClr val="747474"/>
                </a:solidFill>
              </a:rPr>
              <a:t>Every </a:t>
            </a:r>
            <a:r>
              <a:rPr sz="2109" i="1" dirty="0">
                <a:solidFill>
                  <a:srgbClr val="0433FF"/>
                </a:solidFill>
              </a:rPr>
              <a:t>Process</a:t>
            </a:r>
            <a:r>
              <a:rPr sz="2109" dirty="0">
                <a:solidFill>
                  <a:srgbClr val="747474"/>
                </a:solidFill>
              </a:rPr>
              <a:t> has an</a:t>
            </a:r>
          </a:p>
          <a:p>
            <a:pPr lvl="2">
              <a:defRPr sz="1800">
                <a:solidFill>
                  <a:srgbClr val="000000"/>
                </a:solidFill>
              </a:defRPr>
            </a:pPr>
            <a:r>
              <a:rPr sz="2109" b="1" dirty="0">
                <a:solidFill>
                  <a:srgbClr val="747474"/>
                </a:solidFill>
              </a:rPr>
              <a:t>Address Space</a:t>
            </a:r>
          </a:p>
          <a:p>
            <a:pPr lvl="1">
              <a:defRPr sz="1800">
                <a:solidFill>
                  <a:srgbClr val="000000"/>
                </a:solidFill>
              </a:defRPr>
            </a:pPr>
            <a:r>
              <a:rPr sz="2109" b="1" dirty="0">
                <a:solidFill>
                  <a:srgbClr val="0433FF"/>
                </a:solidFill>
              </a:rPr>
              <a:t>Executable</a:t>
            </a:r>
            <a:r>
              <a:rPr sz="2109" dirty="0">
                <a:solidFill>
                  <a:srgbClr val="747474"/>
                </a:solidFill>
              </a:rPr>
              <a:t> code is at the bottom</a:t>
            </a:r>
          </a:p>
          <a:p>
            <a:pPr lvl="1">
              <a:defRPr sz="1800">
                <a:solidFill>
                  <a:srgbClr val="000000"/>
                </a:solidFill>
              </a:defRPr>
            </a:pPr>
            <a:r>
              <a:rPr sz="2109" b="1" dirty="0">
                <a:solidFill>
                  <a:srgbClr val="FF2F92"/>
                </a:solidFill>
              </a:rPr>
              <a:t>Statics</a:t>
            </a:r>
            <a:r>
              <a:rPr sz="2109" dirty="0">
                <a:solidFill>
                  <a:srgbClr val="747474"/>
                </a:solidFill>
              </a:rPr>
              <a:t> </a:t>
            </a:r>
            <a:r>
              <a:rPr lang="en-US" sz="2109" dirty="0">
                <a:solidFill>
                  <a:srgbClr val="747474"/>
                </a:solidFill>
              </a:rPr>
              <a:t>and </a:t>
            </a:r>
            <a:r>
              <a:rPr lang="en-US" sz="2109" dirty="0" err="1">
                <a:solidFill>
                  <a:srgbClr val="747474"/>
                </a:solidFill>
              </a:rPr>
              <a:t>globals</a:t>
            </a:r>
            <a:r>
              <a:rPr lang="en-US" sz="2109" dirty="0">
                <a:solidFill>
                  <a:srgbClr val="747474"/>
                </a:solidFill>
              </a:rPr>
              <a:t> </a:t>
            </a:r>
            <a:r>
              <a:rPr sz="2109" dirty="0">
                <a:solidFill>
                  <a:srgbClr val="747474"/>
                </a:solidFill>
              </a:rPr>
              <a:t>are just above </a:t>
            </a:r>
          </a:p>
        </p:txBody>
      </p:sp>
      <p:sp>
        <p:nvSpPr>
          <p:cNvPr id="708" name="Shape 708"/>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709" name="Shape 709"/>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710" name="Shape 710"/>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0x00000000</a:t>
            </a:r>
          </a:p>
        </p:txBody>
      </p:sp>
      <p:sp>
        <p:nvSpPr>
          <p:cNvPr id="711" name="Shape 711"/>
          <p:cNvSpPr/>
          <p:nvPr/>
        </p:nvSpPr>
        <p:spPr>
          <a:xfrm>
            <a:off x="5701844" y="2073117"/>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712" name="Shape 712"/>
          <p:cNvSpPr/>
          <p:nvPr/>
        </p:nvSpPr>
        <p:spPr>
          <a:xfrm>
            <a:off x="5728276" y="5505384"/>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
        <p:nvSpPr>
          <p:cNvPr id="713" name="Shape 713"/>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714" name="Shape 714"/>
          <p:cNvSpPr/>
          <p:nvPr/>
        </p:nvSpPr>
        <p:spPr>
          <a:xfrm>
            <a:off x="7878162" y="5768771"/>
            <a:ext cx="2442496" cy="175094"/>
          </a:xfrm>
          <a:prstGeom prst="rect">
            <a:avLst/>
          </a:prstGeom>
          <a:solidFill>
            <a:srgbClr val="FF2F92"/>
          </a:solidFill>
          <a:ln w="25400">
            <a:solidFill/>
            <a:miter lim="400000"/>
          </a:ln>
        </p:spPr>
        <p:txBody>
          <a:bodyPr lIns="0" tIns="0" rIns="0" bIns="0" anchor="ctr"/>
          <a:lstStyle/>
          <a:p>
            <a:pPr lvl="0">
              <a:defRPr sz="3400"/>
            </a:pPr>
            <a:endParaRPr sz="2391"/>
          </a:p>
        </p:txBody>
      </p:sp>
      <p:sp>
        <p:nvSpPr>
          <p:cNvPr id="5" name="Shape 680">
            <a:extLst>
              <a:ext uri="{FF2B5EF4-FFF2-40B4-BE49-F238E27FC236}">
                <a16:creationId xmlns:a16="http://schemas.microsoft.com/office/drawing/2014/main" id="{812DC122-4A6A-14D7-2661-0DB088D63176}"/>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Memory Organization</a:t>
            </a:r>
            <a:endParaRPr sz="4000" dirty="0"/>
          </a:p>
        </p:txBody>
      </p:sp>
    </p:spTree>
    <p:extLst>
      <p:ext uri="{BB962C8B-B14F-4D97-AF65-F5344CB8AC3E}">
        <p14:creationId xmlns:p14="http://schemas.microsoft.com/office/powerpoint/2010/main" val="2198499058"/>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 name="Shape 719"/>
          <p:cNvSpPr>
            <a:spLocks noGrp="1"/>
          </p:cNvSpPr>
          <p:nvPr>
            <p:ph type="body" idx="1"/>
          </p:nvPr>
        </p:nvSpPr>
        <p:spPr>
          <a:xfrm>
            <a:off x="645695" y="1626112"/>
            <a:ext cx="5187498" cy="4616648"/>
          </a:xfrm>
          <a:prstGeom prst="rect">
            <a:avLst/>
          </a:prstGeom>
        </p:spPr>
        <p:txBody>
          <a:bodyPr/>
          <a:lstStyle/>
          <a:p>
            <a:pPr lvl="0">
              <a:defRPr sz="1800">
                <a:solidFill>
                  <a:srgbClr val="000000"/>
                </a:solidFill>
              </a:defRPr>
            </a:pPr>
            <a:r>
              <a:rPr sz="2109" dirty="0">
                <a:solidFill>
                  <a:srgbClr val="941100"/>
                </a:solidFill>
              </a:rPr>
              <a:t>Memory….</a:t>
            </a:r>
          </a:p>
          <a:p>
            <a:pPr lvl="1">
              <a:defRPr sz="1800">
                <a:solidFill>
                  <a:srgbClr val="000000"/>
                </a:solidFill>
              </a:defRPr>
            </a:pPr>
            <a:r>
              <a:rPr sz="2109" dirty="0">
                <a:solidFill>
                  <a:srgbClr val="747474"/>
                </a:solidFill>
              </a:rPr>
              <a:t>Every </a:t>
            </a:r>
            <a:r>
              <a:rPr sz="2109" i="1" dirty="0">
                <a:solidFill>
                  <a:srgbClr val="0433FF"/>
                </a:solidFill>
              </a:rPr>
              <a:t>Process</a:t>
            </a:r>
            <a:r>
              <a:rPr sz="2109" dirty="0">
                <a:solidFill>
                  <a:srgbClr val="747474"/>
                </a:solidFill>
              </a:rPr>
              <a:t> has an</a:t>
            </a:r>
          </a:p>
          <a:p>
            <a:pPr lvl="2">
              <a:defRPr sz="1800">
                <a:solidFill>
                  <a:srgbClr val="000000"/>
                </a:solidFill>
              </a:defRPr>
            </a:pPr>
            <a:r>
              <a:rPr sz="2109" b="1" dirty="0">
                <a:solidFill>
                  <a:srgbClr val="747474"/>
                </a:solidFill>
              </a:rPr>
              <a:t>Address Space</a:t>
            </a:r>
          </a:p>
          <a:p>
            <a:pPr lvl="1">
              <a:defRPr sz="1800">
                <a:solidFill>
                  <a:srgbClr val="000000"/>
                </a:solidFill>
              </a:defRPr>
            </a:pPr>
            <a:r>
              <a:rPr sz="2109" b="1" dirty="0">
                <a:solidFill>
                  <a:srgbClr val="0433FF"/>
                </a:solidFill>
              </a:rPr>
              <a:t>Executable</a:t>
            </a:r>
            <a:r>
              <a:rPr sz="2109" dirty="0">
                <a:solidFill>
                  <a:srgbClr val="747474"/>
                </a:solidFill>
              </a:rPr>
              <a:t> code is at the bottom</a:t>
            </a:r>
          </a:p>
          <a:p>
            <a:pPr lvl="1">
              <a:defRPr sz="1800">
                <a:solidFill>
                  <a:srgbClr val="000000"/>
                </a:solidFill>
              </a:defRPr>
            </a:pPr>
            <a:r>
              <a:rPr sz="2109" b="1" dirty="0">
                <a:solidFill>
                  <a:srgbClr val="FF2F92"/>
                </a:solidFill>
              </a:rPr>
              <a:t>Statics</a:t>
            </a:r>
            <a:r>
              <a:rPr sz="2109" dirty="0">
                <a:solidFill>
                  <a:srgbClr val="747474"/>
                </a:solidFill>
              </a:rPr>
              <a:t> </a:t>
            </a:r>
            <a:r>
              <a:rPr lang="en-US" sz="2109" dirty="0">
                <a:solidFill>
                  <a:srgbClr val="747474"/>
                </a:solidFill>
              </a:rPr>
              <a:t>and </a:t>
            </a:r>
            <a:r>
              <a:rPr lang="en-US" sz="2109" dirty="0" err="1">
                <a:solidFill>
                  <a:srgbClr val="747474"/>
                </a:solidFill>
              </a:rPr>
              <a:t>globals</a:t>
            </a:r>
            <a:r>
              <a:rPr lang="en-US" sz="2109" dirty="0">
                <a:solidFill>
                  <a:srgbClr val="747474"/>
                </a:solidFill>
              </a:rPr>
              <a:t> </a:t>
            </a:r>
            <a:r>
              <a:rPr sz="2109" dirty="0">
                <a:solidFill>
                  <a:srgbClr val="747474"/>
                </a:solidFill>
              </a:rPr>
              <a:t>are just above</a:t>
            </a:r>
          </a:p>
          <a:p>
            <a:pPr lvl="1">
              <a:defRPr sz="1800">
                <a:solidFill>
                  <a:srgbClr val="000000"/>
                </a:solidFill>
              </a:defRPr>
            </a:pPr>
            <a:r>
              <a:rPr sz="2109" b="1" dirty="0">
                <a:solidFill>
                  <a:srgbClr val="FF2600"/>
                </a:solidFill>
              </a:rPr>
              <a:t>Stack</a:t>
            </a:r>
            <a:r>
              <a:rPr sz="2109" dirty="0">
                <a:solidFill>
                  <a:srgbClr val="747474"/>
                </a:solidFill>
              </a:rPr>
              <a:t> is at the top (going down!) </a:t>
            </a:r>
          </a:p>
        </p:txBody>
      </p:sp>
      <p:sp>
        <p:nvSpPr>
          <p:cNvPr id="721" name="Shape 721"/>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722" name="Shape 722"/>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723" name="Shape 723"/>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0x00000000</a:t>
            </a:r>
          </a:p>
        </p:txBody>
      </p:sp>
      <p:sp>
        <p:nvSpPr>
          <p:cNvPr id="724" name="Shape 724"/>
          <p:cNvSpPr/>
          <p:nvPr/>
        </p:nvSpPr>
        <p:spPr>
          <a:xfrm>
            <a:off x="5701844" y="2073117"/>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725" name="Shape 725"/>
          <p:cNvSpPr/>
          <p:nvPr/>
        </p:nvSpPr>
        <p:spPr>
          <a:xfrm>
            <a:off x="5728276" y="5505384"/>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
        <p:nvSpPr>
          <p:cNvPr id="726" name="Shape 726"/>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727" name="Shape 727"/>
          <p:cNvSpPr/>
          <p:nvPr/>
        </p:nvSpPr>
        <p:spPr>
          <a:xfrm>
            <a:off x="7878162" y="5768771"/>
            <a:ext cx="2442496" cy="175094"/>
          </a:xfrm>
          <a:prstGeom prst="rect">
            <a:avLst/>
          </a:prstGeom>
          <a:solidFill>
            <a:srgbClr val="FF2F92"/>
          </a:solidFill>
          <a:ln w="25400">
            <a:solidFill/>
            <a:miter lim="400000"/>
          </a:ln>
        </p:spPr>
        <p:txBody>
          <a:bodyPr lIns="0" tIns="0" rIns="0" bIns="0" anchor="ctr"/>
          <a:lstStyle/>
          <a:p>
            <a:pPr lvl="0">
              <a:defRPr sz="3400"/>
            </a:pPr>
            <a:endParaRPr sz="2391"/>
          </a:p>
        </p:txBody>
      </p:sp>
      <p:sp>
        <p:nvSpPr>
          <p:cNvPr id="728" name="Shape 728"/>
          <p:cNvSpPr/>
          <p:nvPr/>
        </p:nvSpPr>
        <p:spPr>
          <a:xfrm>
            <a:off x="7878162" y="1562785"/>
            <a:ext cx="2442496" cy="811849"/>
          </a:xfrm>
          <a:prstGeom prst="rect">
            <a:avLst/>
          </a:prstGeom>
          <a:solidFill>
            <a:srgbClr val="FF2600"/>
          </a:solidFill>
          <a:ln w="25400">
            <a:solidFill/>
            <a:miter lim="400000"/>
          </a:ln>
        </p:spPr>
        <p:txBody>
          <a:bodyPr lIns="0" tIns="0" rIns="0" bIns="0" anchor="ctr"/>
          <a:lstStyle/>
          <a:p>
            <a:pPr lvl="0">
              <a:defRPr sz="3400"/>
            </a:pPr>
            <a:endParaRPr sz="2391"/>
          </a:p>
        </p:txBody>
      </p:sp>
      <p:sp>
        <p:nvSpPr>
          <p:cNvPr id="729" name="Shape 729"/>
          <p:cNvSpPr/>
          <p:nvPr/>
        </p:nvSpPr>
        <p:spPr>
          <a:xfrm rot="5400000">
            <a:off x="8652926" y="2182229"/>
            <a:ext cx="892969" cy="892969"/>
          </a:xfrm>
          <a:prstGeom prst="rightArrow">
            <a:avLst>
              <a:gd name="adj1" fmla="val 32000"/>
              <a:gd name="adj2" fmla="val 64000"/>
            </a:avLst>
          </a:prstGeom>
          <a:solidFill>
            <a:srgbClr val="FF2600"/>
          </a:solidFill>
          <a:ln w="12700">
            <a:miter lim="400000"/>
          </a:ln>
        </p:spPr>
        <p:txBody>
          <a:bodyPr lIns="0" tIns="0" rIns="0" bIns="0" anchor="ctr"/>
          <a:lstStyle/>
          <a:p>
            <a:pPr lvl="0">
              <a:defRPr sz="3400"/>
            </a:pPr>
            <a:endParaRPr sz="2391"/>
          </a:p>
        </p:txBody>
      </p:sp>
      <p:sp>
        <p:nvSpPr>
          <p:cNvPr id="5" name="Shape 680">
            <a:extLst>
              <a:ext uri="{FF2B5EF4-FFF2-40B4-BE49-F238E27FC236}">
                <a16:creationId xmlns:a16="http://schemas.microsoft.com/office/drawing/2014/main" id="{B916161A-34BF-E1CA-86DB-DB5AB304D8BF}"/>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Memory Organization</a:t>
            </a:r>
            <a:endParaRPr sz="4000" dirty="0"/>
          </a:p>
        </p:txBody>
      </p:sp>
    </p:spTree>
    <p:extLst>
      <p:ext uri="{BB962C8B-B14F-4D97-AF65-F5344CB8AC3E}">
        <p14:creationId xmlns:p14="http://schemas.microsoft.com/office/powerpoint/2010/main" val="978410418"/>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 name="Shape 734"/>
          <p:cNvSpPr>
            <a:spLocks noGrp="1"/>
          </p:cNvSpPr>
          <p:nvPr>
            <p:ph type="body" idx="1"/>
          </p:nvPr>
        </p:nvSpPr>
        <p:spPr>
          <a:xfrm>
            <a:off x="645695" y="1626112"/>
            <a:ext cx="5355754" cy="4616648"/>
          </a:xfrm>
          <a:prstGeom prst="rect">
            <a:avLst/>
          </a:prstGeom>
        </p:spPr>
        <p:txBody>
          <a:bodyPr/>
          <a:lstStyle/>
          <a:p>
            <a:pPr lvl="0">
              <a:defRPr sz="1800">
                <a:solidFill>
                  <a:srgbClr val="000000"/>
                </a:solidFill>
              </a:defRPr>
            </a:pPr>
            <a:r>
              <a:rPr sz="2109" dirty="0">
                <a:solidFill>
                  <a:srgbClr val="941100"/>
                </a:solidFill>
              </a:rPr>
              <a:t>Memory….</a:t>
            </a:r>
          </a:p>
          <a:p>
            <a:pPr lvl="1">
              <a:defRPr sz="1800">
                <a:solidFill>
                  <a:srgbClr val="000000"/>
                </a:solidFill>
              </a:defRPr>
            </a:pPr>
            <a:r>
              <a:rPr sz="2109" dirty="0">
                <a:solidFill>
                  <a:srgbClr val="747474"/>
                </a:solidFill>
              </a:rPr>
              <a:t>Every </a:t>
            </a:r>
            <a:r>
              <a:rPr sz="2109" i="1" dirty="0">
                <a:solidFill>
                  <a:srgbClr val="0433FF"/>
                </a:solidFill>
              </a:rPr>
              <a:t>Process</a:t>
            </a:r>
            <a:r>
              <a:rPr sz="2109" dirty="0">
                <a:solidFill>
                  <a:srgbClr val="747474"/>
                </a:solidFill>
              </a:rPr>
              <a:t> has an</a:t>
            </a:r>
          </a:p>
          <a:p>
            <a:pPr lvl="2">
              <a:defRPr sz="1800">
                <a:solidFill>
                  <a:srgbClr val="000000"/>
                </a:solidFill>
              </a:defRPr>
            </a:pPr>
            <a:r>
              <a:rPr sz="2109" b="1" dirty="0">
                <a:solidFill>
                  <a:srgbClr val="747474"/>
                </a:solidFill>
              </a:rPr>
              <a:t>Address Space</a:t>
            </a:r>
          </a:p>
          <a:p>
            <a:pPr lvl="1">
              <a:defRPr sz="1800">
                <a:solidFill>
                  <a:srgbClr val="000000"/>
                </a:solidFill>
              </a:defRPr>
            </a:pPr>
            <a:r>
              <a:rPr sz="2109" b="1" dirty="0">
                <a:solidFill>
                  <a:srgbClr val="0433FF"/>
                </a:solidFill>
              </a:rPr>
              <a:t>Executable</a:t>
            </a:r>
            <a:r>
              <a:rPr sz="2109" dirty="0">
                <a:solidFill>
                  <a:srgbClr val="747474"/>
                </a:solidFill>
              </a:rPr>
              <a:t> code is at the bottom</a:t>
            </a:r>
          </a:p>
          <a:p>
            <a:pPr lvl="1">
              <a:defRPr sz="1800">
                <a:solidFill>
                  <a:srgbClr val="000000"/>
                </a:solidFill>
              </a:defRPr>
            </a:pPr>
            <a:r>
              <a:rPr sz="2109" b="1" dirty="0">
                <a:solidFill>
                  <a:srgbClr val="FF2F92"/>
                </a:solidFill>
              </a:rPr>
              <a:t>Statics</a:t>
            </a:r>
            <a:r>
              <a:rPr sz="2109" dirty="0">
                <a:solidFill>
                  <a:srgbClr val="747474"/>
                </a:solidFill>
              </a:rPr>
              <a:t> </a:t>
            </a:r>
            <a:r>
              <a:rPr lang="en-US" sz="2109" dirty="0">
                <a:solidFill>
                  <a:srgbClr val="747474"/>
                </a:solidFill>
              </a:rPr>
              <a:t>and </a:t>
            </a:r>
            <a:r>
              <a:rPr lang="en-US" sz="2109" dirty="0" err="1">
                <a:solidFill>
                  <a:srgbClr val="747474"/>
                </a:solidFill>
              </a:rPr>
              <a:t>globals</a:t>
            </a:r>
            <a:r>
              <a:rPr lang="en-US" sz="2109" dirty="0">
                <a:solidFill>
                  <a:srgbClr val="747474"/>
                </a:solidFill>
              </a:rPr>
              <a:t> </a:t>
            </a:r>
            <a:r>
              <a:rPr sz="2109" dirty="0">
                <a:solidFill>
                  <a:srgbClr val="747474"/>
                </a:solidFill>
              </a:rPr>
              <a:t>are just above</a:t>
            </a:r>
          </a:p>
          <a:p>
            <a:pPr lvl="1">
              <a:defRPr sz="1800">
                <a:solidFill>
                  <a:srgbClr val="000000"/>
                </a:solidFill>
              </a:defRPr>
            </a:pPr>
            <a:r>
              <a:rPr sz="2109" b="1" dirty="0">
                <a:solidFill>
                  <a:srgbClr val="FF2600"/>
                </a:solidFill>
              </a:rPr>
              <a:t>Stack</a:t>
            </a:r>
            <a:r>
              <a:rPr sz="2109" dirty="0">
                <a:solidFill>
                  <a:srgbClr val="747474"/>
                </a:solidFill>
              </a:rPr>
              <a:t> is at the top (going down!) </a:t>
            </a:r>
          </a:p>
          <a:p>
            <a:pPr lvl="1">
              <a:defRPr sz="1800">
                <a:solidFill>
                  <a:srgbClr val="000000"/>
                </a:solidFill>
              </a:defRPr>
            </a:pPr>
            <a:r>
              <a:rPr sz="2109" b="1" dirty="0">
                <a:solidFill>
                  <a:srgbClr val="FFFB00"/>
                </a:solidFill>
              </a:rPr>
              <a:t>Heap</a:t>
            </a:r>
            <a:r>
              <a:rPr sz="2109" dirty="0">
                <a:solidFill>
                  <a:srgbClr val="747474"/>
                </a:solidFill>
              </a:rPr>
              <a:t> grows from the bottom (going up!)</a:t>
            </a:r>
          </a:p>
        </p:txBody>
      </p:sp>
      <p:sp>
        <p:nvSpPr>
          <p:cNvPr id="736" name="Shape 736"/>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737" name="Shape 737"/>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738" name="Shape 738"/>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0x00000000</a:t>
            </a:r>
          </a:p>
        </p:txBody>
      </p:sp>
      <p:sp>
        <p:nvSpPr>
          <p:cNvPr id="739" name="Shape 739"/>
          <p:cNvSpPr/>
          <p:nvPr/>
        </p:nvSpPr>
        <p:spPr>
          <a:xfrm>
            <a:off x="5701844" y="2073117"/>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740" name="Shape 740"/>
          <p:cNvSpPr/>
          <p:nvPr/>
        </p:nvSpPr>
        <p:spPr>
          <a:xfrm>
            <a:off x="5728276" y="5505384"/>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
        <p:nvSpPr>
          <p:cNvPr id="741" name="Shape 741"/>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742" name="Shape 742"/>
          <p:cNvSpPr/>
          <p:nvPr/>
        </p:nvSpPr>
        <p:spPr>
          <a:xfrm>
            <a:off x="7878162" y="5768771"/>
            <a:ext cx="2442496" cy="175094"/>
          </a:xfrm>
          <a:prstGeom prst="rect">
            <a:avLst/>
          </a:prstGeom>
          <a:solidFill>
            <a:srgbClr val="FF2F92"/>
          </a:solidFill>
          <a:ln w="25400">
            <a:solidFill/>
            <a:miter lim="400000"/>
          </a:ln>
        </p:spPr>
        <p:txBody>
          <a:bodyPr lIns="0" tIns="0" rIns="0" bIns="0" anchor="ctr"/>
          <a:lstStyle/>
          <a:p>
            <a:pPr lvl="0">
              <a:defRPr sz="3400"/>
            </a:pPr>
            <a:endParaRPr sz="2391"/>
          </a:p>
        </p:txBody>
      </p:sp>
      <p:sp>
        <p:nvSpPr>
          <p:cNvPr id="743" name="Shape 743"/>
          <p:cNvSpPr/>
          <p:nvPr/>
        </p:nvSpPr>
        <p:spPr>
          <a:xfrm>
            <a:off x="7878162" y="1562785"/>
            <a:ext cx="2442496" cy="811849"/>
          </a:xfrm>
          <a:prstGeom prst="rect">
            <a:avLst/>
          </a:prstGeom>
          <a:solidFill>
            <a:srgbClr val="FF2600"/>
          </a:solidFill>
          <a:ln w="25400">
            <a:solidFill/>
            <a:miter lim="400000"/>
          </a:ln>
        </p:spPr>
        <p:txBody>
          <a:bodyPr lIns="0" tIns="0" rIns="0" bIns="0" anchor="ctr"/>
          <a:lstStyle/>
          <a:p>
            <a:pPr lvl="0">
              <a:defRPr sz="3400"/>
            </a:pPr>
            <a:endParaRPr sz="2391"/>
          </a:p>
        </p:txBody>
      </p:sp>
      <p:sp>
        <p:nvSpPr>
          <p:cNvPr id="744" name="Shape 744"/>
          <p:cNvSpPr/>
          <p:nvPr/>
        </p:nvSpPr>
        <p:spPr>
          <a:xfrm rot="5400000">
            <a:off x="8652926" y="2182229"/>
            <a:ext cx="892969" cy="892969"/>
          </a:xfrm>
          <a:prstGeom prst="rightArrow">
            <a:avLst>
              <a:gd name="adj1" fmla="val 32000"/>
              <a:gd name="adj2" fmla="val 64000"/>
            </a:avLst>
          </a:prstGeom>
          <a:solidFill>
            <a:srgbClr val="FF2600"/>
          </a:solidFill>
          <a:ln w="12700">
            <a:miter lim="400000"/>
          </a:ln>
        </p:spPr>
        <p:txBody>
          <a:bodyPr lIns="0" tIns="0" rIns="0" bIns="0" anchor="ctr"/>
          <a:lstStyle/>
          <a:p>
            <a:pPr lvl="0">
              <a:defRPr sz="3400"/>
            </a:pPr>
            <a:endParaRPr sz="2391"/>
          </a:p>
        </p:txBody>
      </p:sp>
      <p:sp>
        <p:nvSpPr>
          <p:cNvPr id="745" name="Shape 745"/>
          <p:cNvSpPr/>
          <p:nvPr/>
        </p:nvSpPr>
        <p:spPr>
          <a:xfrm>
            <a:off x="7878162" y="4359178"/>
            <a:ext cx="2442496" cy="1415926"/>
          </a:xfrm>
          <a:prstGeom prst="rect">
            <a:avLst/>
          </a:prstGeom>
          <a:solidFill>
            <a:srgbClr val="FFFB00"/>
          </a:solidFill>
          <a:ln w="25400">
            <a:solidFill/>
            <a:miter lim="400000"/>
          </a:ln>
        </p:spPr>
        <p:txBody>
          <a:bodyPr lIns="0" tIns="0" rIns="0" bIns="0" anchor="ctr"/>
          <a:lstStyle/>
          <a:p>
            <a:pPr lvl="0">
              <a:defRPr sz="3400"/>
            </a:pPr>
            <a:endParaRPr sz="2391"/>
          </a:p>
        </p:txBody>
      </p:sp>
      <p:sp>
        <p:nvSpPr>
          <p:cNvPr id="746" name="Shape 746"/>
          <p:cNvSpPr/>
          <p:nvPr/>
        </p:nvSpPr>
        <p:spPr>
          <a:xfrm rot="16200000">
            <a:off x="8660666" y="3625217"/>
            <a:ext cx="892969" cy="892969"/>
          </a:xfrm>
          <a:prstGeom prst="rightArrow">
            <a:avLst>
              <a:gd name="adj1" fmla="val 32000"/>
              <a:gd name="adj2" fmla="val 64000"/>
            </a:avLst>
          </a:prstGeom>
          <a:solidFill>
            <a:srgbClr val="FFFB00"/>
          </a:solidFill>
          <a:ln w="12700">
            <a:miter lim="400000"/>
          </a:ln>
        </p:spPr>
        <p:txBody>
          <a:bodyPr lIns="0" tIns="0" rIns="0" bIns="0" anchor="ctr"/>
          <a:lstStyle/>
          <a:p>
            <a:pPr lvl="0">
              <a:defRPr sz="3400"/>
            </a:pPr>
            <a:endParaRPr sz="2391"/>
          </a:p>
        </p:txBody>
      </p:sp>
      <p:sp>
        <p:nvSpPr>
          <p:cNvPr id="5" name="Shape 680">
            <a:extLst>
              <a:ext uri="{FF2B5EF4-FFF2-40B4-BE49-F238E27FC236}">
                <a16:creationId xmlns:a16="http://schemas.microsoft.com/office/drawing/2014/main" id="{51E86DD2-58E1-EB57-CD9D-11B005516B1E}"/>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Memory Organization</a:t>
            </a:r>
            <a:endParaRPr sz="4000" dirty="0"/>
          </a:p>
        </p:txBody>
      </p:sp>
    </p:spTree>
    <p:extLst>
      <p:ext uri="{BB962C8B-B14F-4D97-AF65-F5344CB8AC3E}">
        <p14:creationId xmlns:p14="http://schemas.microsoft.com/office/powerpoint/2010/main" val="139414346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 name="Shape 751"/>
          <p:cNvSpPr>
            <a:spLocks noGrp="1"/>
          </p:cNvSpPr>
          <p:nvPr>
            <p:ph type="body" idx="1"/>
          </p:nvPr>
        </p:nvSpPr>
        <p:spPr>
          <a:xfrm>
            <a:off x="645695" y="1659281"/>
            <a:ext cx="5355754" cy="4616648"/>
          </a:xfrm>
          <a:prstGeom prst="rect">
            <a:avLst/>
          </a:prstGeom>
        </p:spPr>
        <p:txBody>
          <a:bodyPr/>
          <a:lstStyle/>
          <a:p>
            <a:pPr lvl="0">
              <a:defRPr sz="1800">
                <a:solidFill>
                  <a:srgbClr val="000000"/>
                </a:solidFill>
              </a:defRPr>
            </a:pPr>
            <a:r>
              <a:rPr sz="2109" dirty="0">
                <a:solidFill>
                  <a:srgbClr val="941100"/>
                </a:solidFill>
              </a:rPr>
              <a:t>Memory….</a:t>
            </a:r>
          </a:p>
          <a:p>
            <a:pPr lvl="1">
              <a:defRPr sz="1800">
                <a:solidFill>
                  <a:srgbClr val="000000"/>
                </a:solidFill>
              </a:defRPr>
            </a:pPr>
            <a:r>
              <a:rPr sz="2109" dirty="0">
                <a:solidFill>
                  <a:srgbClr val="747474"/>
                </a:solidFill>
              </a:rPr>
              <a:t>Every </a:t>
            </a:r>
            <a:r>
              <a:rPr sz="2109" i="1" dirty="0">
                <a:solidFill>
                  <a:srgbClr val="0433FF"/>
                </a:solidFill>
              </a:rPr>
              <a:t>Process</a:t>
            </a:r>
            <a:r>
              <a:rPr sz="2109" dirty="0">
                <a:solidFill>
                  <a:srgbClr val="747474"/>
                </a:solidFill>
              </a:rPr>
              <a:t> has an</a:t>
            </a:r>
          </a:p>
          <a:p>
            <a:pPr lvl="2">
              <a:defRPr sz="1800">
                <a:solidFill>
                  <a:srgbClr val="000000"/>
                </a:solidFill>
              </a:defRPr>
            </a:pPr>
            <a:r>
              <a:rPr sz="2109" b="1" dirty="0">
                <a:solidFill>
                  <a:srgbClr val="747474"/>
                </a:solidFill>
              </a:rPr>
              <a:t>Address Space</a:t>
            </a:r>
          </a:p>
          <a:p>
            <a:pPr lvl="1">
              <a:defRPr sz="1800">
                <a:solidFill>
                  <a:srgbClr val="000000"/>
                </a:solidFill>
              </a:defRPr>
            </a:pPr>
            <a:r>
              <a:rPr sz="2109" b="1" dirty="0">
                <a:solidFill>
                  <a:srgbClr val="0433FF"/>
                </a:solidFill>
              </a:rPr>
              <a:t>Executable</a:t>
            </a:r>
            <a:r>
              <a:rPr sz="2109" dirty="0">
                <a:solidFill>
                  <a:srgbClr val="747474"/>
                </a:solidFill>
              </a:rPr>
              <a:t> code is at the bottom</a:t>
            </a:r>
          </a:p>
          <a:p>
            <a:pPr lvl="1">
              <a:defRPr sz="1800">
                <a:solidFill>
                  <a:srgbClr val="000000"/>
                </a:solidFill>
              </a:defRPr>
            </a:pPr>
            <a:r>
              <a:rPr sz="2109" b="1" dirty="0">
                <a:solidFill>
                  <a:srgbClr val="FF2F92"/>
                </a:solidFill>
              </a:rPr>
              <a:t>Statics</a:t>
            </a:r>
            <a:r>
              <a:rPr sz="2109" dirty="0">
                <a:solidFill>
                  <a:srgbClr val="747474"/>
                </a:solidFill>
              </a:rPr>
              <a:t> </a:t>
            </a:r>
            <a:r>
              <a:rPr lang="en-US" sz="2109" dirty="0">
                <a:solidFill>
                  <a:srgbClr val="747474"/>
                </a:solidFill>
              </a:rPr>
              <a:t>and </a:t>
            </a:r>
            <a:r>
              <a:rPr lang="en-US" sz="2109" dirty="0" err="1">
                <a:solidFill>
                  <a:srgbClr val="747474"/>
                </a:solidFill>
              </a:rPr>
              <a:t>globals</a:t>
            </a:r>
            <a:r>
              <a:rPr lang="en-US" sz="2109" dirty="0">
                <a:solidFill>
                  <a:srgbClr val="747474"/>
                </a:solidFill>
              </a:rPr>
              <a:t> </a:t>
            </a:r>
            <a:r>
              <a:rPr sz="2109" dirty="0">
                <a:solidFill>
                  <a:srgbClr val="747474"/>
                </a:solidFill>
              </a:rPr>
              <a:t>are just above</a:t>
            </a:r>
          </a:p>
          <a:p>
            <a:pPr lvl="1">
              <a:defRPr sz="1800">
                <a:solidFill>
                  <a:srgbClr val="000000"/>
                </a:solidFill>
              </a:defRPr>
            </a:pPr>
            <a:r>
              <a:rPr sz="2109" b="1" dirty="0">
                <a:solidFill>
                  <a:srgbClr val="FF2600"/>
                </a:solidFill>
              </a:rPr>
              <a:t>Stack</a:t>
            </a:r>
            <a:r>
              <a:rPr sz="2109" dirty="0">
                <a:solidFill>
                  <a:srgbClr val="747474"/>
                </a:solidFill>
              </a:rPr>
              <a:t> is at the top (going down!) </a:t>
            </a:r>
          </a:p>
          <a:p>
            <a:pPr lvl="1">
              <a:defRPr sz="1800">
                <a:solidFill>
                  <a:srgbClr val="000000"/>
                </a:solidFill>
              </a:defRPr>
            </a:pPr>
            <a:r>
              <a:rPr sz="2109" b="1" dirty="0">
                <a:solidFill>
                  <a:srgbClr val="FFFB00"/>
                </a:solidFill>
              </a:rPr>
              <a:t>Heap</a:t>
            </a:r>
            <a:r>
              <a:rPr sz="2109" dirty="0">
                <a:solidFill>
                  <a:srgbClr val="747474"/>
                </a:solidFill>
              </a:rPr>
              <a:t> grows from the bottom (going up!)</a:t>
            </a:r>
          </a:p>
          <a:p>
            <a:pPr lvl="1">
              <a:defRPr sz="1800">
                <a:solidFill>
                  <a:srgbClr val="000000"/>
                </a:solidFill>
              </a:defRPr>
            </a:pPr>
            <a:r>
              <a:rPr sz="2109" b="1" dirty="0">
                <a:solidFill>
                  <a:srgbClr val="747474"/>
                </a:solidFill>
              </a:rPr>
              <a:t>Gray</a:t>
            </a:r>
            <a:r>
              <a:rPr sz="2109" dirty="0">
                <a:solidFill>
                  <a:srgbClr val="747474"/>
                </a:solidFill>
              </a:rPr>
              <a:t> no-man’s land is up for grab</a:t>
            </a:r>
            <a:endParaRPr lang="en-US" sz="2109" dirty="0">
              <a:solidFill>
                <a:srgbClr val="747474"/>
              </a:solidFill>
            </a:endParaRPr>
          </a:p>
          <a:p>
            <a:pPr marL="241093" lvl="1" indent="0">
              <a:buNone/>
              <a:defRPr sz="1800">
                <a:solidFill>
                  <a:srgbClr val="000000"/>
                </a:solidFill>
              </a:defRPr>
            </a:pPr>
            <a:endParaRPr lang="en-US" dirty="0"/>
          </a:p>
          <a:p>
            <a:pPr marL="241093" lvl="1" indent="0">
              <a:buNone/>
              <a:defRPr sz="1800">
                <a:solidFill>
                  <a:srgbClr val="000000"/>
                </a:solidFill>
              </a:defRPr>
            </a:pPr>
            <a:endParaRPr lang="en-US" sz="2109" dirty="0">
              <a:solidFill>
                <a:srgbClr val="747474"/>
              </a:solidFill>
            </a:endParaRPr>
          </a:p>
          <a:p>
            <a:pPr marL="241093" lvl="1" indent="0">
              <a:buNone/>
              <a:defRPr sz="1800">
                <a:solidFill>
                  <a:srgbClr val="000000"/>
                </a:solidFill>
              </a:defRPr>
            </a:pPr>
            <a:r>
              <a:rPr lang="en-US" sz="1687" dirty="0">
                <a:solidFill>
                  <a:srgbClr val="000000"/>
                </a:solidFill>
              </a:rPr>
              <a:t>Low end may not start from 0.</a:t>
            </a:r>
          </a:p>
          <a:p>
            <a:pPr marL="241093" lvl="1" indent="0">
              <a:buNone/>
              <a:defRPr sz="1800">
                <a:solidFill>
                  <a:srgbClr val="000000"/>
                </a:solidFill>
              </a:defRPr>
            </a:pPr>
            <a:r>
              <a:rPr lang="en-US" sz="1687" dirty="0">
                <a:solidFill>
                  <a:srgbClr val="000000"/>
                </a:solidFill>
              </a:rPr>
              <a:t>High end may not be the 0xff…ff.</a:t>
            </a:r>
            <a:endParaRPr sz="1687" dirty="0">
              <a:solidFill>
                <a:srgbClr val="000000"/>
              </a:solidFill>
            </a:endParaRPr>
          </a:p>
        </p:txBody>
      </p:sp>
      <p:sp>
        <p:nvSpPr>
          <p:cNvPr id="753" name="Shape 753"/>
          <p:cNvSpPr/>
          <p:nvPr/>
        </p:nvSpPr>
        <p:spPr>
          <a:xfrm>
            <a:off x="7878162" y="1562784"/>
            <a:ext cx="2442496" cy="4809642"/>
          </a:xfrm>
          <a:prstGeom prst="rect">
            <a:avLst/>
          </a:prstGeom>
          <a:solidFill>
            <a:srgbClr val="CBCBCB"/>
          </a:solidFill>
          <a:ln w="25400">
            <a:solidFill/>
            <a:miter lim="400000"/>
          </a:ln>
        </p:spPr>
        <p:txBody>
          <a:bodyPr lIns="26789" tIns="26789" rIns="26789" bIns="26789" anchor="ctr"/>
          <a:lstStyle/>
          <a:p>
            <a:pPr lvl="0">
              <a:defRPr sz="3400"/>
            </a:pPr>
            <a:endParaRPr sz="2391"/>
          </a:p>
        </p:txBody>
      </p:sp>
      <p:sp>
        <p:nvSpPr>
          <p:cNvPr id="754" name="Shape 754"/>
          <p:cNvSpPr/>
          <p:nvPr/>
        </p:nvSpPr>
        <p:spPr>
          <a:xfrm>
            <a:off x="6335285" y="1550346"/>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0xffffffff</a:t>
            </a:r>
          </a:p>
        </p:txBody>
      </p:sp>
      <p:sp>
        <p:nvSpPr>
          <p:cNvPr id="755" name="Shape 755"/>
          <p:cNvSpPr/>
          <p:nvPr/>
        </p:nvSpPr>
        <p:spPr>
          <a:xfrm>
            <a:off x="6335285" y="6015895"/>
            <a:ext cx="1530868" cy="36420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lvl1pPr>
              <a:defRPr sz="2700">
                <a:latin typeface="Courier"/>
                <a:ea typeface="Courier"/>
                <a:cs typeface="Courier"/>
                <a:sym typeface="Courier"/>
              </a:defRPr>
            </a:lvl1pPr>
          </a:lstStyle>
          <a:p>
            <a:pPr lvl="0">
              <a:defRPr sz="1800"/>
            </a:pPr>
            <a:r>
              <a:rPr sz="1898"/>
              <a:t>0x00000000</a:t>
            </a:r>
          </a:p>
        </p:txBody>
      </p:sp>
      <p:sp>
        <p:nvSpPr>
          <p:cNvPr id="756" name="Shape 756"/>
          <p:cNvSpPr/>
          <p:nvPr/>
        </p:nvSpPr>
        <p:spPr>
          <a:xfrm>
            <a:off x="5701844" y="2073117"/>
            <a:ext cx="738985"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High</a:t>
            </a:r>
          </a:p>
        </p:txBody>
      </p:sp>
      <p:sp>
        <p:nvSpPr>
          <p:cNvPr id="757" name="Shape 757"/>
          <p:cNvSpPr/>
          <p:nvPr/>
        </p:nvSpPr>
        <p:spPr>
          <a:xfrm>
            <a:off x="5728276" y="5505384"/>
            <a:ext cx="671852" cy="504883"/>
          </a:xfrm>
          <a:prstGeom prst="rect">
            <a:avLst/>
          </a:prstGeom>
          <a:ln w="12700">
            <a:miter lim="400000"/>
          </a:ln>
          <a:extLst>
            <a:ext uri="{C572A759-6A51-4108-AA02-DFA0A04FC94B}">
              <ma14:wrappingTextBoxFlag xmlns="" xmlns:ma14="http://schemas.microsoft.com/office/mac/drawingml/2011/main" val="1"/>
            </a:ext>
          </a:extLst>
        </p:spPr>
        <p:txBody>
          <a:bodyPr wrap="none" lIns="35719" tIns="35719" rIns="35719" bIns="35719" anchor="ctr">
            <a:spAutoFit/>
          </a:bodyPr>
          <a:lstStyle/>
          <a:p>
            <a:pPr lvl="0">
              <a:defRPr sz="1800"/>
            </a:pPr>
            <a:r>
              <a:rPr sz="2812"/>
              <a:t>Low</a:t>
            </a:r>
          </a:p>
        </p:txBody>
      </p:sp>
      <p:sp>
        <p:nvSpPr>
          <p:cNvPr id="758" name="Shape 758"/>
          <p:cNvSpPr/>
          <p:nvPr/>
        </p:nvSpPr>
        <p:spPr>
          <a:xfrm>
            <a:off x="7878162" y="5943215"/>
            <a:ext cx="2442496" cy="433232"/>
          </a:xfrm>
          <a:prstGeom prst="rect">
            <a:avLst/>
          </a:prstGeom>
          <a:solidFill>
            <a:srgbClr val="0433FF"/>
          </a:solidFill>
          <a:ln w="25400">
            <a:solidFill/>
            <a:miter lim="400000"/>
          </a:ln>
        </p:spPr>
        <p:txBody>
          <a:bodyPr lIns="0" tIns="0" rIns="0" bIns="0" anchor="ctr"/>
          <a:lstStyle/>
          <a:p>
            <a:pPr lvl="0">
              <a:defRPr sz="3400"/>
            </a:pPr>
            <a:endParaRPr sz="2391"/>
          </a:p>
        </p:txBody>
      </p:sp>
      <p:sp>
        <p:nvSpPr>
          <p:cNvPr id="759" name="Shape 759"/>
          <p:cNvSpPr/>
          <p:nvPr/>
        </p:nvSpPr>
        <p:spPr>
          <a:xfrm>
            <a:off x="7878162" y="5768771"/>
            <a:ext cx="2442496" cy="175094"/>
          </a:xfrm>
          <a:prstGeom prst="rect">
            <a:avLst/>
          </a:prstGeom>
          <a:solidFill>
            <a:srgbClr val="FF2F92"/>
          </a:solidFill>
          <a:ln w="25400">
            <a:solidFill/>
            <a:miter lim="400000"/>
          </a:ln>
        </p:spPr>
        <p:txBody>
          <a:bodyPr lIns="0" tIns="0" rIns="0" bIns="0" anchor="ctr"/>
          <a:lstStyle/>
          <a:p>
            <a:pPr lvl="0">
              <a:defRPr sz="3400"/>
            </a:pPr>
            <a:endParaRPr sz="2391"/>
          </a:p>
        </p:txBody>
      </p:sp>
      <p:sp>
        <p:nvSpPr>
          <p:cNvPr id="760" name="Shape 760"/>
          <p:cNvSpPr/>
          <p:nvPr/>
        </p:nvSpPr>
        <p:spPr>
          <a:xfrm>
            <a:off x="7878162" y="1562785"/>
            <a:ext cx="2442496" cy="811849"/>
          </a:xfrm>
          <a:prstGeom prst="rect">
            <a:avLst/>
          </a:prstGeom>
          <a:solidFill>
            <a:srgbClr val="FF2600"/>
          </a:solidFill>
          <a:ln w="25400">
            <a:solidFill/>
            <a:miter lim="400000"/>
          </a:ln>
        </p:spPr>
        <p:txBody>
          <a:bodyPr lIns="0" tIns="0" rIns="0" bIns="0" anchor="ctr"/>
          <a:lstStyle/>
          <a:p>
            <a:pPr lvl="0">
              <a:defRPr sz="3400"/>
            </a:pPr>
            <a:endParaRPr sz="2391"/>
          </a:p>
        </p:txBody>
      </p:sp>
      <p:sp>
        <p:nvSpPr>
          <p:cNvPr id="761" name="Shape 761"/>
          <p:cNvSpPr/>
          <p:nvPr/>
        </p:nvSpPr>
        <p:spPr>
          <a:xfrm rot="5400000">
            <a:off x="8652926" y="2182229"/>
            <a:ext cx="892969" cy="892969"/>
          </a:xfrm>
          <a:prstGeom prst="rightArrow">
            <a:avLst>
              <a:gd name="adj1" fmla="val 32000"/>
              <a:gd name="adj2" fmla="val 64000"/>
            </a:avLst>
          </a:prstGeom>
          <a:solidFill>
            <a:srgbClr val="FF2600"/>
          </a:solidFill>
          <a:ln w="12700">
            <a:miter lim="400000"/>
          </a:ln>
        </p:spPr>
        <p:txBody>
          <a:bodyPr lIns="0" tIns="0" rIns="0" bIns="0" anchor="ctr"/>
          <a:lstStyle/>
          <a:p>
            <a:pPr lvl="0">
              <a:defRPr sz="3400"/>
            </a:pPr>
            <a:endParaRPr sz="2391"/>
          </a:p>
        </p:txBody>
      </p:sp>
      <p:sp>
        <p:nvSpPr>
          <p:cNvPr id="762" name="Shape 762"/>
          <p:cNvSpPr/>
          <p:nvPr/>
        </p:nvSpPr>
        <p:spPr>
          <a:xfrm>
            <a:off x="7878162" y="4359178"/>
            <a:ext cx="2442496" cy="1415926"/>
          </a:xfrm>
          <a:prstGeom prst="rect">
            <a:avLst/>
          </a:prstGeom>
          <a:solidFill>
            <a:srgbClr val="FFFB00"/>
          </a:solidFill>
          <a:ln w="25400">
            <a:solidFill/>
            <a:miter lim="400000"/>
          </a:ln>
        </p:spPr>
        <p:txBody>
          <a:bodyPr lIns="0" tIns="0" rIns="0" bIns="0" anchor="ctr"/>
          <a:lstStyle/>
          <a:p>
            <a:pPr lvl="0">
              <a:defRPr sz="3400"/>
            </a:pPr>
            <a:endParaRPr sz="2391"/>
          </a:p>
        </p:txBody>
      </p:sp>
      <p:sp>
        <p:nvSpPr>
          <p:cNvPr id="763" name="Shape 763"/>
          <p:cNvSpPr/>
          <p:nvPr/>
        </p:nvSpPr>
        <p:spPr>
          <a:xfrm rot="16200000">
            <a:off x="8660666" y="3625217"/>
            <a:ext cx="892969" cy="892969"/>
          </a:xfrm>
          <a:prstGeom prst="rightArrow">
            <a:avLst>
              <a:gd name="adj1" fmla="val 32000"/>
              <a:gd name="adj2" fmla="val 64000"/>
            </a:avLst>
          </a:prstGeom>
          <a:solidFill>
            <a:srgbClr val="FFFB00"/>
          </a:solidFill>
          <a:ln w="12700">
            <a:miter lim="400000"/>
          </a:ln>
        </p:spPr>
        <p:txBody>
          <a:bodyPr lIns="0" tIns="0" rIns="0" bIns="0" anchor="ctr"/>
          <a:lstStyle/>
          <a:p>
            <a:pPr lvl="0">
              <a:defRPr sz="3400"/>
            </a:pPr>
            <a:endParaRPr sz="2391"/>
          </a:p>
        </p:txBody>
      </p:sp>
      <p:sp>
        <p:nvSpPr>
          <p:cNvPr id="2" name="Slide Number Placeholder 1">
            <a:extLst>
              <a:ext uri="{FF2B5EF4-FFF2-40B4-BE49-F238E27FC236}">
                <a16:creationId xmlns:a16="http://schemas.microsoft.com/office/drawing/2014/main" id="{9B4F370C-14A6-42D9-AE7A-A23958BA42DD}"/>
              </a:ext>
            </a:extLst>
          </p:cNvPr>
          <p:cNvSpPr>
            <a:spLocks noGrp="1"/>
          </p:cNvSpPr>
          <p:nvPr>
            <p:ph type="sldNum" sz="quarter" idx="2"/>
          </p:nvPr>
        </p:nvSpPr>
        <p:spPr/>
        <p:txBody>
          <a:bodyPr/>
          <a:lstStyle/>
          <a:p>
            <a:fld id="{86CB4B4D-7CA3-9044-876B-883B54F8677D}" type="slidenum">
              <a:rPr lang="en-US" smtClean="0"/>
              <a:t>40</a:t>
            </a:fld>
            <a:endParaRPr lang="en-US"/>
          </a:p>
        </p:txBody>
      </p:sp>
      <p:sp>
        <p:nvSpPr>
          <p:cNvPr id="5" name="Shape 680">
            <a:extLst>
              <a:ext uri="{FF2B5EF4-FFF2-40B4-BE49-F238E27FC236}">
                <a16:creationId xmlns:a16="http://schemas.microsoft.com/office/drawing/2014/main" id="{16771654-47CB-4E0D-7971-CE7C82AA914E}"/>
              </a:ext>
            </a:extLst>
          </p:cNvPr>
          <p:cNvSpPr>
            <a:spLocks noGrp="1"/>
          </p:cNvSpPr>
          <p:nvPr>
            <p:ph type="title"/>
          </p:nvPr>
        </p:nvSpPr>
        <p:spPr>
          <a:xfrm>
            <a:off x="645695" y="81461"/>
            <a:ext cx="10515600" cy="1325563"/>
          </a:xfrm>
          <a:prstGeom prst="rect">
            <a:avLst/>
          </a:prstGeom>
        </p:spPr>
        <p:style>
          <a:lnRef idx="2">
            <a:schemeClr val="dk1"/>
          </a:lnRef>
          <a:fillRef idx="1">
            <a:schemeClr val="lt1"/>
          </a:fillRef>
          <a:effectRef idx="0">
            <a:schemeClr val="dk1"/>
          </a:effectRef>
          <a:fontRef idx="minor">
            <a:schemeClr val="dk1"/>
          </a:fontRef>
        </p:style>
        <p:txBody>
          <a:bodyPr>
            <a:normAutofit/>
          </a:bodyPr>
          <a:lstStyle/>
          <a:p>
            <a:pPr lvl="0" algn="ctr">
              <a:defRPr sz="1800"/>
            </a:pPr>
            <a:r>
              <a:rPr lang="en-US" sz="4000" dirty="0"/>
              <a:t>Memory Organization</a:t>
            </a:r>
            <a:endParaRPr sz="4000" dirty="0"/>
          </a:p>
        </p:txBody>
      </p:sp>
    </p:spTree>
    <p:extLst>
      <p:ext uri="{BB962C8B-B14F-4D97-AF65-F5344CB8AC3E}">
        <p14:creationId xmlns:p14="http://schemas.microsoft.com/office/powerpoint/2010/main" val="42291181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065F-931A-BECB-07CB-BDC8A491BC19}"/>
              </a:ext>
            </a:extLst>
          </p:cNvPr>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lstStyle/>
          <a:p>
            <a:pPr algn="ctr"/>
            <a:r>
              <a:rPr lang="en-US" dirty="0"/>
              <a:t>Function Lecture Conclusions</a:t>
            </a:r>
          </a:p>
        </p:txBody>
      </p:sp>
      <p:sp>
        <p:nvSpPr>
          <p:cNvPr id="3" name="Content Placeholder 2">
            <a:extLst>
              <a:ext uri="{FF2B5EF4-FFF2-40B4-BE49-F238E27FC236}">
                <a16:creationId xmlns:a16="http://schemas.microsoft.com/office/drawing/2014/main" id="{6026359A-9502-5B1C-26AE-9937C8C72847}"/>
              </a:ext>
            </a:extLst>
          </p:cNvPr>
          <p:cNvSpPr>
            <a:spLocks noGrp="1"/>
          </p:cNvSpPr>
          <p:nvPr>
            <p:ph idx="1"/>
          </p:nvPr>
        </p:nvSpPr>
        <p:spPr>
          <a:xfrm>
            <a:off x="5378116" y="1829636"/>
            <a:ext cx="5975684" cy="4351338"/>
          </a:xfrm>
        </p:spPr>
        <p:style>
          <a:lnRef idx="2">
            <a:schemeClr val="dk1"/>
          </a:lnRef>
          <a:fillRef idx="1">
            <a:schemeClr val="lt1"/>
          </a:fillRef>
          <a:effectRef idx="0">
            <a:schemeClr val="dk1"/>
          </a:effectRef>
          <a:fontRef idx="minor">
            <a:schemeClr val="dk1"/>
          </a:fontRef>
        </p:style>
        <p:txBody>
          <a:bodyPr/>
          <a:lstStyle/>
          <a:p>
            <a:r>
              <a:rPr lang="en-US" dirty="0"/>
              <a:t>Code should be split into different functions for readability and ease of use. </a:t>
            </a:r>
          </a:p>
          <a:p>
            <a:r>
              <a:rPr lang="en-US" dirty="0"/>
              <a:t>C has global and local variables, as well as the static keyword. </a:t>
            </a:r>
          </a:p>
          <a:p>
            <a:r>
              <a:rPr lang="en-US" dirty="0"/>
              <a:t>Use of global variables may be necessary from a design point of view, but should be used sparingly.</a:t>
            </a:r>
          </a:p>
        </p:txBody>
      </p:sp>
      <p:pic>
        <p:nvPicPr>
          <p:cNvPr id="4" name="Picture 3">
            <a:extLst>
              <a:ext uri="{FF2B5EF4-FFF2-40B4-BE49-F238E27FC236}">
                <a16:creationId xmlns:a16="http://schemas.microsoft.com/office/drawing/2014/main" id="{0FC35FC6-34F9-9614-5191-69177ACFDD3F}"/>
              </a:ext>
            </a:extLst>
          </p:cNvPr>
          <p:cNvPicPr>
            <a:picLocks noChangeAspect="1"/>
          </p:cNvPicPr>
          <p:nvPr/>
        </p:nvPicPr>
        <p:blipFill>
          <a:blip r:embed="rId2"/>
          <a:stretch>
            <a:fillRect/>
          </a:stretch>
        </p:blipFill>
        <p:spPr>
          <a:xfrm>
            <a:off x="3112837" y="3265213"/>
            <a:ext cx="1803826" cy="2243173"/>
          </a:xfrm>
          <a:prstGeom prst="rect">
            <a:avLst/>
          </a:prstGeom>
        </p:spPr>
      </p:pic>
      <p:pic>
        <p:nvPicPr>
          <p:cNvPr id="5" name="Picture 4">
            <a:extLst>
              <a:ext uri="{FF2B5EF4-FFF2-40B4-BE49-F238E27FC236}">
                <a16:creationId xmlns:a16="http://schemas.microsoft.com/office/drawing/2014/main" id="{73A153F8-4546-F1A3-DD7E-DFF51CAE3698}"/>
              </a:ext>
            </a:extLst>
          </p:cNvPr>
          <p:cNvPicPr>
            <a:picLocks noChangeAspect="1"/>
          </p:cNvPicPr>
          <p:nvPr/>
        </p:nvPicPr>
        <p:blipFill>
          <a:blip r:embed="rId3"/>
          <a:stretch>
            <a:fillRect/>
          </a:stretch>
        </p:blipFill>
        <p:spPr>
          <a:xfrm>
            <a:off x="760496" y="3265213"/>
            <a:ext cx="2185737" cy="2185737"/>
          </a:xfrm>
          <a:prstGeom prst="rect">
            <a:avLst/>
          </a:prstGeom>
        </p:spPr>
      </p:pic>
      <p:pic>
        <p:nvPicPr>
          <p:cNvPr id="6" name="Picture 5">
            <a:extLst>
              <a:ext uri="{FF2B5EF4-FFF2-40B4-BE49-F238E27FC236}">
                <a16:creationId xmlns:a16="http://schemas.microsoft.com/office/drawing/2014/main" id="{94BC3838-DD89-4606-CD91-987994D8733F}"/>
              </a:ext>
            </a:extLst>
          </p:cNvPr>
          <p:cNvPicPr>
            <a:picLocks noChangeAspect="1"/>
          </p:cNvPicPr>
          <p:nvPr/>
        </p:nvPicPr>
        <p:blipFill>
          <a:blip r:embed="rId4"/>
          <a:stretch>
            <a:fillRect/>
          </a:stretch>
        </p:blipFill>
        <p:spPr>
          <a:xfrm>
            <a:off x="914250" y="2146727"/>
            <a:ext cx="3745648" cy="792764"/>
          </a:xfrm>
          <a:prstGeom prst="rect">
            <a:avLst/>
          </a:prstGeom>
        </p:spPr>
      </p:pic>
    </p:spTree>
    <p:extLst>
      <p:ext uri="{BB962C8B-B14F-4D97-AF65-F5344CB8AC3E}">
        <p14:creationId xmlns:p14="http://schemas.microsoft.com/office/powerpoint/2010/main" val="2403855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6DB09-8905-429B-9F56-234F9EE9E349}"/>
              </a:ext>
            </a:extLst>
          </p:cNvPr>
          <p:cNvSpPr>
            <a:spLocks noGrp="1"/>
          </p:cNvSpPr>
          <p:nvPr>
            <p:ph type="title"/>
          </p:nvPr>
        </p:nvSpPr>
        <p:spPr/>
        <p:txBody>
          <a:bodyPr/>
          <a:lstStyle/>
          <a:p>
            <a:pPr algn="ctr"/>
            <a:r>
              <a:rPr lang="en-US" u="sng" dirty="0"/>
              <a:t>Figure Sources</a:t>
            </a:r>
          </a:p>
        </p:txBody>
      </p:sp>
      <p:sp>
        <p:nvSpPr>
          <p:cNvPr id="3" name="Content Placeholder 2">
            <a:extLst>
              <a:ext uri="{FF2B5EF4-FFF2-40B4-BE49-F238E27FC236}">
                <a16:creationId xmlns:a16="http://schemas.microsoft.com/office/drawing/2014/main" id="{37F1E7B0-0BE8-47C7-8EC6-28421CE5E87F}"/>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a:bodyPr>
          <a:lstStyle/>
          <a:p>
            <a:pPr marL="514350" indent="-514350">
              <a:buFont typeface="+mj-lt"/>
              <a:buAutoNum type="arabicPeriod"/>
            </a:pPr>
            <a:r>
              <a:rPr lang="en-US" dirty="0">
                <a:hlinkClick r:id="rId2"/>
              </a:rPr>
              <a:t>https://i.pinimg.com/originals/2a/74/33/2a7433d23ce752166b7abc910299ff15.jpg</a:t>
            </a:r>
            <a:endParaRPr lang="en-US" dirty="0"/>
          </a:p>
          <a:p>
            <a:pPr marL="514350" indent="-514350">
              <a:buFont typeface="+mj-lt"/>
              <a:buAutoNum type="arabicPeriod"/>
            </a:pPr>
            <a:r>
              <a:rPr lang="en-US" dirty="0">
                <a:hlinkClick r:id="rId3"/>
              </a:rPr>
              <a:t>https://pbs.twimg.com/profile_images/3092028479/15db929f6739606a1aefc74277951af8_400x400.jpeg</a:t>
            </a:r>
            <a:endParaRPr lang="en-US" dirty="0"/>
          </a:p>
          <a:p>
            <a:pPr marL="514350" indent="-514350">
              <a:buFont typeface="+mj-lt"/>
              <a:buAutoNum type="arabicPeriod"/>
            </a:pPr>
            <a:r>
              <a:rPr lang="en-US" dirty="0">
                <a:hlinkClick r:id="rId4"/>
              </a:rPr>
              <a:t>https://media.makeameme.org/created/when-i-wrote-a49411.jpg</a:t>
            </a:r>
            <a:endParaRPr lang="en-US" dirty="0"/>
          </a:p>
          <a:p>
            <a:pPr marL="514350" indent="-514350">
              <a:buFont typeface="+mj-lt"/>
              <a:buAutoNum type="arabicPeriod"/>
            </a:pPr>
            <a:r>
              <a:rPr lang="en-US" dirty="0">
                <a:hlinkClick r:id="rId5"/>
              </a:rPr>
              <a:t>https://i.imgflip.com/17t6zh.jpg</a:t>
            </a:r>
            <a:endParaRPr lang="en-US" dirty="0"/>
          </a:p>
          <a:p>
            <a:pPr marL="514350" indent="-514350">
              <a:buFont typeface="+mj-lt"/>
              <a:buAutoNum type="arabicPeriod"/>
            </a:pPr>
            <a:r>
              <a:rPr lang="en-US" dirty="0">
                <a:hlinkClick r:id="rId6"/>
              </a:rPr>
              <a:t>https://img-9gag-fun.9cache.com/photo/am5j20j_460s.jpg</a:t>
            </a:r>
            <a:endParaRPr lang="en-US" dirty="0"/>
          </a:p>
          <a:p>
            <a:pPr marL="514350" indent="-514350">
              <a:buFont typeface="+mj-lt"/>
              <a:buAutoNum type="arabicPeriod"/>
            </a:pPr>
            <a:r>
              <a:rPr lang="en-US" dirty="0">
                <a:hlinkClick r:id="rId7"/>
              </a:rPr>
              <a:t>https://media.tenor.com/BiUtqfsTcqcAAAAC/memory-no-memory.gif</a:t>
            </a:r>
            <a:endParaRPr lang="en-US" dirty="0"/>
          </a:p>
          <a:p>
            <a:pPr marL="0" indent="0">
              <a:buNone/>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1199757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1985</TotalTime>
  <Words>1668</Words>
  <Application>Microsoft Macintosh PowerPoint</Application>
  <PresentationFormat>Widescreen</PresentationFormat>
  <Paragraphs>266</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Courier</vt:lpstr>
      <vt:lpstr>Office Theme</vt:lpstr>
      <vt:lpstr>CSE 3100: Systems Programming</vt:lpstr>
      <vt:lpstr>1. The Basics of Functions</vt:lpstr>
      <vt:lpstr>1. The Basics of Functions</vt:lpstr>
      <vt:lpstr>The Importance of Functions</vt:lpstr>
      <vt:lpstr>Functions: Building blocks for larger programs</vt:lpstr>
      <vt:lpstr>Writing a function in C</vt:lpstr>
      <vt:lpstr>Writing a function in C</vt:lpstr>
      <vt:lpstr>Writing a function in C: Return Statement</vt:lpstr>
      <vt:lpstr>What happens if you don’t want the function to return anything?</vt:lpstr>
      <vt:lpstr>Side note: void can also be used if you don’t want to pass anything into the function</vt:lpstr>
      <vt:lpstr>Understanding the return statement</vt:lpstr>
      <vt:lpstr>PowerPoint Presentation</vt:lpstr>
      <vt:lpstr>Understanding the return statement</vt:lpstr>
      <vt:lpstr>Function Prototypes</vt:lpstr>
      <vt:lpstr>What is the purpose of function prototypes? </vt:lpstr>
      <vt:lpstr>Side Note 1: Macros in C </vt:lpstr>
      <vt:lpstr>Side Note 2: Recursion in C</vt:lpstr>
      <vt:lpstr>Summary of the Basic Function Examples</vt:lpstr>
      <vt:lpstr>2. Types of Variables in C</vt:lpstr>
      <vt:lpstr>Types of Variables in C (based on scope)</vt:lpstr>
      <vt:lpstr>Types of Variables in C: Local Variables</vt:lpstr>
      <vt:lpstr>Local Variable Code Example</vt:lpstr>
      <vt:lpstr>Types of Variables in C: Static Local Variables</vt:lpstr>
      <vt:lpstr>Local Static Variable Code Example 1</vt:lpstr>
      <vt:lpstr>Local Static Variable Code Example 2</vt:lpstr>
      <vt:lpstr>Types of Variables in C: Global Variables </vt:lpstr>
      <vt:lpstr>Global Variable Code Example</vt:lpstr>
      <vt:lpstr>Types of Variables in C: Global Variables </vt:lpstr>
      <vt:lpstr>Global Static Variable Code Example</vt:lpstr>
      <vt:lpstr>Test your knowledge: Is piApprox a global or local static variable here? Would this code run?</vt:lpstr>
      <vt:lpstr>Summary of the types of variables</vt:lpstr>
      <vt:lpstr>Be cautious with static and global variables</vt:lpstr>
      <vt:lpstr>Function Call Context</vt:lpstr>
      <vt:lpstr>3. Memory Organization</vt:lpstr>
      <vt:lpstr>Memory Organization</vt:lpstr>
      <vt:lpstr>Memory Organization</vt:lpstr>
      <vt:lpstr>Memory Organization</vt:lpstr>
      <vt:lpstr>Memory Organization</vt:lpstr>
      <vt:lpstr>Memory Organization</vt:lpstr>
      <vt:lpstr>Memory Organization</vt:lpstr>
      <vt:lpstr>Function Lecture Conclusions</vt:lpstr>
      <vt:lpstr>Figure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3100: Systems Programming</dc:title>
  <dc:creator>Mahmood, Kaleel</dc:creator>
  <cp:lastModifiedBy>Zhang, Wei</cp:lastModifiedBy>
  <cp:revision>204</cp:revision>
  <dcterms:created xsi:type="dcterms:W3CDTF">2023-01-27T23:53:51Z</dcterms:created>
  <dcterms:modified xsi:type="dcterms:W3CDTF">2026-02-02T15:53:59Z</dcterms:modified>
</cp:coreProperties>
</file>