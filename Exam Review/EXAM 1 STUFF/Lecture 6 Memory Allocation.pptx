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467" r:id="rId3"/>
    <p:sldId id="421" r:id="rId4"/>
    <p:sldId id="420" r:id="rId5"/>
    <p:sldId id="422" r:id="rId6"/>
    <p:sldId id="423" r:id="rId7"/>
    <p:sldId id="424" r:id="rId8"/>
    <p:sldId id="425" r:id="rId9"/>
    <p:sldId id="426" r:id="rId10"/>
    <p:sldId id="427" r:id="rId11"/>
    <p:sldId id="429" r:id="rId12"/>
    <p:sldId id="428" r:id="rId13"/>
    <p:sldId id="430" r:id="rId14"/>
    <p:sldId id="431" r:id="rId15"/>
    <p:sldId id="432" r:id="rId16"/>
    <p:sldId id="468" r:id="rId17"/>
    <p:sldId id="433" r:id="rId18"/>
    <p:sldId id="438" r:id="rId19"/>
    <p:sldId id="434" r:id="rId20"/>
    <p:sldId id="435" r:id="rId21"/>
    <p:sldId id="439" r:id="rId22"/>
    <p:sldId id="440" r:id="rId23"/>
    <p:sldId id="441" r:id="rId24"/>
    <p:sldId id="442" r:id="rId25"/>
    <p:sldId id="443" r:id="rId26"/>
    <p:sldId id="444" r:id="rId27"/>
    <p:sldId id="445" r:id="rId28"/>
    <p:sldId id="446" r:id="rId29"/>
    <p:sldId id="447" r:id="rId30"/>
    <p:sldId id="448" r:id="rId31"/>
    <p:sldId id="449" r:id="rId32"/>
    <p:sldId id="469" r:id="rId33"/>
    <p:sldId id="436" r:id="rId34"/>
    <p:sldId id="437" r:id="rId35"/>
    <p:sldId id="450" r:id="rId36"/>
    <p:sldId id="451" r:id="rId37"/>
    <p:sldId id="452" r:id="rId38"/>
    <p:sldId id="453" r:id="rId39"/>
    <p:sldId id="455" r:id="rId40"/>
    <p:sldId id="456" r:id="rId41"/>
    <p:sldId id="457" r:id="rId42"/>
    <p:sldId id="470" r:id="rId43"/>
    <p:sldId id="454" r:id="rId44"/>
    <p:sldId id="459" r:id="rId45"/>
    <p:sldId id="26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5878" autoAdjust="0"/>
  </p:normalViewPr>
  <p:slideViewPr>
    <p:cSldViewPr snapToGrid="0">
      <p:cViewPr varScale="1">
        <p:scale>
          <a:sx n="108" d="100"/>
          <a:sy n="108" d="100"/>
        </p:scale>
        <p:origin x="7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3A924-CE97-425A-A786-AE2D571B426D}" type="datetimeFigureOut">
              <a:rPr lang="en-US" smtClean="0"/>
              <a:t>2/11/25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0F7F85-2320-42D5-873B-256BB844EE6C}" type="slidenum">
              <a:rPr lang="en-US" smtClean="0"/>
              <a:t>‹#›</a:t>
            </a:fld>
            <a:endParaRPr lang="en-US"/>
          </a:p>
        </p:txBody>
      </p:sp>
    </p:spTree>
    <p:extLst>
      <p:ext uri="{BB962C8B-B14F-4D97-AF65-F5344CB8AC3E}">
        <p14:creationId xmlns:p14="http://schemas.microsoft.com/office/powerpoint/2010/main" val="2547146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0F7F85-2320-42D5-873B-256BB844EE6C}" type="slidenum">
              <a:rPr lang="en-US" smtClean="0"/>
              <a:t>30</a:t>
            </a:fld>
            <a:endParaRPr lang="en-US"/>
          </a:p>
        </p:txBody>
      </p:sp>
    </p:spTree>
    <p:extLst>
      <p:ext uri="{BB962C8B-B14F-4D97-AF65-F5344CB8AC3E}">
        <p14:creationId xmlns:p14="http://schemas.microsoft.com/office/powerpoint/2010/main" val="1984406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0F7F85-2320-42D5-873B-256BB844EE6C}" type="slidenum">
              <a:rPr lang="en-US" smtClean="0"/>
              <a:t>44</a:t>
            </a:fld>
            <a:endParaRPr lang="en-US"/>
          </a:p>
        </p:txBody>
      </p:sp>
    </p:spTree>
    <p:extLst>
      <p:ext uri="{BB962C8B-B14F-4D97-AF65-F5344CB8AC3E}">
        <p14:creationId xmlns:p14="http://schemas.microsoft.com/office/powerpoint/2010/main" val="384412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9D25-0B7F-B1CE-F52E-9BA180E518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0CE05-F75B-02D8-8A30-411F81134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AF4BF1-9131-BA65-857F-63169ABE497B}"/>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83C73C87-2B46-7F2A-D54F-B103EEB8C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5D531-CF50-EC02-D54F-90E5EF8A17E9}"/>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51389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4AE6-9797-FAFB-9776-3EDFC4AC20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5DA617-9364-9892-D582-FA6A4C2DF9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AB2B4-E407-7F20-2C03-3B9DEAA8A9C1}"/>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8F343465-F846-7A57-19E5-49775734B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23432-705B-6524-3DA0-8955FF24178A}"/>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352093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DD7B-EA2B-C58F-AC77-970C87C403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326374-B654-3D23-541D-35D8ACFBAE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A52D59-73F1-E990-97F9-26327F3CFED5}"/>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366C0430-3B2D-BB17-5CC8-1630F0F889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DA0FA-1DBA-CDD7-C34F-857727235A22}"/>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369513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3800-5D5C-B70A-E398-0969312EC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F52DBC-6D25-AF9C-A3DC-A94E0C8B29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8E3C90-3909-A1E9-2AD8-1E22515C8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C35C4D-B429-57CF-1265-831FD1E10E64}"/>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6" name="Footer Placeholder 5">
            <a:extLst>
              <a:ext uri="{FF2B5EF4-FFF2-40B4-BE49-F238E27FC236}">
                <a16:creationId xmlns:a16="http://schemas.microsoft.com/office/drawing/2014/main" id="{8F16525F-FD69-74B8-5A7C-A93FB8C768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4C3E4-1EBF-7DAB-A0AC-A900BC04C968}"/>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771178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D59C-4559-6D15-7730-DDCAC53A1C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7EAB68-959E-B80E-E31C-BE1FC1E076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A012B4-AC8E-A924-A4EB-4D9BD2988A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1F1374-4DF5-5DBF-D35B-F374C4A203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0AD48C-1E35-C57C-D264-0706F96A02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5B0A3E-A8B0-DACB-6187-4654188951F5}"/>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8" name="Footer Placeholder 7">
            <a:extLst>
              <a:ext uri="{FF2B5EF4-FFF2-40B4-BE49-F238E27FC236}">
                <a16:creationId xmlns:a16="http://schemas.microsoft.com/office/drawing/2014/main" id="{BBD14AE0-77CB-BC60-82FE-A9DC042B4B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ADA030-00D2-34B9-4173-6A7B23086BC2}"/>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195327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C08D-4DED-F266-A1DB-A9284FD73D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09A5C6-B5AC-CB1E-C483-C271866BE9C3}"/>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4" name="Footer Placeholder 3">
            <a:extLst>
              <a:ext uri="{FF2B5EF4-FFF2-40B4-BE49-F238E27FC236}">
                <a16:creationId xmlns:a16="http://schemas.microsoft.com/office/drawing/2014/main" id="{7DED328F-0119-811E-2172-E4F3E69D48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AA8566-40F3-1633-2B6B-D768D90B92C5}"/>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76767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8AC85-0553-EA33-E5A4-3FF985C561C3}"/>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3" name="Footer Placeholder 2">
            <a:extLst>
              <a:ext uri="{FF2B5EF4-FFF2-40B4-BE49-F238E27FC236}">
                <a16:creationId xmlns:a16="http://schemas.microsoft.com/office/drawing/2014/main" id="{894E5CCA-3103-DB17-B61A-06494BEFAD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F77A18-20AB-3E58-510F-7FCF4BC9863A}"/>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99719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41EBF-410F-B5E9-5501-4CC5623B4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647C07-E3C8-3CA6-FCCD-BE3D6996AF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A800DF-3EF7-E8B2-4756-1E233BB3D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591134-9D61-11BC-13D9-CF67C8E182B5}"/>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6" name="Footer Placeholder 5">
            <a:extLst>
              <a:ext uri="{FF2B5EF4-FFF2-40B4-BE49-F238E27FC236}">
                <a16:creationId xmlns:a16="http://schemas.microsoft.com/office/drawing/2014/main" id="{D7F921C1-8889-DDB0-C723-1AFBE307F9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ACF56-AEAE-7DD8-6F62-A5BDAEEC071D}"/>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3905036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2757-32A7-35AE-29F5-E312AE05AA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A62C0F-D056-223D-88F6-61C6D78BBD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C5E826-965D-A19B-F233-CBAC7BB06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E48648-211E-CBEE-C76E-DC9313E4AA05}"/>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6" name="Footer Placeholder 5">
            <a:extLst>
              <a:ext uri="{FF2B5EF4-FFF2-40B4-BE49-F238E27FC236}">
                <a16:creationId xmlns:a16="http://schemas.microsoft.com/office/drawing/2014/main" id="{ECC187EC-4639-A166-253E-C1D61199F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15C077-D90B-1D7E-83D9-5B88D79B3190}"/>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432425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D5B39-EE3B-FFD3-2F5E-EA7ED29652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2BB011-3B4A-9402-46B3-26A1773AD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A7EAC-12DD-271D-B44B-6A2ACC3AD570}"/>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EDC16B88-1849-5016-6D8C-25D3489605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2FB27-6A09-5D3C-ACAE-2962A672CCC7}"/>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484259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83E93C-2C00-2AE1-994A-BE27EBE2BF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892ECD-3BA7-D54F-15BA-433730C2E2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2040E-C9C2-B662-63C1-8F5D2975A177}"/>
              </a:ext>
            </a:extLst>
          </p:cNvPr>
          <p:cNvSpPr>
            <a:spLocks noGrp="1"/>
          </p:cNvSpPr>
          <p:nvPr>
            <p:ph type="dt" sz="half" idx="10"/>
          </p:nvPr>
        </p:nvSpPr>
        <p:spPr/>
        <p:txBody>
          <a:body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133E9B1C-0772-CFAD-1394-DD0380F08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89A3A-49EA-15D6-85ED-B3A582AD8EA0}"/>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169917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9406214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523662-4C2E-DFA0-219E-2458A1054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CCB472-9163-5518-643D-4735C1C25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97181-79B3-4EFB-12A9-FE54C05788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9572BF-C76E-4508-9D8B-FECC02DEE63E}" type="datetimeFigureOut">
              <a:rPr lang="en-US" smtClean="0"/>
              <a:t>2/11/25</a:t>
            </a:fld>
            <a:endParaRPr lang="en-US"/>
          </a:p>
        </p:txBody>
      </p:sp>
      <p:sp>
        <p:nvSpPr>
          <p:cNvPr id="5" name="Footer Placeholder 4">
            <a:extLst>
              <a:ext uri="{FF2B5EF4-FFF2-40B4-BE49-F238E27FC236}">
                <a16:creationId xmlns:a16="http://schemas.microsoft.com/office/drawing/2014/main" id="{51FDDE42-872E-A541-37C2-C737F2B19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3814DC-6659-CF02-0983-BC526E1D30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B30E7-6FA1-4879-A6E2-A42A4829A38E}" type="slidenum">
              <a:rPr lang="en-US" smtClean="0"/>
              <a:t>‹#›</a:t>
            </a:fld>
            <a:endParaRPr lang="en-US"/>
          </a:p>
        </p:txBody>
      </p:sp>
    </p:spTree>
    <p:extLst>
      <p:ext uri="{BB962C8B-B14F-4D97-AF65-F5344CB8AC3E}">
        <p14:creationId xmlns:p14="http://schemas.microsoft.com/office/powerpoint/2010/main" val="4240349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8" Type="http://schemas.openxmlformats.org/officeDocument/2006/relationships/hyperlink" Target="https://img.memegenerator.net/instances/84407638.jpg" TargetMode="External"/><Relationship Id="rId3" Type="http://schemas.openxmlformats.org/officeDocument/2006/relationships/hyperlink" Target="https://upload.wikimedia.org/wikipedia/commons/1/10/The_Rolling_Stones_Summerfest_in_Milwaukee_-_2015.jpg" TargetMode="External"/><Relationship Id="rId7" Type="http://schemas.openxmlformats.org/officeDocument/2006/relationships/hyperlink" Target="https://www.deviantart.com/swiftwin4ds/art/Reality-is-often-disappointing-785218817" TargetMode="External"/><Relationship Id="rId2" Type="http://schemas.openxmlformats.org/officeDocument/2006/relationships/hyperlink" Target="https://wompampsupport.azureedge.net/fetchimage?siteId=7575&amp;v=2&amp;jpgQuality=100&amp;width=700&amp;url=https%3A%2F%2Fi.kym-cdn.com%2Fentries%2Ficons%2Ffacebook%2F000%2F031%2F197%2Fvisible.jpg" TargetMode="External"/><Relationship Id="rId1" Type="http://schemas.openxmlformats.org/officeDocument/2006/relationships/slideLayout" Target="../slideLayouts/slideLayout2.xml"/><Relationship Id="rId6" Type="http://schemas.openxmlformats.org/officeDocument/2006/relationships/hyperlink" Target="http://www.quickmeme.com/meme/357oc1" TargetMode="External"/><Relationship Id="rId5" Type="http://schemas.openxmlformats.org/officeDocument/2006/relationships/hyperlink" Target="https://www.pngitem.com/pimgs/m/11-115218_iphone-thinking-emoji-hd-png-download.png" TargetMode="External"/><Relationship Id="rId4" Type="http://schemas.openxmlformats.org/officeDocument/2006/relationships/hyperlink" Target="https://ychef.files.bbci.co.uk/976x549/p03lcphh.jp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C04B-99DA-465F-9622-6B3B5A36CF10}"/>
              </a:ext>
            </a:extLst>
          </p:cNvPr>
          <p:cNvSpPr>
            <a:spLocks noGrp="1"/>
          </p:cNvSpPr>
          <p:nvPr>
            <p:ph type="ctrTitle"/>
          </p:nvPr>
        </p:nvSpPr>
        <p:spPr>
          <a:xfrm>
            <a:off x="0" y="0"/>
            <a:ext cx="12192000" cy="839902"/>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txBody>
          <a:bodyPr>
            <a:normAutofit/>
          </a:bodyPr>
          <a:lstStyle/>
          <a:p>
            <a:r>
              <a:rPr lang="en-US" sz="4800" dirty="0"/>
              <a:t>CSE 3100: Systems Programming</a:t>
            </a:r>
          </a:p>
        </p:txBody>
      </p:sp>
      <p:sp>
        <p:nvSpPr>
          <p:cNvPr id="3" name="Subtitle 2">
            <a:extLst>
              <a:ext uri="{FF2B5EF4-FFF2-40B4-BE49-F238E27FC236}">
                <a16:creationId xmlns:a16="http://schemas.microsoft.com/office/drawing/2014/main" id="{59245AFA-748C-4441-9A3A-253D6A215DF6}"/>
              </a:ext>
            </a:extLst>
          </p:cNvPr>
          <p:cNvSpPr>
            <a:spLocks noGrp="1"/>
          </p:cNvSpPr>
          <p:nvPr>
            <p:ph type="subTitle" idx="1"/>
          </p:nvPr>
        </p:nvSpPr>
        <p:spPr>
          <a:xfrm>
            <a:off x="1430693" y="5202238"/>
            <a:ext cx="9144000" cy="1655762"/>
          </a:xfrm>
        </p:spPr>
        <p:txBody>
          <a:bodyPr/>
          <a:lstStyle/>
          <a:p>
            <a:r>
              <a:rPr lang="en-US"/>
              <a:t>Department </a:t>
            </a:r>
            <a:r>
              <a:rPr lang="en-US" dirty="0"/>
              <a:t>of Computer Science and Engineering</a:t>
            </a:r>
          </a:p>
          <a:p>
            <a:r>
              <a:rPr lang="en-US" dirty="0"/>
              <a:t>University of Connecticut</a:t>
            </a:r>
          </a:p>
        </p:txBody>
      </p:sp>
      <p:sp>
        <p:nvSpPr>
          <p:cNvPr id="4" name="Subtitle 2">
            <a:extLst>
              <a:ext uri="{FF2B5EF4-FFF2-40B4-BE49-F238E27FC236}">
                <a16:creationId xmlns:a16="http://schemas.microsoft.com/office/drawing/2014/main" id="{02CB5F35-6329-406D-89BD-C9BBF92B1EAD}"/>
              </a:ext>
            </a:extLst>
          </p:cNvPr>
          <p:cNvSpPr txBox="1">
            <a:spLocks/>
          </p:cNvSpPr>
          <p:nvPr/>
        </p:nvSpPr>
        <p:spPr>
          <a:xfrm>
            <a:off x="0" y="2853241"/>
            <a:ext cx="12192000" cy="9398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t>Lecture 6 : Memory Allocation</a:t>
            </a:r>
          </a:p>
        </p:txBody>
      </p:sp>
    </p:spTree>
    <p:extLst>
      <p:ext uri="{BB962C8B-B14F-4D97-AF65-F5344CB8AC3E}">
        <p14:creationId xmlns:p14="http://schemas.microsoft.com/office/powerpoint/2010/main" val="252123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38200" y="1411666"/>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dirty="0">
                <a:effectLst>
                  <a:outerShdw blurRad="38100" dist="38100" dir="2700000" algn="tl">
                    <a:srgbClr val="000000">
                      <a:alpha val="43137"/>
                    </a:srgbClr>
                  </a:outerShdw>
                </a:effectLst>
              </a:rPr>
              <a:t>1. Memory Organization and Malloc</a:t>
            </a:r>
          </a:p>
        </p:txBody>
      </p:sp>
      <p:sp>
        <p:nvSpPr>
          <p:cNvPr id="4" name="Title 1">
            <a:extLst>
              <a:ext uri="{FF2B5EF4-FFF2-40B4-BE49-F238E27FC236}">
                <a16:creationId xmlns:a16="http://schemas.microsoft.com/office/drawing/2014/main" id="{2A5E5307-D978-36AF-F83D-D0EFD2AA9642}"/>
              </a:ext>
            </a:extLst>
          </p:cNvPr>
          <p:cNvSpPr txBox="1">
            <a:spLocks/>
          </p:cNvSpPr>
          <p:nvPr/>
        </p:nvSpPr>
        <p:spPr>
          <a:xfrm>
            <a:off x="838200" y="2958517"/>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effectLst>
                  <a:outerShdw blurRad="38100" dist="38100" dir="2700000" algn="tl">
                    <a:srgbClr val="000000">
                      <a:alpha val="43137"/>
                    </a:srgbClr>
                  </a:outerShdw>
                </a:effectLst>
              </a:rPr>
              <a:t>2. Tracking Array Size</a:t>
            </a:r>
          </a:p>
        </p:txBody>
      </p:sp>
      <p:sp>
        <p:nvSpPr>
          <p:cNvPr id="3" name="Title 1">
            <a:extLst>
              <a:ext uri="{FF2B5EF4-FFF2-40B4-BE49-F238E27FC236}">
                <a16:creationId xmlns:a16="http://schemas.microsoft.com/office/drawing/2014/main" id="{72651BD0-BD73-02F8-B368-60BA8DB8612E}"/>
              </a:ext>
            </a:extLst>
          </p:cNvPr>
          <p:cNvSpPr txBox="1">
            <a:spLocks/>
          </p:cNvSpPr>
          <p:nvPr/>
        </p:nvSpPr>
        <p:spPr>
          <a:xfrm>
            <a:off x="838200" y="4505368"/>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effectLst>
                  <a:outerShdw blurRad="38100" dist="38100" dir="2700000" algn="tl">
                    <a:srgbClr val="000000">
                      <a:alpha val="43137"/>
                    </a:srgbClr>
                  </a:outerShdw>
                </a:effectLst>
              </a:rPr>
              <a:t>3. More on Arrays and Multi-dimensional Arrays</a:t>
            </a:r>
          </a:p>
        </p:txBody>
      </p:sp>
      <p:sp>
        <p:nvSpPr>
          <p:cNvPr id="6" name="TextBox 5">
            <a:extLst>
              <a:ext uri="{FF2B5EF4-FFF2-40B4-BE49-F238E27FC236}">
                <a16:creationId xmlns:a16="http://schemas.microsoft.com/office/drawing/2014/main" id="{E9FE9ABD-F746-5DC7-FA40-E4329743A79B}"/>
              </a:ext>
            </a:extLst>
          </p:cNvPr>
          <p:cNvSpPr txBox="1"/>
          <p:nvPr/>
        </p:nvSpPr>
        <p:spPr>
          <a:xfrm>
            <a:off x="2147792" y="259847"/>
            <a:ext cx="8105652" cy="769441"/>
          </a:xfrm>
          <a:prstGeom prst="rect">
            <a:avLst/>
          </a:prstGeom>
          <a:noFill/>
        </p:spPr>
        <p:txBody>
          <a:bodyPr wrap="square">
            <a:spAutoFit/>
          </a:bodyPr>
          <a:lstStyle/>
          <a:p>
            <a:pPr algn="ctr"/>
            <a:r>
              <a:rPr lang="en-US" sz="4400" b="1" u="sng" dirty="0"/>
              <a:t>Memory Allocation Lecture Topics</a:t>
            </a:r>
          </a:p>
        </p:txBody>
      </p:sp>
    </p:spTree>
    <p:extLst>
      <p:ext uri="{BB962C8B-B14F-4D97-AF65-F5344CB8AC3E}">
        <p14:creationId xmlns:p14="http://schemas.microsoft.com/office/powerpoint/2010/main" val="3811406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Shape 751"/>
          <p:cNvSpPr>
            <a:spLocks noGrp="1"/>
          </p:cNvSpPr>
          <p:nvPr>
            <p:ph type="body" idx="1"/>
          </p:nvPr>
        </p:nvSpPr>
        <p:spPr>
          <a:xfrm>
            <a:off x="645695" y="1659281"/>
            <a:ext cx="5355754" cy="4616648"/>
          </a:xfrm>
          <a:prstGeom prst="rect">
            <a:avLst/>
          </a:prstGeom>
        </p:spPr>
        <p:txBody>
          <a:bodyPr>
            <a:normAutofit/>
          </a:bodyPr>
          <a:lstStyle/>
          <a:p>
            <a:pPr lvl="0">
              <a:defRPr sz="1800">
                <a:solidFill>
                  <a:srgbClr val="000000"/>
                </a:solidFill>
              </a:defRPr>
            </a:pPr>
            <a:r>
              <a:rPr lang="en-US" sz="3000" dirty="0">
                <a:solidFill>
                  <a:srgbClr val="941100"/>
                </a:solidFill>
              </a:rPr>
              <a:t>Three pools of memory</a:t>
            </a:r>
          </a:p>
          <a:p>
            <a:pPr lvl="1">
              <a:defRPr sz="1800">
                <a:solidFill>
                  <a:srgbClr val="000000"/>
                </a:solidFill>
              </a:defRPr>
            </a:pPr>
            <a:r>
              <a:rPr lang="en-US" sz="3000" dirty="0">
                <a:solidFill>
                  <a:srgbClr val="747474"/>
                </a:solidFill>
              </a:rPr>
              <a:t>Static/global</a:t>
            </a:r>
          </a:p>
          <a:p>
            <a:pPr lvl="1">
              <a:defRPr sz="1800">
                <a:solidFill>
                  <a:srgbClr val="000000"/>
                </a:solidFill>
              </a:defRPr>
            </a:pPr>
            <a:r>
              <a:rPr lang="en-US" sz="3000" dirty="0">
                <a:solidFill>
                  <a:srgbClr val="747474"/>
                </a:solidFill>
              </a:rPr>
              <a:t>Stack</a:t>
            </a:r>
          </a:p>
          <a:p>
            <a:pPr lvl="1">
              <a:defRPr sz="1800">
                <a:solidFill>
                  <a:srgbClr val="000000"/>
                </a:solidFill>
              </a:defRPr>
            </a:pPr>
            <a:r>
              <a:rPr lang="en-US" sz="3000" dirty="0">
                <a:solidFill>
                  <a:srgbClr val="747474"/>
                </a:solidFill>
              </a:rPr>
              <a:t>Heap</a:t>
            </a:r>
          </a:p>
          <a:p>
            <a:pPr lvl="0">
              <a:defRPr sz="1800">
                <a:solidFill>
                  <a:srgbClr val="000000"/>
                </a:solidFill>
              </a:defRPr>
            </a:pPr>
            <a:r>
              <a:rPr lang="en-US" sz="3000" dirty="0">
                <a:solidFill>
                  <a:srgbClr val="941100"/>
                </a:solidFill>
              </a:rPr>
              <a:t>Each pool features</a:t>
            </a:r>
          </a:p>
          <a:p>
            <a:pPr lvl="1">
              <a:defRPr sz="1800">
                <a:solidFill>
                  <a:srgbClr val="000000"/>
                </a:solidFill>
              </a:defRPr>
            </a:pPr>
            <a:r>
              <a:rPr lang="en-US" sz="3000" dirty="0">
                <a:solidFill>
                  <a:srgbClr val="747474"/>
                </a:solidFill>
              </a:rPr>
              <a:t>Different lifetime</a:t>
            </a:r>
          </a:p>
          <a:p>
            <a:pPr lvl="1">
              <a:defRPr sz="1800">
                <a:solidFill>
                  <a:srgbClr val="000000"/>
                </a:solidFill>
              </a:defRPr>
            </a:pPr>
            <a:r>
              <a:rPr lang="en-US" sz="3000" dirty="0">
                <a:solidFill>
                  <a:srgbClr val="747474"/>
                </a:solidFill>
              </a:rPr>
              <a:t>Different allocation/deallocation policy</a:t>
            </a:r>
          </a:p>
          <a:p>
            <a:pPr marL="241093" lvl="1" indent="0">
              <a:buNone/>
              <a:defRPr sz="1800">
                <a:solidFill>
                  <a:srgbClr val="000000"/>
                </a:solidFill>
              </a:defRPr>
            </a:pPr>
            <a:endParaRPr lang="en-US" dirty="0"/>
          </a:p>
        </p:txBody>
      </p:sp>
      <p:sp>
        <p:nvSpPr>
          <p:cNvPr id="753" name="Shape 753"/>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54" name="Shape 754"/>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55" name="Shape 755"/>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dirty="0"/>
              <a:t>0x00000000</a:t>
            </a:r>
          </a:p>
        </p:txBody>
      </p:sp>
      <p:sp>
        <p:nvSpPr>
          <p:cNvPr id="758" name="Shape 758"/>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59" name="Shape 759"/>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760" name="Shape 760"/>
          <p:cNvSpPr/>
          <p:nvPr/>
        </p:nvSpPr>
        <p:spPr>
          <a:xfrm>
            <a:off x="7878162" y="1562785"/>
            <a:ext cx="2442496" cy="811849"/>
          </a:xfrm>
          <a:prstGeom prst="rect">
            <a:avLst/>
          </a:prstGeom>
          <a:solidFill>
            <a:srgbClr val="FF2600"/>
          </a:solidFill>
          <a:ln w="25400">
            <a:solidFill/>
            <a:miter lim="400000"/>
          </a:ln>
        </p:spPr>
        <p:txBody>
          <a:bodyPr lIns="0" tIns="0" rIns="0" bIns="0" anchor="ctr"/>
          <a:lstStyle/>
          <a:p>
            <a:pPr lvl="0">
              <a:defRPr sz="3400"/>
            </a:pPr>
            <a:endParaRPr sz="2391"/>
          </a:p>
        </p:txBody>
      </p:sp>
      <p:sp>
        <p:nvSpPr>
          <p:cNvPr id="761" name="Shape 761"/>
          <p:cNvSpPr/>
          <p:nvPr/>
        </p:nvSpPr>
        <p:spPr>
          <a:xfrm rot="5400000">
            <a:off x="8652926" y="2182229"/>
            <a:ext cx="892969" cy="892969"/>
          </a:xfrm>
          <a:prstGeom prst="rightArrow">
            <a:avLst>
              <a:gd name="adj1" fmla="val 32000"/>
              <a:gd name="adj2" fmla="val 64000"/>
            </a:avLst>
          </a:prstGeom>
          <a:solidFill>
            <a:srgbClr val="FF2600"/>
          </a:solidFill>
          <a:ln w="12700">
            <a:miter lim="400000"/>
          </a:ln>
        </p:spPr>
        <p:txBody>
          <a:bodyPr lIns="0" tIns="0" rIns="0" bIns="0" anchor="ctr"/>
          <a:lstStyle/>
          <a:p>
            <a:pPr lvl="0">
              <a:defRPr sz="3400"/>
            </a:pPr>
            <a:endParaRPr sz="2391"/>
          </a:p>
        </p:txBody>
      </p:sp>
      <p:sp>
        <p:nvSpPr>
          <p:cNvPr id="762" name="Shape 762"/>
          <p:cNvSpPr/>
          <p:nvPr/>
        </p:nvSpPr>
        <p:spPr>
          <a:xfrm>
            <a:off x="7878162" y="4359178"/>
            <a:ext cx="2442496" cy="1415926"/>
          </a:xfrm>
          <a:prstGeom prst="rect">
            <a:avLst/>
          </a:prstGeom>
          <a:solidFill>
            <a:srgbClr val="FFFB00"/>
          </a:solidFill>
          <a:ln w="25400">
            <a:solidFill/>
            <a:miter lim="400000"/>
          </a:ln>
        </p:spPr>
        <p:txBody>
          <a:bodyPr lIns="0" tIns="0" rIns="0" bIns="0" anchor="ctr"/>
          <a:lstStyle/>
          <a:p>
            <a:pPr lvl="0">
              <a:defRPr sz="3400"/>
            </a:pPr>
            <a:endParaRPr sz="2391"/>
          </a:p>
        </p:txBody>
      </p:sp>
      <p:sp>
        <p:nvSpPr>
          <p:cNvPr id="763" name="Shape 763"/>
          <p:cNvSpPr/>
          <p:nvPr/>
        </p:nvSpPr>
        <p:spPr>
          <a:xfrm rot="16200000">
            <a:off x="8660666" y="3625217"/>
            <a:ext cx="892969" cy="892969"/>
          </a:xfrm>
          <a:prstGeom prst="rightArrow">
            <a:avLst>
              <a:gd name="adj1" fmla="val 32000"/>
              <a:gd name="adj2" fmla="val 64000"/>
            </a:avLst>
          </a:prstGeom>
          <a:solidFill>
            <a:srgbClr val="FFFB00"/>
          </a:solidFill>
          <a:ln w="12700">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16771654-47CB-4E0D-7971-CE7C82AA914E}"/>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Recall: Memory Organization (1)</a:t>
            </a:r>
            <a:endParaRPr sz="4000" dirty="0"/>
          </a:p>
        </p:txBody>
      </p:sp>
    </p:spTree>
    <p:extLst>
      <p:ext uri="{BB962C8B-B14F-4D97-AF65-F5344CB8AC3E}">
        <p14:creationId xmlns:p14="http://schemas.microsoft.com/office/powerpoint/2010/main" val="52926952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Shape 751"/>
          <p:cNvSpPr>
            <a:spLocks noGrp="1"/>
          </p:cNvSpPr>
          <p:nvPr>
            <p:ph type="body" idx="1"/>
          </p:nvPr>
        </p:nvSpPr>
        <p:spPr>
          <a:xfrm>
            <a:off x="645695" y="1659281"/>
            <a:ext cx="5355754"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a:p>
            <a:pPr lvl="1">
              <a:defRPr sz="1800">
                <a:solidFill>
                  <a:srgbClr val="000000"/>
                </a:solidFill>
              </a:defRPr>
            </a:pPr>
            <a:r>
              <a:rPr sz="2109" b="1" dirty="0">
                <a:solidFill>
                  <a:srgbClr val="0433FF"/>
                </a:solidFill>
              </a:rPr>
              <a:t>Executable</a:t>
            </a:r>
            <a:r>
              <a:rPr sz="2109" dirty="0">
                <a:solidFill>
                  <a:srgbClr val="747474"/>
                </a:solidFill>
              </a:rPr>
              <a:t> code is at the bottom</a:t>
            </a:r>
          </a:p>
          <a:p>
            <a:pPr lvl="1">
              <a:defRPr sz="1800">
                <a:solidFill>
                  <a:srgbClr val="000000"/>
                </a:solidFill>
              </a:defRPr>
            </a:pPr>
            <a:r>
              <a:rPr sz="2109" b="1" dirty="0">
                <a:solidFill>
                  <a:srgbClr val="FF2F92"/>
                </a:solidFill>
              </a:rPr>
              <a:t>Statics</a:t>
            </a:r>
            <a:r>
              <a:rPr sz="2109" dirty="0">
                <a:solidFill>
                  <a:srgbClr val="747474"/>
                </a:solidFill>
              </a:rPr>
              <a:t> </a:t>
            </a:r>
            <a:r>
              <a:rPr lang="en-US" sz="2109" dirty="0">
                <a:solidFill>
                  <a:srgbClr val="747474"/>
                </a:solidFill>
              </a:rPr>
              <a:t>and </a:t>
            </a:r>
            <a:r>
              <a:rPr lang="en-US" sz="2109" dirty="0" err="1">
                <a:solidFill>
                  <a:srgbClr val="747474"/>
                </a:solidFill>
              </a:rPr>
              <a:t>globals</a:t>
            </a:r>
            <a:r>
              <a:rPr lang="en-US" sz="2109" dirty="0">
                <a:solidFill>
                  <a:srgbClr val="747474"/>
                </a:solidFill>
              </a:rPr>
              <a:t> </a:t>
            </a:r>
            <a:r>
              <a:rPr sz="2109" dirty="0">
                <a:solidFill>
                  <a:srgbClr val="747474"/>
                </a:solidFill>
              </a:rPr>
              <a:t>are just above</a:t>
            </a:r>
          </a:p>
          <a:p>
            <a:pPr lvl="1">
              <a:defRPr sz="1800">
                <a:solidFill>
                  <a:srgbClr val="000000"/>
                </a:solidFill>
              </a:defRPr>
            </a:pPr>
            <a:r>
              <a:rPr sz="2109" b="1" dirty="0">
                <a:solidFill>
                  <a:srgbClr val="FF2600"/>
                </a:solidFill>
              </a:rPr>
              <a:t>Stack</a:t>
            </a:r>
            <a:r>
              <a:rPr sz="2109" dirty="0">
                <a:solidFill>
                  <a:srgbClr val="747474"/>
                </a:solidFill>
              </a:rPr>
              <a:t> is at the top (going down!) </a:t>
            </a:r>
          </a:p>
          <a:p>
            <a:pPr lvl="1">
              <a:defRPr sz="1800">
                <a:solidFill>
                  <a:srgbClr val="000000"/>
                </a:solidFill>
              </a:defRPr>
            </a:pPr>
            <a:r>
              <a:rPr sz="2109" b="1" dirty="0">
                <a:solidFill>
                  <a:srgbClr val="FFFB00"/>
                </a:solidFill>
              </a:rPr>
              <a:t>Heap</a:t>
            </a:r>
            <a:r>
              <a:rPr sz="2109" dirty="0">
                <a:solidFill>
                  <a:srgbClr val="747474"/>
                </a:solidFill>
              </a:rPr>
              <a:t> grows from the bottom (going up!)</a:t>
            </a:r>
          </a:p>
          <a:p>
            <a:pPr lvl="1">
              <a:defRPr sz="1800">
                <a:solidFill>
                  <a:srgbClr val="000000"/>
                </a:solidFill>
              </a:defRPr>
            </a:pPr>
            <a:r>
              <a:rPr sz="2109" b="1" dirty="0">
                <a:solidFill>
                  <a:srgbClr val="747474"/>
                </a:solidFill>
              </a:rPr>
              <a:t>Gray</a:t>
            </a:r>
            <a:r>
              <a:rPr sz="2109" dirty="0">
                <a:solidFill>
                  <a:srgbClr val="747474"/>
                </a:solidFill>
              </a:rPr>
              <a:t> no-man’s land is up for grab</a:t>
            </a:r>
            <a:endParaRPr lang="en-US" sz="2109" dirty="0">
              <a:solidFill>
                <a:srgbClr val="747474"/>
              </a:solidFill>
            </a:endParaRPr>
          </a:p>
          <a:p>
            <a:pPr marL="241093" lvl="1" indent="0">
              <a:buNone/>
              <a:defRPr sz="1800">
                <a:solidFill>
                  <a:srgbClr val="000000"/>
                </a:solidFill>
              </a:defRPr>
            </a:pPr>
            <a:endParaRPr lang="en-US" dirty="0"/>
          </a:p>
          <a:p>
            <a:pPr marL="241093" lvl="1" indent="0">
              <a:buNone/>
              <a:defRPr sz="1800">
                <a:solidFill>
                  <a:srgbClr val="000000"/>
                </a:solidFill>
              </a:defRPr>
            </a:pPr>
            <a:endParaRPr lang="en-US" sz="2109" dirty="0">
              <a:solidFill>
                <a:srgbClr val="747474"/>
              </a:solidFill>
            </a:endParaRPr>
          </a:p>
          <a:p>
            <a:pPr marL="241093" lvl="1" indent="0">
              <a:buNone/>
              <a:defRPr sz="1800">
                <a:solidFill>
                  <a:srgbClr val="000000"/>
                </a:solidFill>
              </a:defRPr>
            </a:pPr>
            <a:r>
              <a:rPr lang="en-US" sz="1687" dirty="0">
                <a:solidFill>
                  <a:srgbClr val="000000"/>
                </a:solidFill>
              </a:rPr>
              <a:t>Low end may not start from 0.</a:t>
            </a:r>
          </a:p>
          <a:p>
            <a:pPr marL="241093" lvl="1" indent="0">
              <a:buNone/>
              <a:defRPr sz="1800">
                <a:solidFill>
                  <a:srgbClr val="000000"/>
                </a:solidFill>
              </a:defRPr>
            </a:pPr>
            <a:r>
              <a:rPr lang="en-US" sz="1687" dirty="0">
                <a:solidFill>
                  <a:srgbClr val="000000"/>
                </a:solidFill>
              </a:rPr>
              <a:t>High end may not be the 0xff…ff.</a:t>
            </a:r>
            <a:endParaRPr sz="1687" dirty="0">
              <a:solidFill>
                <a:srgbClr val="000000"/>
              </a:solidFill>
            </a:endParaRPr>
          </a:p>
        </p:txBody>
      </p:sp>
      <p:sp>
        <p:nvSpPr>
          <p:cNvPr id="753" name="Shape 753"/>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54" name="Shape 754"/>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55" name="Shape 755"/>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756" name="Shape 756"/>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57" name="Shape 757"/>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58" name="Shape 758"/>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59" name="Shape 759"/>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760" name="Shape 760"/>
          <p:cNvSpPr/>
          <p:nvPr/>
        </p:nvSpPr>
        <p:spPr>
          <a:xfrm>
            <a:off x="7878162" y="1562785"/>
            <a:ext cx="2442496" cy="811849"/>
          </a:xfrm>
          <a:prstGeom prst="rect">
            <a:avLst/>
          </a:prstGeom>
          <a:solidFill>
            <a:srgbClr val="FF2600"/>
          </a:solidFill>
          <a:ln w="25400">
            <a:solidFill/>
            <a:miter lim="400000"/>
          </a:ln>
        </p:spPr>
        <p:txBody>
          <a:bodyPr lIns="0" tIns="0" rIns="0" bIns="0" anchor="ctr"/>
          <a:lstStyle/>
          <a:p>
            <a:pPr lvl="0">
              <a:defRPr sz="3400"/>
            </a:pPr>
            <a:endParaRPr sz="2391"/>
          </a:p>
        </p:txBody>
      </p:sp>
      <p:sp>
        <p:nvSpPr>
          <p:cNvPr id="761" name="Shape 761"/>
          <p:cNvSpPr/>
          <p:nvPr/>
        </p:nvSpPr>
        <p:spPr>
          <a:xfrm rot="5400000">
            <a:off x="8652926" y="2182229"/>
            <a:ext cx="892969" cy="892969"/>
          </a:xfrm>
          <a:prstGeom prst="rightArrow">
            <a:avLst>
              <a:gd name="adj1" fmla="val 32000"/>
              <a:gd name="adj2" fmla="val 64000"/>
            </a:avLst>
          </a:prstGeom>
          <a:solidFill>
            <a:srgbClr val="FF2600"/>
          </a:solidFill>
          <a:ln w="12700">
            <a:miter lim="400000"/>
          </a:ln>
        </p:spPr>
        <p:txBody>
          <a:bodyPr lIns="0" tIns="0" rIns="0" bIns="0" anchor="ctr"/>
          <a:lstStyle/>
          <a:p>
            <a:pPr lvl="0">
              <a:defRPr sz="3400"/>
            </a:pPr>
            <a:endParaRPr sz="2391"/>
          </a:p>
        </p:txBody>
      </p:sp>
      <p:sp>
        <p:nvSpPr>
          <p:cNvPr id="762" name="Shape 762"/>
          <p:cNvSpPr/>
          <p:nvPr/>
        </p:nvSpPr>
        <p:spPr>
          <a:xfrm>
            <a:off x="7878162" y="4359178"/>
            <a:ext cx="2442496" cy="1415926"/>
          </a:xfrm>
          <a:prstGeom prst="rect">
            <a:avLst/>
          </a:prstGeom>
          <a:solidFill>
            <a:srgbClr val="FFFB00"/>
          </a:solidFill>
          <a:ln w="25400">
            <a:solidFill/>
            <a:miter lim="400000"/>
          </a:ln>
        </p:spPr>
        <p:txBody>
          <a:bodyPr lIns="0" tIns="0" rIns="0" bIns="0" anchor="ctr"/>
          <a:lstStyle/>
          <a:p>
            <a:pPr lvl="0">
              <a:defRPr sz="3400"/>
            </a:pPr>
            <a:endParaRPr sz="2391"/>
          </a:p>
        </p:txBody>
      </p:sp>
      <p:sp>
        <p:nvSpPr>
          <p:cNvPr id="763" name="Shape 763"/>
          <p:cNvSpPr/>
          <p:nvPr/>
        </p:nvSpPr>
        <p:spPr>
          <a:xfrm rot="16200000">
            <a:off x="8660666" y="3625217"/>
            <a:ext cx="892969" cy="892969"/>
          </a:xfrm>
          <a:prstGeom prst="rightArrow">
            <a:avLst>
              <a:gd name="adj1" fmla="val 32000"/>
              <a:gd name="adj2" fmla="val 64000"/>
            </a:avLst>
          </a:prstGeom>
          <a:solidFill>
            <a:srgbClr val="FFFB00"/>
          </a:solidFill>
          <a:ln w="12700">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16771654-47CB-4E0D-7971-CE7C82AA914E}"/>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Recall: Memory </a:t>
            </a:r>
            <a:r>
              <a:rPr lang="en-US" sz="4000"/>
              <a:t>Organization (2)</a:t>
            </a:r>
            <a:endParaRPr sz="4000" dirty="0"/>
          </a:p>
        </p:txBody>
      </p:sp>
    </p:spTree>
    <p:extLst>
      <p:ext uri="{BB962C8B-B14F-4D97-AF65-F5344CB8AC3E}">
        <p14:creationId xmlns:p14="http://schemas.microsoft.com/office/powerpoint/2010/main" val="42291181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C61C-EE50-DD46-D463-38020535F595}"/>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Static/global memory pool</a:t>
            </a:r>
          </a:p>
        </p:txBody>
      </p:sp>
      <p:sp>
        <p:nvSpPr>
          <p:cNvPr id="3" name="Content Placeholder 2">
            <a:extLst>
              <a:ext uri="{FF2B5EF4-FFF2-40B4-BE49-F238E27FC236}">
                <a16:creationId xmlns:a16="http://schemas.microsoft.com/office/drawing/2014/main" id="{8BB60FB5-9908-073F-56E3-C8F36EC3FD20}"/>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lvl="0"/>
            <a:r>
              <a:rPr lang="en-US" dirty="0"/>
              <a:t>This is where</a:t>
            </a:r>
          </a:p>
          <a:p>
            <a:pPr lvl="1"/>
            <a:r>
              <a:rPr lang="en-US" dirty="0"/>
              <a:t>All constants (including string literals) are held</a:t>
            </a:r>
          </a:p>
          <a:p>
            <a:pPr lvl="1"/>
            <a:r>
              <a:rPr lang="en-US" dirty="0"/>
              <a:t>Global variables</a:t>
            </a:r>
          </a:p>
          <a:p>
            <a:pPr lvl="1"/>
            <a:r>
              <a:rPr lang="en-US" dirty="0"/>
              <a:t>All variables declared “static” are held</a:t>
            </a:r>
          </a:p>
          <a:p>
            <a:pPr lvl="0"/>
            <a:r>
              <a:rPr lang="en-US" dirty="0"/>
              <a:t>Allocated when:</a:t>
            </a:r>
          </a:p>
          <a:p>
            <a:pPr lvl="1"/>
            <a:r>
              <a:rPr lang="en-US" dirty="0"/>
              <a:t>The program starts</a:t>
            </a:r>
          </a:p>
          <a:p>
            <a:pPr lvl="0"/>
            <a:r>
              <a:rPr lang="en-US" dirty="0"/>
              <a:t>Deallocated when:</a:t>
            </a:r>
          </a:p>
          <a:p>
            <a:pPr lvl="1"/>
            <a:r>
              <a:rPr lang="en-US" dirty="0"/>
              <a:t>The program terminates</a:t>
            </a:r>
          </a:p>
          <a:p>
            <a:r>
              <a:rPr lang="en-US" dirty="0">
                <a:solidFill>
                  <a:schemeClr val="accent1"/>
                </a:solidFill>
              </a:rPr>
              <a:t>FIXED SIZE</a:t>
            </a:r>
          </a:p>
          <a:p>
            <a:pPr lvl="1"/>
            <a:r>
              <a:rPr lang="en-US" dirty="0"/>
              <a:t>Compiler needs to know the size and make reservations</a:t>
            </a:r>
          </a:p>
          <a:p>
            <a:endParaRPr lang="en-US" dirty="0"/>
          </a:p>
        </p:txBody>
      </p:sp>
    </p:spTree>
    <p:extLst>
      <p:ext uri="{BB962C8B-B14F-4D97-AF65-F5344CB8AC3E}">
        <p14:creationId xmlns:p14="http://schemas.microsoft.com/office/powerpoint/2010/main" val="3667394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4960-2DC3-F233-B20C-9DDBBF87E162}"/>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Stack</a:t>
            </a:r>
          </a:p>
        </p:txBody>
      </p:sp>
      <p:sp>
        <p:nvSpPr>
          <p:cNvPr id="3" name="Content Placeholder 2">
            <a:extLst>
              <a:ext uri="{FF2B5EF4-FFF2-40B4-BE49-F238E27FC236}">
                <a16:creationId xmlns:a16="http://schemas.microsoft.com/office/drawing/2014/main" id="{29D961FA-25FB-37C9-622D-B98088C494DD}"/>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lvl="0"/>
            <a:r>
              <a:rPr lang="en-US" dirty="0"/>
              <a:t>This is where….</a:t>
            </a:r>
          </a:p>
          <a:p>
            <a:pPr lvl="1"/>
            <a:r>
              <a:rPr lang="en-US" dirty="0"/>
              <a:t>Memory comes from, for </a:t>
            </a:r>
            <a:r>
              <a:rPr lang="en-US" dirty="0">
                <a:solidFill>
                  <a:schemeClr val="accent1"/>
                </a:solidFill>
              </a:rPr>
              <a:t>local variables</a:t>
            </a:r>
            <a:r>
              <a:rPr lang="en-US" dirty="0"/>
              <a:t> in functions.</a:t>
            </a:r>
          </a:p>
          <a:p>
            <a:r>
              <a:rPr lang="en-US" dirty="0"/>
              <a:t>Easy to manage because it is automatic!</a:t>
            </a:r>
          </a:p>
          <a:p>
            <a:pPr lvl="1"/>
            <a:r>
              <a:rPr lang="en-US" dirty="0"/>
              <a:t>Allocated automatically when entering the function</a:t>
            </a:r>
          </a:p>
          <a:p>
            <a:pPr lvl="1"/>
            <a:r>
              <a:rPr lang="en-US" dirty="0"/>
              <a:t>De-allocated automatically when you leave the function</a:t>
            </a:r>
          </a:p>
          <a:p>
            <a:pPr lvl="2"/>
            <a:r>
              <a:rPr lang="en-US" dirty="0">
                <a:solidFill>
                  <a:schemeClr val="accent1"/>
                </a:solidFill>
              </a:rPr>
              <a:t>Scope is that of function</a:t>
            </a:r>
          </a:p>
          <a:p>
            <a:pPr lvl="2"/>
            <a:r>
              <a:rPr lang="en-US" dirty="0">
                <a:solidFill>
                  <a:schemeClr val="accent1"/>
                </a:solidFill>
              </a:rPr>
              <a:t>Should not be used after the function returns </a:t>
            </a:r>
          </a:p>
          <a:p>
            <a:pPr lvl="3"/>
            <a:r>
              <a:rPr lang="en-US" dirty="0">
                <a:solidFill>
                  <a:schemeClr val="accent1"/>
                </a:solidFill>
              </a:rPr>
              <a:t>For example, indirectly used via a pointer</a:t>
            </a:r>
          </a:p>
          <a:p>
            <a:r>
              <a:rPr lang="en-US" sz="2800" dirty="0"/>
              <a:t>Default stack size using </a:t>
            </a:r>
            <a:r>
              <a:rPr lang="en-US" sz="2800" dirty="0" err="1"/>
              <a:t>gcc</a:t>
            </a:r>
            <a:r>
              <a:rPr lang="en-US" sz="2800" dirty="0"/>
              <a:t> is 2 MB (Megabytes).</a:t>
            </a:r>
          </a:p>
          <a:p>
            <a:r>
              <a:rPr lang="en-US" sz="2800" dirty="0"/>
              <a:t>May </a:t>
            </a:r>
            <a:r>
              <a:rPr lang="en-US" dirty="0"/>
              <a:t>n</a:t>
            </a:r>
            <a:r>
              <a:rPr lang="en-US" sz="2800" dirty="0"/>
              <a:t>eed to increase stack size for large arrays and deep recursion</a:t>
            </a:r>
          </a:p>
          <a:p>
            <a:endParaRPr lang="en-US" dirty="0"/>
          </a:p>
        </p:txBody>
      </p:sp>
    </p:spTree>
    <p:extLst>
      <p:ext uri="{BB962C8B-B14F-4D97-AF65-F5344CB8AC3E}">
        <p14:creationId xmlns:p14="http://schemas.microsoft.com/office/powerpoint/2010/main" val="3433261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78F6B-39AE-23C4-8BE0-C899A79BC255}"/>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sz="4400" dirty="0"/>
              <a:t>Heap</a:t>
            </a:r>
            <a:endParaRPr lang="en-US" dirty="0"/>
          </a:p>
        </p:txBody>
      </p:sp>
      <p:sp>
        <p:nvSpPr>
          <p:cNvPr id="3" name="Content Placeholder 2">
            <a:extLst>
              <a:ext uri="{FF2B5EF4-FFF2-40B4-BE49-F238E27FC236}">
                <a16:creationId xmlns:a16="http://schemas.microsoft.com/office/drawing/2014/main" id="{8B01D648-0632-9108-9359-0ECD6539F40D}"/>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lvl="0">
              <a:defRPr sz="1800">
                <a:solidFill>
                  <a:srgbClr val="000000"/>
                </a:solidFill>
              </a:defRPr>
            </a:pPr>
            <a:r>
              <a:rPr lang="en-US" sz="3000" dirty="0">
                <a:solidFill>
                  <a:schemeClr val="tx1"/>
                </a:solidFill>
              </a:rPr>
              <a:t>This is where…</a:t>
            </a:r>
          </a:p>
          <a:p>
            <a:pPr lvl="1">
              <a:defRPr sz="1800">
                <a:solidFill>
                  <a:srgbClr val="000000"/>
                </a:solidFill>
              </a:defRPr>
            </a:pPr>
            <a:r>
              <a:rPr lang="en-US" sz="3000" dirty="0">
                <a:solidFill>
                  <a:schemeClr val="tx1"/>
                </a:solidFill>
              </a:rPr>
              <a:t>Memory comes from for manual “on-the-fly” allocations</a:t>
            </a:r>
          </a:p>
          <a:p>
            <a:pPr lvl="0">
              <a:defRPr sz="1800">
                <a:solidFill>
                  <a:srgbClr val="000000"/>
                </a:solidFill>
              </a:defRPr>
            </a:pPr>
            <a:r>
              <a:rPr lang="en-US" sz="3000" dirty="0">
                <a:solidFill>
                  <a:schemeClr val="tx1"/>
                </a:solidFill>
              </a:rPr>
              <a:t>Who is in charge ?</a:t>
            </a:r>
          </a:p>
          <a:p>
            <a:pPr lvl="1">
              <a:defRPr sz="1800">
                <a:solidFill>
                  <a:srgbClr val="000000"/>
                </a:solidFill>
              </a:defRPr>
            </a:pPr>
            <a:r>
              <a:rPr lang="en-US" sz="3000" b="1" u="sng" dirty="0">
                <a:solidFill>
                  <a:srgbClr val="92D050"/>
                </a:solidFill>
              </a:rPr>
              <a:t>The programmer </a:t>
            </a:r>
            <a:r>
              <a:rPr lang="en-US" sz="3000" dirty="0">
                <a:solidFill>
                  <a:schemeClr val="tx1"/>
                </a:solidFill>
              </a:rPr>
              <a:t>for both allocation / deallocation</a:t>
            </a:r>
          </a:p>
          <a:p>
            <a:pPr lvl="0">
              <a:defRPr sz="1800">
                <a:solidFill>
                  <a:srgbClr val="000000"/>
                </a:solidFill>
              </a:defRPr>
            </a:pPr>
            <a:r>
              <a:rPr lang="en-US" sz="3000" dirty="0">
                <a:solidFill>
                  <a:schemeClr val="tx1"/>
                </a:solidFill>
              </a:rPr>
              <a:t>Lifetime of memory blocks ?</a:t>
            </a:r>
          </a:p>
          <a:p>
            <a:pPr lvl="1">
              <a:defRPr sz="1800">
                <a:solidFill>
                  <a:srgbClr val="000000"/>
                </a:solidFill>
              </a:defRPr>
            </a:pPr>
            <a:r>
              <a:rPr lang="en-US" sz="3000" dirty="0">
                <a:solidFill>
                  <a:schemeClr val="tx1"/>
                </a:solidFill>
              </a:rPr>
              <a:t>As long as they are not freed!</a:t>
            </a:r>
          </a:p>
          <a:p>
            <a:endParaRPr lang="en-US" dirty="0"/>
          </a:p>
        </p:txBody>
      </p:sp>
    </p:spTree>
    <p:extLst>
      <p:ext uri="{BB962C8B-B14F-4D97-AF65-F5344CB8AC3E}">
        <p14:creationId xmlns:p14="http://schemas.microsoft.com/office/powerpoint/2010/main" val="1757092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B66C3-08B3-D049-4DE1-7DAEFA69F309}"/>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Manipulating Memory in C</a:t>
            </a:r>
          </a:p>
        </p:txBody>
      </p:sp>
      <p:sp>
        <p:nvSpPr>
          <p:cNvPr id="3" name="Content Placeholder 2">
            <a:extLst>
              <a:ext uri="{FF2B5EF4-FFF2-40B4-BE49-F238E27FC236}">
                <a16:creationId xmlns:a16="http://schemas.microsoft.com/office/drawing/2014/main" id="{9FE4E66C-0DA1-3ECC-6F1C-F8FFFC25F653}"/>
              </a:ext>
            </a:extLst>
          </p:cNvPr>
          <p:cNvSpPr>
            <a:spLocks noGrp="1"/>
          </p:cNvSpPr>
          <p:nvPr>
            <p:ph idx="1"/>
          </p:nvPr>
        </p:nvSpPr>
        <p:spPr/>
        <p:txBody>
          <a:bodyPr/>
          <a:lstStyle/>
          <a:p>
            <a:pPr algn="ctr"/>
            <a:r>
              <a:rPr lang="en-US" dirty="0"/>
              <a:t>In the previous lecture we asked a very basic question: </a:t>
            </a:r>
          </a:p>
          <a:p>
            <a:pPr marL="0" indent="0" algn="ctr">
              <a:buNone/>
            </a:pPr>
            <a:r>
              <a:rPr lang="en-US" i="1" dirty="0"/>
              <a:t>In C how do I get my functions to return multiple values (arrays)?</a:t>
            </a:r>
          </a:p>
        </p:txBody>
      </p:sp>
      <p:pic>
        <p:nvPicPr>
          <p:cNvPr id="1026" name="Picture 2" descr="Visible Confusion] | Know Your Meme">
            <a:extLst>
              <a:ext uri="{FF2B5EF4-FFF2-40B4-BE49-F238E27FC236}">
                <a16:creationId xmlns:a16="http://schemas.microsoft.com/office/drawing/2014/main" id="{BE325B5B-5411-8F09-1485-AF5FF22CB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6366" y="2892091"/>
            <a:ext cx="6667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951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5EE4-3F14-B930-12AE-46D6B6742F3B}"/>
              </a:ext>
            </a:extLst>
          </p:cNvPr>
          <p:cNvSpPr>
            <a:spLocks noGrp="1"/>
          </p:cNvSpPr>
          <p:nvPr>
            <p:ph type="title"/>
          </p:nvPr>
        </p:nvSpPr>
        <p:spPr>
          <a:xfrm>
            <a:off x="838200" y="0"/>
            <a:ext cx="10515600" cy="1325563"/>
          </a:xfrm>
        </p:spPr>
        <p:txBody>
          <a:bodyPr/>
          <a:lstStyle/>
          <a:p>
            <a:pPr algn="ctr"/>
            <a:r>
              <a:rPr lang="en-US" u="sng" dirty="0"/>
              <a:t>(Bad) Solution 1: Use Static Memory</a:t>
            </a:r>
          </a:p>
        </p:txBody>
      </p:sp>
      <p:pic>
        <p:nvPicPr>
          <p:cNvPr id="4" name="Picture 3">
            <a:extLst>
              <a:ext uri="{FF2B5EF4-FFF2-40B4-BE49-F238E27FC236}">
                <a16:creationId xmlns:a16="http://schemas.microsoft.com/office/drawing/2014/main" id="{4B6A93E4-3334-C3B3-2E03-88734C88A295}"/>
              </a:ext>
            </a:extLst>
          </p:cNvPr>
          <p:cNvPicPr>
            <a:picLocks noChangeAspect="1"/>
          </p:cNvPicPr>
          <p:nvPr/>
        </p:nvPicPr>
        <p:blipFill>
          <a:blip r:embed="rId2"/>
          <a:stretch>
            <a:fillRect/>
          </a:stretch>
        </p:blipFill>
        <p:spPr>
          <a:xfrm>
            <a:off x="482735" y="1415716"/>
            <a:ext cx="4776117" cy="4650517"/>
          </a:xfrm>
          <a:prstGeom prst="rect">
            <a:avLst/>
          </a:prstGeom>
          <a:ln>
            <a:solidFill>
              <a:schemeClr val="tx1"/>
            </a:solidFill>
          </a:ln>
        </p:spPr>
      </p:pic>
      <p:sp>
        <p:nvSpPr>
          <p:cNvPr id="5" name="Rectangle 4">
            <a:extLst>
              <a:ext uri="{FF2B5EF4-FFF2-40B4-BE49-F238E27FC236}">
                <a16:creationId xmlns:a16="http://schemas.microsoft.com/office/drawing/2014/main" id="{EFED86AC-FB82-9393-24B3-5F9869DA7FC3}"/>
              </a:ext>
            </a:extLst>
          </p:cNvPr>
          <p:cNvSpPr/>
          <p:nvPr/>
        </p:nvSpPr>
        <p:spPr>
          <a:xfrm>
            <a:off x="1459832" y="2398295"/>
            <a:ext cx="3773905" cy="2005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45592FC0-25C9-2D03-1BF6-8FE467904D75}"/>
              </a:ext>
            </a:extLst>
          </p:cNvPr>
          <p:cNvSpPr>
            <a:spLocks noGrp="1"/>
          </p:cNvSpPr>
          <p:nvPr>
            <p:ph idx="1"/>
          </p:nvPr>
        </p:nvSpPr>
        <p:spPr>
          <a:xfrm>
            <a:off x="5603050" y="1415716"/>
            <a:ext cx="6280484" cy="5041231"/>
          </a:xfrm>
        </p:spPr>
        <p:style>
          <a:lnRef idx="2">
            <a:schemeClr val="accent1"/>
          </a:lnRef>
          <a:fillRef idx="1">
            <a:schemeClr val="lt1"/>
          </a:fillRef>
          <a:effectRef idx="0">
            <a:schemeClr val="accent1"/>
          </a:effectRef>
          <a:fontRef idx="minor">
            <a:schemeClr val="dk1"/>
          </a:fontRef>
        </p:style>
        <p:txBody>
          <a:bodyPr>
            <a:normAutofit/>
          </a:bodyPr>
          <a:lstStyle/>
          <a:p>
            <a:pPr marL="0" indent="0" algn="ctr">
              <a:buNone/>
            </a:pPr>
            <a:r>
              <a:rPr lang="en-US" sz="3600" i="1" dirty="0"/>
              <a:t>Are there any problems with this approach?</a:t>
            </a:r>
          </a:p>
          <a:p>
            <a:pPr marL="0" indent="0" algn="ctr">
              <a:buNone/>
            </a:pPr>
            <a:endParaRPr lang="en-US" sz="3600" i="1" dirty="0"/>
          </a:p>
          <a:p>
            <a:pPr marL="514350" indent="-514350">
              <a:buFont typeface="+mj-lt"/>
              <a:buAutoNum type="alphaUcPeriod"/>
            </a:pPr>
            <a:r>
              <a:rPr lang="en-US" dirty="0"/>
              <a:t>If we want to call the function multiple times, </a:t>
            </a:r>
            <a:r>
              <a:rPr lang="en-US" dirty="0">
                <a:solidFill>
                  <a:srgbClr val="FF0000"/>
                </a:solidFill>
              </a:rPr>
              <a:t>old solution will be over written. </a:t>
            </a:r>
          </a:p>
          <a:p>
            <a:pPr marL="514350" indent="-514350">
              <a:buFont typeface="+mj-lt"/>
              <a:buAutoNum type="alphaUcPeriod"/>
            </a:pPr>
            <a:r>
              <a:rPr lang="en-US" dirty="0"/>
              <a:t>The static memory is allocated WHEN the program starts and is fixed</a:t>
            </a:r>
            <a:r>
              <a:rPr lang="en-US" dirty="0">
                <a:solidFill>
                  <a:schemeClr val="tx1"/>
                </a:solidFill>
              </a:rPr>
              <a:t>. </a:t>
            </a:r>
            <a:r>
              <a:rPr lang="en-US" dirty="0">
                <a:solidFill>
                  <a:srgbClr val="FF0000"/>
                </a:solidFill>
              </a:rPr>
              <a:t>What if we don’t know the size of the solution before run time? </a:t>
            </a:r>
          </a:p>
        </p:txBody>
      </p:sp>
    </p:spTree>
    <p:extLst>
      <p:ext uri="{BB962C8B-B14F-4D97-AF65-F5344CB8AC3E}">
        <p14:creationId xmlns:p14="http://schemas.microsoft.com/office/powerpoint/2010/main" val="208590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5EE4-3F14-B930-12AE-46D6B6742F3B}"/>
              </a:ext>
            </a:extLst>
          </p:cNvPr>
          <p:cNvSpPr>
            <a:spLocks noGrp="1"/>
          </p:cNvSpPr>
          <p:nvPr>
            <p:ph type="title"/>
          </p:nvPr>
        </p:nvSpPr>
        <p:spPr>
          <a:xfrm>
            <a:off x="838200" y="0"/>
            <a:ext cx="10515600" cy="1325563"/>
          </a:xfrm>
        </p:spPr>
        <p:txBody>
          <a:bodyPr>
            <a:normAutofit/>
          </a:bodyPr>
          <a:lstStyle/>
          <a:p>
            <a:pPr algn="ctr"/>
            <a:r>
              <a:rPr lang="en-US" sz="4000" u="sng" dirty="0"/>
              <a:t>(Bad) Solution 2: Pass the empty solution as input </a:t>
            </a:r>
          </a:p>
        </p:txBody>
      </p:sp>
      <p:sp>
        <p:nvSpPr>
          <p:cNvPr id="6" name="Content Placeholder 2">
            <a:extLst>
              <a:ext uri="{FF2B5EF4-FFF2-40B4-BE49-F238E27FC236}">
                <a16:creationId xmlns:a16="http://schemas.microsoft.com/office/drawing/2014/main" id="{45592FC0-25C9-2D03-1BF6-8FE467904D75}"/>
              </a:ext>
            </a:extLst>
          </p:cNvPr>
          <p:cNvSpPr>
            <a:spLocks noGrp="1"/>
          </p:cNvSpPr>
          <p:nvPr>
            <p:ph idx="1"/>
          </p:nvPr>
        </p:nvSpPr>
        <p:spPr>
          <a:xfrm>
            <a:off x="5781657" y="1415715"/>
            <a:ext cx="6280484" cy="5041231"/>
          </a:xfrm>
        </p:spPr>
        <p:style>
          <a:lnRef idx="2">
            <a:schemeClr val="accent1"/>
          </a:lnRef>
          <a:fillRef idx="1">
            <a:schemeClr val="lt1"/>
          </a:fillRef>
          <a:effectRef idx="0">
            <a:schemeClr val="accent1"/>
          </a:effectRef>
          <a:fontRef idx="minor">
            <a:schemeClr val="dk1"/>
          </a:fontRef>
        </p:style>
        <p:txBody>
          <a:bodyPr>
            <a:normAutofit/>
          </a:bodyPr>
          <a:lstStyle/>
          <a:p>
            <a:pPr marL="0" indent="0" algn="ctr">
              <a:buNone/>
            </a:pPr>
            <a:r>
              <a:rPr lang="en-US" sz="3600" i="1" dirty="0"/>
              <a:t>Are there any problems with this approach?</a:t>
            </a:r>
          </a:p>
          <a:p>
            <a:pPr marL="0" indent="0" algn="ctr">
              <a:buNone/>
            </a:pPr>
            <a:endParaRPr lang="en-US" dirty="0"/>
          </a:p>
          <a:p>
            <a:pPr marL="0" indent="0" algn="ctr">
              <a:buNone/>
            </a:pPr>
            <a:r>
              <a:rPr lang="en-US" dirty="0">
                <a:solidFill>
                  <a:srgbClr val="FF0000"/>
                </a:solidFill>
              </a:rPr>
              <a:t>What if we don’t know the size of the solution BEFORE the method is called?</a:t>
            </a:r>
          </a:p>
          <a:p>
            <a:pPr marL="0" indent="0" algn="ctr">
              <a:buNone/>
            </a:pPr>
            <a:endParaRPr lang="en-US" dirty="0"/>
          </a:p>
          <a:p>
            <a:pPr marL="0" indent="0" algn="ctr">
              <a:buNone/>
            </a:pPr>
            <a:r>
              <a:rPr lang="en-US" i="1" dirty="0"/>
              <a:t>Clearly we need a way to allocate memory during run time. </a:t>
            </a:r>
          </a:p>
        </p:txBody>
      </p:sp>
      <p:pic>
        <p:nvPicPr>
          <p:cNvPr id="3" name="Picture 2">
            <a:extLst>
              <a:ext uri="{FF2B5EF4-FFF2-40B4-BE49-F238E27FC236}">
                <a16:creationId xmlns:a16="http://schemas.microsoft.com/office/drawing/2014/main" id="{F32F20C4-0B8F-B267-CA7A-44A05F32D728}"/>
              </a:ext>
            </a:extLst>
          </p:cNvPr>
          <p:cNvPicPr>
            <a:picLocks noChangeAspect="1"/>
          </p:cNvPicPr>
          <p:nvPr/>
        </p:nvPicPr>
        <p:blipFill rotWithShape="1">
          <a:blip r:embed="rId2"/>
          <a:srcRect b="1402"/>
          <a:stretch/>
        </p:blipFill>
        <p:spPr>
          <a:xfrm>
            <a:off x="80211" y="1539299"/>
            <a:ext cx="5591917" cy="4794061"/>
          </a:xfrm>
          <a:prstGeom prst="rect">
            <a:avLst/>
          </a:prstGeom>
          <a:ln>
            <a:solidFill>
              <a:schemeClr val="tx1"/>
            </a:solidFill>
          </a:ln>
        </p:spPr>
      </p:pic>
      <p:sp>
        <p:nvSpPr>
          <p:cNvPr id="7" name="Rectangle 6">
            <a:extLst>
              <a:ext uri="{FF2B5EF4-FFF2-40B4-BE49-F238E27FC236}">
                <a16:creationId xmlns:a16="http://schemas.microsoft.com/office/drawing/2014/main" id="{82630EFE-FFD7-AD8B-1459-9D2BA25BF4D1}"/>
              </a:ext>
            </a:extLst>
          </p:cNvPr>
          <p:cNvSpPr/>
          <p:nvPr/>
        </p:nvSpPr>
        <p:spPr>
          <a:xfrm>
            <a:off x="3481759" y="2118297"/>
            <a:ext cx="894348" cy="2566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8A0291C-699A-63EB-3781-FDF4DEF2A70E}"/>
              </a:ext>
            </a:extLst>
          </p:cNvPr>
          <p:cNvSpPr/>
          <p:nvPr/>
        </p:nvSpPr>
        <p:spPr>
          <a:xfrm>
            <a:off x="1115549" y="4869518"/>
            <a:ext cx="1584158" cy="2045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0A01C29-2373-2943-758C-6AF9320D5FDB}"/>
              </a:ext>
            </a:extLst>
          </p:cNvPr>
          <p:cNvSpPr/>
          <p:nvPr/>
        </p:nvSpPr>
        <p:spPr>
          <a:xfrm>
            <a:off x="2832055" y="5074054"/>
            <a:ext cx="1054768" cy="2566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6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05AF-1575-F1A2-2B12-AF006FC1F99F}"/>
              </a:ext>
            </a:extLst>
          </p:cNvPr>
          <p:cNvSpPr>
            <a:spLocks noGrp="1"/>
          </p:cNvSpPr>
          <p:nvPr>
            <p:ph type="title"/>
          </p:nvPr>
        </p:nvSpPr>
        <p:spPr>
          <a:xfrm>
            <a:off x="838200" y="168609"/>
            <a:ext cx="10515600" cy="1325563"/>
          </a:xfrm>
        </p:spPr>
        <p:txBody>
          <a:bodyPr/>
          <a:lstStyle/>
          <a:p>
            <a:r>
              <a:rPr lang="en-US" u="sng" dirty="0"/>
              <a:t>Good Solution: Allocate Memory Dynamically</a:t>
            </a:r>
          </a:p>
        </p:txBody>
      </p:sp>
      <p:pic>
        <p:nvPicPr>
          <p:cNvPr id="5" name="Picture 4">
            <a:extLst>
              <a:ext uri="{FF2B5EF4-FFF2-40B4-BE49-F238E27FC236}">
                <a16:creationId xmlns:a16="http://schemas.microsoft.com/office/drawing/2014/main" id="{38839525-4F77-B4FB-B29A-4EFDD0E71DFD}"/>
              </a:ext>
            </a:extLst>
          </p:cNvPr>
          <p:cNvPicPr>
            <a:picLocks noChangeAspect="1"/>
          </p:cNvPicPr>
          <p:nvPr/>
        </p:nvPicPr>
        <p:blipFill>
          <a:blip r:embed="rId2"/>
          <a:stretch>
            <a:fillRect/>
          </a:stretch>
        </p:blipFill>
        <p:spPr>
          <a:xfrm>
            <a:off x="325736" y="1643267"/>
            <a:ext cx="6756853" cy="4593102"/>
          </a:xfrm>
          <a:prstGeom prst="rect">
            <a:avLst/>
          </a:prstGeom>
          <a:ln>
            <a:solidFill>
              <a:schemeClr val="tx1"/>
            </a:solidFill>
          </a:ln>
        </p:spPr>
      </p:pic>
      <p:sp>
        <p:nvSpPr>
          <p:cNvPr id="6" name="Rectangle 5">
            <a:extLst>
              <a:ext uri="{FF2B5EF4-FFF2-40B4-BE49-F238E27FC236}">
                <a16:creationId xmlns:a16="http://schemas.microsoft.com/office/drawing/2014/main" id="{F1B463FB-A735-5A5D-EEB7-7099ED6791F0}"/>
              </a:ext>
            </a:extLst>
          </p:cNvPr>
          <p:cNvSpPr/>
          <p:nvPr/>
        </p:nvSpPr>
        <p:spPr>
          <a:xfrm>
            <a:off x="1463842" y="2478506"/>
            <a:ext cx="3954379" cy="2486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B6C42E3E-49E6-1198-0104-7E2F8D1016D1}"/>
              </a:ext>
            </a:extLst>
          </p:cNvPr>
          <p:cNvSpPr/>
          <p:nvPr/>
        </p:nvSpPr>
        <p:spPr>
          <a:xfrm>
            <a:off x="7214937" y="3482187"/>
            <a:ext cx="794084" cy="8130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6A37DF8-4366-0793-2526-1A2FB01FD18A}"/>
              </a:ext>
            </a:extLst>
          </p:cNvPr>
          <p:cNvPicPr>
            <a:picLocks noChangeAspect="1"/>
          </p:cNvPicPr>
          <p:nvPr/>
        </p:nvPicPr>
        <p:blipFill rotWithShape="1">
          <a:blip r:embed="rId3"/>
          <a:srcRect l="2464"/>
          <a:stretch/>
        </p:blipFill>
        <p:spPr>
          <a:xfrm>
            <a:off x="8289757" y="3296653"/>
            <a:ext cx="2965899" cy="1355558"/>
          </a:xfrm>
          <a:prstGeom prst="rect">
            <a:avLst/>
          </a:prstGeom>
        </p:spPr>
      </p:pic>
      <p:sp>
        <p:nvSpPr>
          <p:cNvPr id="10" name="Rectangle 9">
            <a:extLst>
              <a:ext uri="{FF2B5EF4-FFF2-40B4-BE49-F238E27FC236}">
                <a16:creationId xmlns:a16="http://schemas.microsoft.com/office/drawing/2014/main" id="{3F715139-4FBF-B69D-B1DE-A596D9E35B2D}"/>
              </a:ext>
            </a:extLst>
          </p:cNvPr>
          <p:cNvSpPr/>
          <p:nvPr/>
        </p:nvSpPr>
        <p:spPr>
          <a:xfrm>
            <a:off x="1790922" y="3113868"/>
            <a:ext cx="2221832" cy="21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237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4CA9-401F-A588-1516-A49B38505DE3}"/>
              </a:ext>
            </a:extLst>
          </p:cNvPr>
          <p:cNvSpPr>
            <a:spLocks noGrp="1"/>
          </p:cNvSpPr>
          <p:nvPr>
            <p:ph type="title"/>
          </p:nvPr>
        </p:nvSpPr>
        <p:spPr>
          <a:ln>
            <a:solidFill>
              <a:schemeClr val="accent1"/>
            </a:solidFill>
          </a:ln>
        </p:spPr>
        <p:style>
          <a:lnRef idx="2">
            <a:schemeClr val="accent1"/>
          </a:lnRef>
          <a:fillRef idx="1">
            <a:schemeClr val="lt1"/>
          </a:fillRef>
          <a:effectRef idx="0">
            <a:schemeClr val="accent1"/>
          </a:effectRef>
          <a:fontRef idx="minor">
            <a:schemeClr val="dk1"/>
          </a:fontRef>
        </p:style>
        <p:txBody>
          <a:bodyPr/>
          <a:lstStyle/>
          <a:p>
            <a:pPr algn="ctr"/>
            <a:r>
              <a:rPr lang="en-US" dirty="0">
                <a:solidFill>
                  <a:srgbClr val="0070C0"/>
                </a:solidFill>
              </a:rPr>
              <a:t>Malloc</a:t>
            </a:r>
            <a:r>
              <a:rPr lang="en-US" dirty="0"/>
              <a:t>: Requesting Memory on the Heap</a:t>
            </a:r>
          </a:p>
        </p:txBody>
      </p:sp>
      <p:sp>
        <p:nvSpPr>
          <p:cNvPr id="3" name="Content Placeholder 2">
            <a:extLst>
              <a:ext uri="{FF2B5EF4-FFF2-40B4-BE49-F238E27FC236}">
                <a16:creationId xmlns:a16="http://schemas.microsoft.com/office/drawing/2014/main" id="{FDC2BCDF-278E-E3AB-0D91-AED5BCE5F50D}"/>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a:solidFill>
                  <a:srgbClr val="0070C0"/>
                </a:solidFill>
                <a:latin typeface="Consolas" panose="020B0609020204030204" pitchFamily="49" charset="0"/>
              </a:rPr>
              <a:t>#include &lt;</a:t>
            </a:r>
            <a:r>
              <a:rPr lang="en-US" dirty="0" err="1">
                <a:solidFill>
                  <a:srgbClr val="0070C0"/>
                </a:solidFill>
                <a:latin typeface="Consolas" panose="020B0609020204030204" pitchFamily="49" charset="0"/>
              </a:rPr>
              <a:t>stdlib.h</a:t>
            </a:r>
            <a:r>
              <a:rPr lang="en-US" dirty="0">
                <a:solidFill>
                  <a:srgbClr val="0070C0"/>
                </a:solidFill>
                <a:latin typeface="Consolas" panose="020B0609020204030204" pitchFamily="49" charset="0"/>
              </a:rPr>
              <a:t>&gt;</a:t>
            </a:r>
          </a:p>
          <a:p>
            <a:pPr marL="0" indent="0">
              <a:buNone/>
            </a:pPr>
            <a:r>
              <a:rPr lang="en-US" dirty="0">
                <a:solidFill>
                  <a:srgbClr val="0070C0"/>
                </a:solidFill>
                <a:latin typeface="Consolas" panose="020B0609020204030204" pitchFamily="49" charset="0"/>
              </a:rPr>
              <a:t>void* malloc(</a:t>
            </a:r>
            <a:r>
              <a:rPr lang="en-US" dirty="0" err="1">
                <a:solidFill>
                  <a:srgbClr val="0070C0"/>
                </a:solidFill>
                <a:latin typeface="Consolas" panose="020B0609020204030204" pitchFamily="49" charset="0"/>
              </a:rPr>
              <a:t>size_t</a:t>
            </a:r>
            <a:r>
              <a:rPr lang="en-US" dirty="0">
                <a:solidFill>
                  <a:srgbClr val="0070C0"/>
                </a:solidFill>
                <a:latin typeface="Consolas" panose="020B0609020204030204" pitchFamily="49" charset="0"/>
              </a:rPr>
              <a:t> size); </a:t>
            </a:r>
          </a:p>
          <a:p>
            <a:pPr lvl="1"/>
            <a:r>
              <a:rPr lang="en-US" sz="2800" dirty="0" err="1"/>
              <a:t>size_t</a:t>
            </a:r>
            <a:r>
              <a:rPr lang="en-US" sz="2800" dirty="0"/>
              <a:t> is an unsigned integer data type defined in &lt;</a:t>
            </a:r>
            <a:r>
              <a:rPr lang="en-US" sz="2800" dirty="0" err="1"/>
              <a:t>stdlib.h</a:t>
            </a:r>
            <a:r>
              <a:rPr lang="en-US" sz="2800" dirty="0"/>
              <a:t>&gt;</a:t>
            </a:r>
          </a:p>
          <a:p>
            <a:pPr lvl="1"/>
            <a:r>
              <a:rPr lang="en-US" sz="2800" dirty="0"/>
              <a:t>used to represent sizes of objects in bytes</a:t>
            </a:r>
          </a:p>
          <a:p>
            <a:pPr lvl="1"/>
            <a:endParaRPr lang="en-US" sz="1000" dirty="0"/>
          </a:p>
          <a:p>
            <a:r>
              <a:rPr lang="en-US" b="1" dirty="0"/>
              <a:t>If</a:t>
            </a:r>
            <a:r>
              <a:rPr lang="en-US" dirty="0"/>
              <a:t> successful, a call to malloc(n) returns a</a:t>
            </a:r>
            <a:r>
              <a:rPr lang="en-US" dirty="0">
                <a:solidFill>
                  <a:schemeClr val="accent1"/>
                </a:solidFill>
              </a:rPr>
              <a:t> generic pointer (void *) </a:t>
            </a:r>
          </a:p>
          <a:p>
            <a:pPr lvl="1"/>
            <a:r>
              <a:rPr lang="en-US" dirty="0"/>
              <a:t>It points to a memory block of </a:t>
            </a:r>
            <a:r>
              <a:rPr lang="en-US" dirty="0">
                <a:solidFill>
                  <a:schemeClr val="accent1"/>
                </a:solidFill>
              </a:rPr>
              <a:t>n</a:t>
            </a:r>
            <a:r>
              <a:rPr lang="en-US" dirty="0"/>
              <a:t> bytes on the heap</a:t>
            </a:r>
          </a:p>
          <a:p>
            <a:r>
              <a:rPr lang="en-US" dirty="0"/>
              <a:t>If not successful, NULL is returned</a:t>
            </a:r>
          </a:p>
          <a:p>
            <a:endParaRPr lang="en-US" dirty="0"/>
          </a:p>
        </p:txBody>
      </p:sp>
    </p:spTree>
    <p:extLst>
      <p:ext uri="{BB962C8B-B14F-4D97-AF65-F5344CB8AC3E}">
        <p14:creationId xmlns:p14="http://schemas.microsoft.com/office/powerpoint/2010/main" val="668036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3EBD-2073-0A2E-D0BC-C32D43C4D07E}"/>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Generic pointers: void*</a:t>
            </a:r>
          </a:p>
        </p:txBody>
      </p:sp>
      <p:sp>
        <p:nvSpPr>
          <p:cNvPr id="3" name="Content Placeholder 2">
            <a:extLst>
              <a:ext uri="{FF2B5EF4-FFF2-40B4-BE49-F238E27FC236}">
                <a16:creationId xmlns:a16="http://schemas.microsoft.com/office/drawing/2014/main" id="{4C6A125D-BB96-61DB-51B3-67C2476AC165}"/>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Pointer to a memory block whose content is “un-typed”</a:t>
            </a:r>
          </a:p>
          <a:p>
            <a:pPr marL="0" indent="0">
              <a:buNone/>
            </a:pPr>
            <a:endParaRPr lang="en-US" dirty="0"/>
          </a:p>
          <a:p>
            <a:r>
              <a:rPr lang="en-US" dirty="0"/>
              <a:t>Use for raw memory operations or in generic functions</a:t>
            </a:r>
          </a:p>
          <a:p>
            <a:r>
              <a:rPr lang="en-US" dirty="0"/>
              <a:t>Automatic casting when assigned to other pointer types</a:t>
            </a:r>
          </a:p>
          <a:p>
            <a:pPr marL="342900" lvl="1" indent="0">
              <a:buNone/>
            </a:pPr>
            <a:r>
              <a:rPr lang="en-US" sz="2800" dirty="0">
                <a:solidFill>
                  <a:srgbClr val="212121"/>
                </a:solidFill>
                <a:latin typeface="Consolas" panose="020B0609020204030204" pitchFamily="49" charset="0"/>
                <a:ea typeface="Courier"/>
                <a:cs typeface="Courier"/>
                <a:sym typeface="Courier"/>
              </a:rPr>
              <a:t> </a:t>
            </a:r>
            <a:r>
              <a:rPr lang="en-US" sz="2800" dirty="0">
                <a:solidFill>
                  <a:srgbClr val="7F87CF"/>
                </a:solidFill>
                <a:latin typeface="Consolas" panose="020B0609020204030204" pitchFamily="49" charset="0"/>
                <a:ea typeface="Courier"/>
                <a:cs typeface="Courier"/>
                <a:sym typeface="Courier"/>
              </a:rPr>
              <a:t>int * pox = malloc(6 * </a:t>
            </a:r>
            <a:r>
              <a:rPr lang="en-US" sz="2800" dirty="0" err="1">
                <a:solidFill>
                  <a:srgbClr val="7F87CF"/>
                </a:solidFill>
                <a:latin typeface="Consolas" panose="020B0609020204030204" pitchFamily="49" charset="0"/>
                <a:ea typeface="Courier"/>
                <a:cs typeface="Courier"/>
                <a:sym typeface="Courier"/>
              </a:rPr>
              <a:t>sizeof</a:t>
            </a:r>
            <a:r>
              <a:rPr lang="en-US" sz="2800" dirty="0">
                <a:solidFill>
                  <a:srgbClr val="7F87CF"/>
                </a:solidFill>
                <a:latin typeface="Consolas" panose="020B0609020204030204" pitchFamily="49" charset="0"/>
                <a:ea typeface="Courier"/>
                <a:cs typeface="Courier"/>
                <a:sym typeface="Courier"/>
              </a:rPr>
              <a:t>(int));</a:t>
            </a:r>
            <a:endParaRPr lang="en-US" sz="2800" dirty="0">
              <a:solidFill>
                <a:srgbClr val="7F87CF"/>
              </a:solidFill>
              <a:latin typeface="Consolas" panose="020B0609020204030204" pitchFamily="49" charset="0"/>
              <a:ea typeface="Courier"/>
              <a:cs typeface="Courier"/>
              <a:sym typeface="Helvetica Neue Light"/>
            </a:endParaRPr>
          </a:p>
          <a:p>
            <a:r>
              <a:rPr lang="en-US" dirty="0"/>
              <a:t>Requires casting before dereferencing for read / write</a:t>
            </a:r>
          </a:p>
          <a:p>
            <a:pPr marL="0" indent="0">
              <a:buNone/>
            </a:pPr>
            <a:r>
              <a:rPr lang="en-US" sz="2800" dirty="0">
                <a:solidFill>
                  <a:srgbClr val="7F87CF"/>
                </a:solidFill>
                <a:latin typeface="Consolas" panose="020B0609020204030204" pitchFamily="49" charset="0"/>
                <a:sym typeface="Courier"/>
              </a:rPr>
              <a:t>	 *(int *)</a:t>
            </a:r>
            <a:r>
              <a:rPr lang="en-US" sz="2800" dirty="0" err="1">
                <a:solidFill>
                  <a:srgbClr val="7F87CF"/>
                </a:solidFill>
                <a:latin typeface="Consolas" panose="020B0609020204030204" pitchFamily="49" charset="0"/>
                <a:sym typeface="Courier"/>
              </a:rPr>
              <a:t>pv</a:t>
            </a:r>
            <a:r>
              <a:rPr lang="en-US" sz="2800" dirty="0">
                <a:solidFill>
                  <a:srgbClr val="7F87CF"/>
                </a:solidFill>
                <a:latin typeface="Consolas" panose="020B0609020204030204" pitchFamily="49" charset="0"/>
                <a:sym typeface="Courier"/>
              </a:rPr>
              <a:t>;  // use </a:t>
            </a:r>
            <a:r>
              <a:rPr lang="en-US" sz="2800" dirty="0" err="1">
                <a:solidFill>
                  <a:srgbClr val="7F87CF"/>
                </a:solidFill>
                <a:latin typeface="Consolas" panose="020B0609020204030204" pitchFamily="49" charset="0"/>
                <a:sym typeface="Courier"/>
              </a:rPr>
              <a:t>pv</a:t>
            </a:r>
            <a:r>
              <a:rPr lang="en-US" sz="2800" dirty="0">
                <a:solidFill>
                  <a:srgbClr val="7F87CF"/>
                </a:solidFill>
                <a:latin typeface="Consolas" panose="020B0609020204030204" pitchFamily="49" charset="0"/>
                <a:sym typeface="Courier"/>
              </a:rPr>
              <a:t> as an int *</a:t>
            </a:r>
            <a:endParaRPr lang="en-US" sz="2800" dirty="0">
              <a:solidFill>
                <a:srgbClr val="7F87CF"/>
              </a:solidFill>
              <a:latin typeface="Consolas" panose="020B0609020204030204" pitchFamily="49" charset="0"/>
              <a:sym typeface="Helvetica Neue Light"/>
            </a:endParaRPr>
          </a:p>
          <a:p>
            <a:r>
              <a:rPr lang="en-US" dirty="0"/>
              <a:t>NULL, a special pointer value useful for initializations, error handling</a:t>
            </a:r>
          </a:p>
          <a:p>
            <a:pPr marL="342900" lvl="1" indent="0">
              <a:buNone/>
            </a:pPr>
            <a:r>
              <a:rPr lang="en-US" dirty="0"/>
              <a:t>#define NULL ((void*)0)</a:t>
            </a:r>
          </a:p>
          <a:p>
            <a:endParaRPr lang="en-US" dirty="0"/>
          </a:p>
        </p:txBody>
      </p:sp>
    </p:spTree>
    <p:extLst>
      <p:ext uri="{BB962C8B-B14F-4D97-AF65-F5344CB8AC3E}">
        <p14:creationId xmlns:p14="http://schemas.microsoft.com/office/powerpoint/2010/main" val="2820389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A7860-AF03-4301-9F6D-37B12445C9A3}"/>
              </a:ext>
            </a:extLst>
          </p:cNvPr>
          <p:cNvSpPr>
            <a:spLocks noGrp="1"/>
          </p:cNvSpPr>
          <p:nvPr>
            <p:ph type="title"/>
          </p:nvPr>
        </p:nvSpPr>
        <p:spPr>
          <a:xfrm>
            <a:off x="838200" y="43783"/>
            <a:ext cx="10515600" cy="842544"/>
          </a:xfrm>
        </p:spPr>
        <p:txBody>
          <a:bodyPr/>
          <a:lstStyle/>
          <a:p>
            <a:pPr algn="ctr"/>
            <a:r>
              <a:rPr lang="en-US" u="sng" dirty="0">
                <a:effectLst>
                  <a:outerShdw blurRad="38100" dist="38100" dir="2700000" algn="tl">
                    <a:srgbClr val="000000">
                      <a:alpha val="43137"/>
                    </a:srgbClr>
                  </a:outerShdw>
                </a:effectLst>
              </a:rPr>
              <a:t>The Rolling Stones once famously sang: </a:t>
            </a:r>
          </a:p>
        </p:txBody>
      </p:sp>
      <p:pic>
        <p:nvPicPr>
          <p:cNvPr id="3" name="Picture 2">
            <a:extLst>
              <a:ext uri="{FF2B5EF4-FFF2-40B4-BE49-F238E27FC236}">
                <a16:creationId xmlns:a16="http://schemas.microsoft.com/office/drawing/2014/main" id="{E135914C-478C-54A3-7886-80E650C82CD8}"/>
              </a:ext>
            </a:extLst>
          </p:cNvPr>
          <p:cNvPicPr>
            <a:picLocks noChangeAspect="1"/>
          </p:cNvPicPr>
          <p:nvPr/>
        </p:nvPicPr>
        <p:blipFill>
          <a:blip r:embed="rId2"/>
          <a:stretch>
            <a:fillRect/>
          </a:stretch>
        </p:blipFill>
        <p:spPr>
          <a:xfrm>
            <a:off x="3268580" y="828971"/>
            <a:ext cx="5329989" cy="3857580"/>
          </a:xfrm>
          <a:prstGeom prst="rect">
            <a:avLst/>
          </a:prstGeom>
        </p:spPr>
      </p:pic>
      <p:sp>
        <p:nvSpPr>
          <p:cNvPr id="4" name="TextBox 3">
            <a:extLst>
              <a:ext uri="{FF2B5EF4-FFF2-40B4-BE49-F238E27FC236}">
                <a16:creationId xmlns:a16="http://schemas.microsoft.com/office/drawing/2014/main" id="{9263B253-C8F6-61A9-D0F3-DE374FF85000}"/>
              </a:ext>
            </a:extLst>
          </p:cNvPr>
          <p:cNvSpPr txBox="1"/>
          <p:nvPr/>
        </p:nvSpPr>
        <p:spPr>
          <a:xfrm>
            <a:off x="4106779" y="3466170"/>
            <a:ext cx="4199022" cy="1200329"/>
          </a:xfrm>
          <a:prstGeom prst="rect">
            <a:avLst/>
          </a:prstGeom>
          <a:noFill/>
        </p:spPr>
        <p:txBody>
          <a:bodyPr wrap="square" rtlCol="0">
            <a:spAutoFit/>
          </a:bodyPr>
          <a:lstStyle/>
          <a:p>
            <a:r>
              <a:rPr lang="en-US" sz="3600" b="1" i="1" dirty="0">
                <a:solidFill>
                  <a:schemeClr val="bg1"/>
                </a:solidFill>
              </a:rPr>
              <a:t>“You can’t always get what you want.”</a:t>
            </a:r>
          </a:p>
        </p:txBody>
      </p:sp>
      <p:sp>
        <p:nvSpPr>
          <p:cNvPr id="5" name="Content Placeholder 2">
            <a:extLst>
              <a:ext uri="{FF2B5EF4-FFF2-40B4-BE49-F238E27FC236}">
                <a16:creationId xmlns:a16="http://schemas.microsoft.com/office/drawing/2014/main" id="{6668B9B0-8920-7CE2-9FA2-600E707B3089}"/>
              </a:ext>
            </a:extLst>
          </p:cNvPr>
          <p:cNvSpPr txBox="1">
            <a:spLocks/>
          </p:cNvSpPr>
          <p:nvPr/>
        </p:nvSpPr>
        <p:spPr>
          <a:xfrm>
            <a:off x="838200" y="4840704"/>
            <a:ext cx="10515600" cy="1821531"/>
          </a:xfrm>
          <a:prstGeom prst="rect">
            <a:avLst/>
          </a:prstGeom>
          <a:ln>
            <a:noFill/>
          </a:ln>
        </p:spPr>
        <p:style>
          <a:lnRef idx="2">
            <a:schemeClr val="dk1"/>
          </a:lnRef>
          <a:fillRef idx="1">
            <a:schemeClr val="lt1"/>
          </a:fillRef>
          <a:effectRef idx="0">
            <a:schemeClr val="dk1"/>
          </a:effectRef>
          <a:fontRef idx="minor">
            <a:schemeClr val="dk1"/>
          </a:fontRef>
        </p:style>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en-US" i="1" u="sng" dirty="0"/>
              <a:t>What where they singing about?</a:t>
            </a:r>
          </a:p>
          <a:p>
            <a:pPr marL="514350" indent="-514350" algn="ctr">
              <a:buFont typeface="+mj-lt"/>
              <a:buAutoNum type="arabicPeriod"/>
            </a:pPr>
            <a:r>
              <a:rPr lang="en-US" dirty="0"/>
              <a:t>About the disappointments in life (unlikely)</a:t>
            </a:r>
          </a:p>
          <a:p>
            <a:pPr marL="514350" indent="-514350" algn="ctr">
              <a:buFont typeface="+mj-lt"/>
              <a:buAutoNum type="arabicPeriod"/>
            </a:pPr>
            <a:r>
              <a:rPr lang="en-US" dirty="0"/>
              <a:t>About a call to </a:t>
            </a:r>
            <a:r>
              <a:rPr lang="en-US" b="1" dirty="0">
                <a:solidFill>
                  <a:srgbClr val="FF0000"/>
                </a:solidFill>
              </a:rPr>
              <a:t>malloc</a:t>
            </a:r>
            <a:r>
              <a:rPr lang="en-US" dirty="0"/>
              <a:t> failing because you don’t have enough computer memory.</a:t>
            </a:r>
          </a:p>
        </p:txBody>
      </p:sp>
    </p:spTree>
    <p:extLst>
      <p:ext uri="{BB962C8B-B14F-4D97-AF65-F5344CB8AC3E}">
        <p14:creationId xmlns:p14="http://schemas.microsoft.com/office/powerpoint/2010/main" val="457770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E5D36-57B5-48A4-6B1E-CDAAA69A6EA5}"/>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You Can’t Always Get What You Want</a:t>
            </a:r>
          </a:p>
        </p:txBody>
      </p:sp>
      <p:sp>
        <p:nvSpPr>
          <p:cNvPr id="3" name="Content Placeholder 2">
            <a:extLst>
              <a:ext uri="{FF2B5EF4-FFF2-40B4-BE49-F238E27FC236}">
                <a16:creationId xmlns:a16="http://schemas.microsoft.com/office/drawing/2014/main" id="{9BAA1B4F-8589-6054-A3C2-B39C0F9CB7A5}"/>
              </a:ext>
            </a:extLst>
          </p:cNvPr>
          <p:cNvSpPr>
            <a:spLocks noGrp="1"/>
          </p:cNvSpPr>
          <p:nvPr>
            <p:ph idx="1"/>
          </p:nvPr>
        </p:nvSpPr>
        <p:spPr>
          <a:xfrm>
            <a:off x="838200" y="1825625"/>
            <a:ext cx="10515600" cy="2048543"/>
          </a:xfrm>
        </p:spPr>
        <p:style>
          <a:lnRef idx="2">
            <a:schemeClr val="dk1"/>
          </a:lnRef>
          <a:fillRef idx="1">
            <a:schemeClr val="lt1"/>
          </a:fillRef>
          <a:effectRef idx="0">
            <a:schemeClr val="dk1"/>
          </a:effectRef>
          <a:fontRef idx="minor">
            <a:schemeClr val="dk1"/>
          </a:fontRef>
        </p:style>
        <p:txBody>
          <a:bodyPr/>
          <a:lstStyle/>
          <a:p>
            <a:pPr lvl="0"/>
            <a:r>
              <a:rPr lang="en-US" dirty="0"/>
              <a:t>A call to malloc() may fail</a:t>
            </a:r>
          </a:p>
          <a:p>
            <a:pPr lvl="1"/>
            <a:r>
              <a:rPr lang="en-US" dirty="0"/>
              <a:t>For example, if you are out of memory</a:t>
            </a:r>
          </a:p>
          <a:p>
            <a:r>
              <a:rPr lang="en-US" dirty="0"/>
              <a:t>In this case you get back a NULL value</a:t>
            </a:r>
          </a:p>
          <a:p>
            <a:pPr lvl="1"/>
            <a:r>
              <a:rPr lang="en-US" dirty="0"/>
              <a:t>Not much to do except report the error (and terminate nicely)</a:t>
            </a:r>
          </a:p>
          <a:p>
            <a:endParaRPr lang="en-US" dirty="0"/>
          </a:p>
        </p:txBody>
      </p:sp>
      <p:sp>
        <p:nvSpPr>
          <p:cNvPr id="4" name="Shape 671">
            <a:extLst>
              <a:ext uri="{FF2B5EF4-FFF2-40B4-BE49-F238E27FC236}">
                <a16:creationId xmlns:a16="http://schemas.microsoft.com/office/drawing/2014/main" id="{5E717B29-A6A3-AEF5-413F-B4165D9D159E}"/>
              </a:ext>
            </a:extLst>
          </p:cNvPr>
          <p:cNvSpPr/>
          <p:nvPr/>
        </p:nvSpPr>
        <p:spPr>
          <a:xfrm>
            <a:off x="1147685" y="3996906"/>
            <a:ext cx="9823469" cy="2585323"/>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wrap="square" lIns="0" tIns="0" rIns="0" bIns="0" anchor="ctr">
            <a:spAutoFit/>
          </a:bodyPr>
          <a:lstStyle/>
          <a:p>
            <a:pPr lvl="0" algn="l" defTabSz="457200">
              <a:defRPr sz="1800"/>
            </a:pPr>
            <a:endParaRPr lang="en-US" sz="2400" dirty="0">
              <a:solidFill>
                <a:srgbClr val="00B0F0"/>
              </a:solidFill>
              <a:latin typeface="Courier"/>
              <a:ea typeface="Courier"/>
              <a:cs typeface="Courier"/>
              <a:sym typeface="Courier"/>
            </a:endParaRPr>
          </a:p>
          <a:p>
            <a:pPr lvl="0" algn="l" defTabSz="457200">
              <a:defRPr sz="1800"/>
            </a:pPr>
            <a:r>
              <a:rPr lang="en-US" sz="2400" dirty="0">
                <a:solidFill>
                  <a:schemeClr val="accent1"/>
                </a:solidFill>
                <a:latin typeface="Courier"/>
                <a:ea typeface="Courier"/>
                <a:cs typeface="Courier"/>
                <a:sym typeface="Courier"/>
              </a:rPr>
              <a:t>char</a:t>
            </a:r>
            <a:r>
              <a:rPr sz="2400" dirty="0">
                <a:solidFill>
                  <a:schemeClr val="accent1"/>
                </a:solidFill>
                <a:latin typeface="Courier"/>
                <a:ea typeface="Courier"/>
                <a:cs typeface="Courier"/>
                <a:sym typeface="Courier"/>
              </a:rPr>
              <a:t>* p</a:t>
            </a:r>
            <a:r>
              <a:rPr lang="en-US" sz="2400" dirty="0">
                <a:solidFill>
                  <a:schemeClr val="accent1"/>
                </a:solidFill>
                <a:latin typeface="Courier"/>
                <a:ea typeface="Courier"/>
                <a:cs typeface="Courier"/>
                <a:sym typeface="Courier"/>
              </a:rPr>
              <a:t> = </a:t>
            </a:r>
            <a:r>
              <a:rPr sz="2400" dirty="0">
                <a:solidFill>
                  <a:schemeClr val="accent1"/>
                </a:solidFill>
                <a:latin typeface="Courier"/>
                <a:ea typeface="Courier"/>
                <a:cs typeface="Courier"/>
                <a:sym typeface="Courier"/>
              </a:rPr>
              <a:t>malloc(</a:t>
            </a:r>
            <a:r>
              <a:rPr lang="en-US" sz="2400" dirty="0">
                <a:solidFill>
                  <a:schemeClr val="accent1"/>
                </a:solidFill>
                <a:latin typeface="Courier"/>
                <a:ea typeface="Courier"/>
                <a:cs typeface="Courier"/>
                <a:sym typeface="Courier"/>
              </a:rPr>
              <a:t>100</a:t>
            </a:r>
            <a:r>
              <a:rPr sz="2400" dirty="0">
                <a:solidFill>
                  <a:schemeClr val="accent1"/>
                </a:solidFill>
                <a:latin typeface="Courier"/>
                <a:ea typeface="Courier"/>
                <a:cs typeface="Courier"/>
                <a:sym typeface="Courier"/>
              </a:rPr>
              <a:t>);</a:t>
            </a:r>
            <a:r>
              <a:rPr lang="en-US" sz="2400" dirty="0">
                <a:solidFill>
                  <a:schemeClr val="accent1"/>
                </a:solidFill>
                <a:latin typeface="Courier"/>
                <a:ea typeface="Courier"/>
                <a:cs typeface="Courier"/>
                <a:sym typeface="Courier"/>
              </a:rPr>
              <a:t> // request 100 bytes</a:t>
            </a:r>
            <a:endParaRPr sz="2400" dirty="0">
              <a:solidFill>
                <a:schemeClr val="accent1"/>
              </a:solidFill>
              <a:latin typeface="Courier"/>
              <a:ea typeface="Courier"/>
              <a:cs typeface="Courier"/>
              <a:sym typeface="Courier"/>
            </a:endParaRPr>
          </a:p>
          <a:p>
            <a:pPr lvl="0" algn="l" defTabSz="457200">
              <a:defRPr sz="1800"/>
            </a:pPr>
            <a:r>
              <a:rPr sz="2400" dirty="0">
                <a:solidFill>
                  <a:schemeClr val="accent1"/>
                </a:solidFill>
                <a:latin typeface="Courier"/>
                <a:ea typeface="Courier"/>
                <a:cs typeface="Courier"/>
                <a:sym typeface="Courier"/>
              </a:rPr>
              <a:t>if (p == NULL)</a:t>
            </a:r>
            <a:r>
              <a:rPr lang="en-US" sz="2400" dirty="0">
                <a:solidFill>
                  <a:schemeClr val="accent1"/>
                </a:solidFill>
                <a:latin typeface="Courier"/>
                <a:ea typeface="Courier"/>
                <a:cs typeface="Courier"/>
                <a:sym typeface="Courier"/>
              </a:rPr>
              <a:t> {</a:t>
            </a:r>
            <a:endParaRPr sz="2400" dirty="0">
              <a:solidFill>
                <a:schemeClr val="accent1"/>
              </a:solidFill>
              <a:latin typeface="Courier"/>
              <a:ea typeface="Courier"/>
              <a:cs typeface="Courier"/>
              <a:sym typeface="Courier"/>
            </a:endParaRPr>
          </a:p>
          <a:p>
            <a:pPr lvl="0" algn="l" defTabSz="457200">
              <a:defRPr sz="1800"/>
            </a:pPr>
            <a:r>
              <a:rPr sz="2400" dirty="0">
                <a:solidFill>
                  <a:srgbClr val="00B050"/>
                </a:solidFill>
                <a:latin typeface="Courier"/>
                <a:ea typeface="Courier"/>
                <a:cs typeface="Courier"/>
                <a:sym typeface="Courier"/>
              </a:rPr>
              <a:t>	</a:t>
            </a:r>
            <a:r>
              <a:rPr lang="en-US" sz="2400" dirty="0">
                <a:solidFill>
                  <a:srgbClr val="00B050"/>
                </a:solidFill>
                <a:latin typeface="Courier"/>
                <a:ea typeface="Courier"/>
                <a:cs typeface="Courier"/>
                <a:sym typeface="Courier"/>
              </a:rPr>
              <a:t> // </a:t>
            </a:r>
            <a:r>
              <a:rPr sz="2400" dirty="0">
                <a:solidFill>
                  <a:srgbClr val="00B050"/>
                </a:solidFill>
                <a:latin typeface="Courier"/>
                <a:ea typeface="Courier"/>
                <a:cs typeface="Courier"/>
                <a:sym typeface="Courier"/>
              </a:rPr>
              <a:t>report error and finish</a:t>
            </a:r>
            <a:endParaRPr lang="en-US" sz="2400" dirty="0">
              <a:solidFill>
                <a:srgbClr val="00B050"/>
              </a:solidFill>
              <a:latin typeface="Courier"/>
              <a:ea typeface="Courier"/>
              <a:cs typeface="Courier"/>
              <a:sym typeface="Courier"/>
            </a:endParaRPr>
          </a:p>
          <a:p>
            <a:pPr lvl="0" algn="l" defTabSz="457200">
              <a:defRPr sz="1800"/>
            </a:pPr>
            <a:r>
              <a:rPr lang="en-US" sz="2400" dirty="0">
                <a:solidFill>
                  <a:schemeClr val="accent1"/>
                </a:solidFill>
                <a:latin typeface="Courier"/>
                <a:ea typeface="Courier"/>
                <a:cs typeface="Courier"/>
                <a:sym typeface="Courier"/>
              </a:rPr>
              <a:t>    </a:t>
            </a:r>
            <a:r>
              <a:rPr lang="en-US" sz="2400" dirty="0" err="1">
                <a:solidFill>
                  <a:schemeClr val="accent1"/>
                </a:solidFill>
                <a:latin typeface="Courier"/>
                <a:ea typeface="Courier"/>
                <a:cs typeface="Courier"/>
                <a:sym typeface="Courier"/>
              </a:rPr>
              <a:t>perror</a:t>
            </a:r>
            <a:r>
              <a:rPr lang="en-US" sz="2400" dirty="0">
                <a:solidFill>
                  <a:schemeClr val="accent1"/>
                </a:solidFill>
                <a:latin typeface="Courier"/>
                <a:ea typeface="Courier"/>
                <a:cs typeface="Courier"/>
                <a:sym typeface="Courier"/>
              </a:rPr>
              <a:t>("Not enough memory"); </a:t>
            </a:r>
          </a:p>
          <a:p>
            <a:pPr lvl="0" algn="l" defTabSz="457200">
              <a:defRPr sz="1800"/>
            </a:pPr>
            <a:r>
              <a:rPr lang="en-US" sz="2400" dirty="0">
                <a:solidFill>
                  <a:schemeClr val="accent1"/>
                </a:solidFill>
                <a:latin typeface="Courier"/>
                <a:ea typeface="Courier"/>
                <a:cs typeface="Courier"/>
                <a:sym typeface="Courier"/>
              </a:rPr>
              <a:t>    exit(1);</a:t>
            </a:r>
          </a:p>
          <a:p>
            <a:pPr lvl="0" algn="l" defTabSz="457200">
              <a:defRPr sz="1800"/>
            </a:pPr>
            <a:r>
              <a:rPr lang="en-US" sz="2400" dirty="0">
                <a:solidFill>
                  <a:schemeClr val="accent1"/>
                </a:solidFill>
                <a:latin typeface="Courier"/>
                <a:ea typeface="Courier"/>
                <a:cs typeface="Courier"/>
                <a:sym typeface="Courier"/>
              </a:rPr>
              <a:t>}</a:t>
            </a:r>
            <a:endParaRPr sz="2400" dirty="0">
              <a:solidFill>
                <a:schemeClr val="accent1"/>
              </a:solidFill>
              <a:latin typeface="Courier"/>
              <a:ea typeface="Courier"/>
              <a:cs typeface="Courier"/>
              <a:sym typeface="Courier"/>
            </a:endParaRPr>
          </a:p>
        </p:txBody>
      </p:sp>
    </p:spTree>
    <p:extLst>
      <p:ext uri="{BB962C8B-B14F-4D97-AF65-F5344CB8AC3E}">
        <p14:creationId xmlns:p14="http://schemas.microsoft.com/office/powerpoint/2010/main" val="4174471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38200" y="1411666"/>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strike="sngStrike" dirty="0">
                <a:effectLst>
                  <a:outerShdw blurRad="38100" dist="38100" dir="2700000" algn="tl">
                    <a:srgbClr val="000000">
                      <a:alpha val="43137"/>
                    </a:srgbClr>
                  </a:outerShdw>
                </a:effectLst>
              </a:rPr>
              <a:t>1. Memory Organization and Malloc</a:t>
            </a:r>
          </a:p>
        </p:txBody>
      </p:sp>
      <p:sp>
        <p:nvSpPr>
          <p:cNvPr id="4" name="Title 1">
            <a:extLst>
              <a:ext uri="{FF2B5EF4-FFF2-40B4-BE49-F238E27FC236}">
                <a16:creationId xmlns:a16="http://schemas.microsoft.com/office/drawing/2014/main" id="{2A5E5307-D978-36AF-F83D-D0EFD2AA9642}"/>
              </a:ext>
            </a:extLst>
          </p:cNvPr>
          <p:cNvSpPr txBox="1">
            <a:spLocks/>
          </p:cNvSpPr>
          <p:nvPr/>
        </p:nvSpPr>
        <p:spPr>
          <a:xfrm>
            <a:off x="838200" y="2958517"/>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effectLst>
                  <a:outerShdw blurRad="38100" dist="38100" dir="2700000" algn="tl">
                    <a:srgbClr val="000000">
                      <a:alpha val="43137"/>
                    </a:srgbClr>
                  </a:outerShdw>
                </a:effectLst>
              </a:rPr>
              <a:t>2. Tracking Array Size</a:t>
            </a:r>
          </a:p>
        </p:txBody>
      </p:sp>
      <p:sp>
        <p:nvSpPr>
          <p:cNvPr id="3" name="Title 1">
            <a:extLst>
              <a:ext uri="{FF2B5EF4-FFF2-40B4-BE49-F238E27FC236}">
                <a16:creationId xmlns:a16="http://schemas.microsoft.com/office/drawing/2014/main" id="{72651BD0-BD73-02F8-B368-60BA8DB8612E}"/>
              </a:ext>
            </a:extLst>
          </p:cNvPr>
          <p:cNvSpPr txBox="1">
            <a:spLocks/>
          </p:cNvSpPr>
          <p:nvPr/>
        </p:nvSpPr>
        <p:spPr>
          <a:xfrm>
            <a:off x="838200" y="4505368"/>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effectLst>
                  <a:outerShdw blurRad="38100" dist="38100" dir="2700000" algn="tl">
                    <a:srgbClr val="000000">
                      <a:alpha val="43137"/>
                    </a:srgbClr>
                  </a:outerShdw>
                </a:effectLst>
              </a:rPr>
              <a:t>3. More on Arrays and Multi-dimensional Arrays</a:t>
            </a:r>
          </a:p>
        </p:txBody>
      </p:sp>
      <p:sp>
        <p:nvSpPr>
          <p:cNvPr id="6" name="TextBox 5">
            <a:extLst>
              <a:ext uri="{FF2B5EF4-FFF2-40B4-BE49-F238E27FC236}">
                <a16:creationId xmlns:a16="http://schemas.microsoft.com/office/drawing/2014/main" id="{E9FE9ABD-F746-5DC7-FA40-E4329743A79B}"/>
              </a:ext>
            </a:extLst>
          </p:cNvPr>
          <p:cNvSpPr txBox="1"/>
          <p:nvPr/>
        </p:nvSpPr>
        <p:spPr>
          <a:xfrm>
            <a:off x="2147792" y="259847"/>
            <a:ext cx="8105652" cy="769441"/>
          </a:xfrm>
          <a:prstGeom prst="rect">
            <a:avLst/>
          </a:prstGeom>
          <a:noFill/>
        </p:spPr>
        <p:txBody>
          <a:bodyPr wrap="square">
            <a:spAutoFit/>
          </a:bodyPr>
          <a:lstStyle/>
          <a:p>
            <a:pPr algn="ctr"/>
            <a:r>
              <a:rPr lang="en-US" sz="4400" b="1" u="sng" dirty="0"/>
              <a:t>Memory Allocation Lecture Topics</a:t>
            </a:r>
          </a:p>
        </p:txBody>
      </p:sp>
    </p:spTree>
    <p:extLst>
      <p:ext uri="{BB962C8B-B14F-4D97-AF65-F5344CB8AC3E}">
        <p14:creationId xmlns:p14="http://schemas.microsoft.com/office/powerpoint/2010/main" val="1410309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3B397-4205-7935-7175-101E8784361E}"/>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i="1" dirty="0"/>
              <a:t>Any lingering issues with our code?</a:t>
            </a:r>
          </a:p>
        </p:txBody>
      </p:sp>
      <p:pic>
        <p:nvPicPr>
          <p:cNvPr id="5" name="Picture 4">
            <a:extLst>
              <a:ext uri="{FF2B5EF4-FFF2-40B4-BE49-F238E27FC236}">
                <a16:creationId xmlns:a16="http://schemas.microsoft.com/office/drawing/2014/main" id="{38DFB888-B635-67B6-8CF0-7650DC15E7BA}"/>
              </a:ext>
            </a:extLst>
          </p:cNvPr>
          <p:cNvPicPr>
            <a:picLocks noChangeAspect="1"/>
          </p:cNvPicPr>
          <p:nvPr/>
        </p:nvPicPr>
        <p:blipFill>
          <a:blip r:embed="rId2"/>
          <a:stretch>
            <a:fillRect/>
          </a:stretch>
        </p:blipFill>
        <p:spPr>
          <a:xfrm>
            <a:off x="951378" y="1851814"/>
            <a:ext cx="6756853" cy="4593102"/>
          </a:xfrm>
          <a:prstGeom prst="rect">
            <a:avLst/>
          </a:prstGeom>
          <a:ln>
            <a:solidFill>
              <a:schemeClr val="tx1"/>
            </a:solidFill>
          </a:ln>
        </p:spPr>
      </p:pic>
      <p:sp>
        <p:nvSpPr>
          <p:cNvPr id="7" name="Rectangle 6">
            <a:extLst>
              <a:ext uri="{FF2B5EF4-FFF2-40B4-BE49-F238E27FC236}">
                <a16:creationId xmlns:a16="http://schemas.microsoft.com/office/drawing/2014/main" id="{1BBFBE96-308D-D953-2136-1AAC948AF339}"/>
              </a:ext>
            </a:extLst>
          </p:cNvPr>
          <p:cNvSpPr/>
          <p:nvPr/>
        </p:nvSpPr>
        <p:spPr>
          <a:xfrm>
            <a:off x="2416564" y="3322415"/>
            <a:ext cx="2221832" cy="21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A66C5A5-1BF4-2345-6FE0-AFB79D1640C7}"/>
              </a:ext>
            </a:extLst>
          </p:cNvPr>
          <p:cNvSpPr/>
          <p:nvPr/>
        </p:nvSpPr>
        <p:spPr>
          <a:xfrm>
            <a:off x="4283242" y="2671011"/>
            <a:ext cx="292768" cy="3248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F75A012-95C3-A263-511D-894B3134C2C4}"/>
              </a:ext>
            </a:extLst>
          </p:cNvPr>
          <p:cNvSpPr/>
          <p:nvPr/>
        </p:nvSpPr>
        <p:spPr>
          <a:xfrm>
            <a:off x="3962400" y="2836437"/>
            <a:ext cx="292768" cy="3248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1469801C-3924-20F9-A0D6-F07EEC8D31AB}"/>
              </a:ext>
            </a:extLst>
          </p:cNvPr>
          <p:cNvCxnSpPr>
            <a:cxnSpLocks/>
          </p:cNvCxnSpPr>
          <p:nvPr/>
        </p:nvCxnSpPr>
        <p:spPr>
          <a:xfrm flipH="1">
            <a:off x="4604084" y="2192747"/>
            <a:ext cx="4636169" cy="5484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A655B13-7ABA-278E-1BBA-FB7553A5D8E2}"/>
              </a:ext>
            </a:extLst>
          </p:cNvPr>
          <p:cNvCxnSpPr>
            <a:cxnSpLocks/>
          </p:cNvCxnSpPr>
          <p:nvPr/>
        </p:nvCxnSpPr>
        <p:spPr>
          <a:xfrm flipH="1" flipV="1">
            <a:off x="4283242" y="3096968"/>
            <a:ext cx="4319337" cy="93361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What is the meaning of The Scream? - BBC Culture">
            <a:extLst>
              <a:ext uri="{FF2B5EF4-FFF2-40B4-BE49-F238E27FC236}">
                <a16:creationId xmlns:a16="http://schemas.microsoft.com/office/drawing/2014/main" id="{A07A8C3B-9356-478D-78BB-F6FBC45D3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9126" y="2114151"/>
            <a:ext cx="3723156" cy="209427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3D2BABC-F0E9-AFDC-9005-2999FC35FF7C}"/>
              </a:ext>
            </a:extLst>
          </p:cNvPr>
          <p:cNvSpPr txBox="1"/>
          <p:nvPr/>
        </p:nvSpPr>
        <p:spPr>
          <a:xfrm>
            <a:off x="8230987" y="1791793"/>
            <a:ext cx="3541295" cy="369332"/>
          </a:xfrm>
          <a:prstGeom prst="rect">
            <a:avLst/>
          </a:prstGeom>
          <a:noFill/>
        </p:spPr>
        <p:txBody>
          <a:bodyPr wrap="square" rtlCol="0">
            <a:spAutoFit/>
          </a:bodyPr>
          <a:lstStyle/>
          <a:p>
            <a:r>
              <a:rPr lang="en-US" dirty="0">
                <a:solidFill>
                  <a:srgbClr val="FF0000"/>
                </a:solidFill>
              </a:rPr>
              <a:t>We still have hard coded variables!</a:t>
            </a:r>
          </a:p>
        </p:txBody>
      </p:sp>
    </p:spTree>
    <p:extLst>
      <p:ext uri="{BB962C8B-B14F-4D97-AF65-F5344CB8AC3E}">
        <p14:creationId xmlns:p14="http://schemas.microsoft.com/office/powerpoint/2010/main" val="229839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fade">
                                      <p:cBhvr>
                                        <p:cTn id="2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7FB5-E89B-931B-0577-78BE58AAB68E}"/>
              </a:ext>
            </a:extLst>
          </p:cNvPr>
          <p:cNvSpPr>
            <a:spLocks noGrp="1"/>
          </p:cNvSpPr>
          <p:nvPr>
            <p:ph type="title"/>
          </p:nvPr>
        </p:nvSpPr>
        <p:spPr>
          <a:xfrm>
            <a:off x="838200" y="1267495"/>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dirty="0"/>
              <a:t>We can further break this problem down into two cases:</a:t>
            </a:r>
          </a:p>
        </p:txBody>
      </p:sp>
      <p:sp>
        <p:nvSpPr>
          <p:cNvPr id="3" name="Content Placeholder 2">
            <a:extLst>
              <a:ext uri="{FF2B5EF4-FFF2-40B4-BE49-F238E27FC236}">
                <a16:creationId xmlns:a16="http://schemas.microsoft.com/office/drawing/2014/main" id="{6B76FB45-8775-27BB-D745-F031111D0AF2}"/>
              </a:ext>
            </a:extLst>
          </p:cNvPr>
          <p:cNvSpPr>
            <a:spLocks noGrp="1"/>
          </p:cNvSpPr>
          <p:nvPr>
            <p:ph idx="1"/>
          </p:nvPr>
        </p:nvSpPr>
        <p:spPr>
          <a:xfrm>
            <a:off x="838200" y="2727995"/>
            <a:ext cx="10515600" cy="2890754"/>
          </a:xfrm>
        </p:spPr>
        <p:style>
          <a:lnRef idx="2">
            <a:schemeClr val="dk1"/>
          </a:lnRef>
          <a:fillRef idx="1">
            <a:schemeClr val="lt1"/>
          </a:fillRef>
          <a:effectRef idx="0">
            <a:schemeClr val="dk1"/>
          </a:effectRef>
          <a:fontRef idx="minor">
            <a:schemeClr val="dk1"/>
          </a:fontRef>
        </p:style>
        <p:txBody>
          <a:bodyPr>
            <a:normAutofit/>
          </a:bodyPr>
          <a:lstStyle/>
          <a:p>
            <a:pPr marL="514350" indent="-514350" algn="ctr">
              <a:buFont typeface="+mj-lt"/>
              <a:buAutoNum type="arabicPeriod"/>
            </a:pPr>
            <a:r>
              <a:rPr lang="en-US" sz="3200" dirty="0"/>
              <a:t>We are working with an array that has a pre-declared size:</a:t>
            </a:r>
          </a:p>
          <a:p>
            <a:pPr marL="0" indent="0" algn="ctr">
              <a:buNone/>
            </a:pPr>
            <a:r>
              <a:rPr lang="en-US" sz="3600" dirty="0"/>
              <a:t>	</a:t>
            </a:r>
            <a:r>
              <a:rPr lang="en-US" sz="2400" dirty="0">
                <a:solidFill>
                  <a:srgbClr val="0000FF"/>
                </a:solidFill>
                <a:latin typeface="Cascadia Mono" panose="020B0609020000020004" pitchFamily="49" charset="0"/>
              </a:rPr>
              <a:t> int</a:t>
            </a:r>
            <a:r>
              <a:rPr lang="en-US" sz="2400" dirty="0">
                <a:solidFill>
                  <a:srgbClr val="000000"/>
                </a:solidFill>
                <a:latin typeface="Cascadia Mono" panose="020B0609020000020004" pitchFamily="49" charset="0"/>
              </a:rPr>
              <a:t> x[3] = {1, 2, 3};</a:t>
            </a:r>
            <a:endParaRPr lang="en-US" sz="3600" dirty="0">
              <a:solidFill>
                <a:srgbClr val="00B0F0"/>
              </a:solidFill>
            </a:endParaRPr>
          </a:p>
          <a:p>
            <a:pPr marL="0" indent="0" algn="ctr">
              <a:buNone/>
            </a:pPr>
            <a:r>
              <a:rPr lang="en-US" sz="3200" dirty="0"/>
              <a:t>2. We are working with an array created using malloc: </a:t>
            </a:r>
          </a:p>
          <a:p>
            <a:pPr marL="0" indent="0" algn="ctr">
              <a:buNone/>
            </a:pPr>
            <a:r>
              <a:rPr lang="en-US" sz="2400" dirty="0">
                <a:solidFill>
                  <a:srgbClr val="0000FF"/>
                </a:solidFill>
                <a:latin typeface="Cascadia Mono" panose="020B0609020000020004" pitchFamily="49" charset="0"/>
              </a:rPr>
              <a:t>int</a:t>
            </a:r>
            <a:r>
              <a:rPr lang="en-US" sz="2400" dirty="0">
                <a:solidFill>
                  <a:srgbClr val="000000"/>
                </a:solidFill>
                <a:latin typeface="Cascadia Mono" panose="020B0609020000020004" pitchFamily="49" charset="0"/>
              </a:rPr>
              <a:t>* solution = malloc(3 * </a:t>
            </a:r>
            <a:r>
              <a:rPr lang="en-US" sz="2400" dirty="0" err="1">
                <a:solidFill>
                  <a:srgbClr val="0000FF"/>
                </a:solidFill>
                <a:latin typeface="Cascadia Mono" panose="020B0609020000020004" pitchFamily="49" charset="0"/>
              </a:rPr>
              <a:t>sizeof</a:t>
            </a:r>
            <a:r>
              <a:rPr lang="en-US" sz="2400" dirty="0">
                <a:solidFill>
                  <a:srgbClr val="000000"/>
                </a:solidFill>
                <a:latin typeface="Cascadia Mono" panose="020B0609020000020004" pitchFamily="49" charset="0"/>
              </a:rPr>
              <a:t>(</a:t>
            </a:r>
            <a:r>
              <a:rPr lang="en-US" sz="2400" dirty="0">
                <a:solidFill>
                  <a:srgbClr val="0000FF"/>
                </a:solidFill>
                <a:latin typeface="Cascadia Mono" panose="020B0609020000020004" pitchFamily="49" charset="0"/>
              </a:rPr>
              <a:t>int</a:t>
            </a:r>
            <a:r>
              <a:rPr lang="en-US" sz="2400" dirty="0">
                <a:solidFill>
                  <a:srgbClr val="000000"/>
                </a:solidFill>
                <a:latin typeface="Cascadia Mono" panose="020B0609020000020004" pitchFamily="49" charset="0"/>
              </a:rPr>
              <a:t>));</a:t>
            </a:r>
            <a:endParaRPr lang="en-US" sz="3600" dirty="0"/>
          </a:p>
        </p:txBody>
      </p:sp>
    </p:spTree>
    <p:extLst>
      <p:ext uri="{BB962C8B-B14F-4D97-AF65-F5344CB8AC3E}">
        <p14:creationId xmlns:p14="http://schemas.microsoft.com/office/powerpoint/2010/main" val="2029271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F95C5-917E-0416-484B-FBB4A7CA4B3D}"/>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pPr algn="ctr"/>
            <a:r>
              <a:rPr lang="en-US" sz="3600" dirty="0"/>
              <a:t>Case 1: Counting Elements in Pre-Declared Arrays</a:t>
            </a:r>
          </a:p>
        </p:txBody>
      </p:sp>
      <p:sp>
        <p:nvSpPr>
          <p:cNvPr id="3" name="Content Placeholder 2">
            <a:extLst>
              <a:ext uri="{FF2B5EF4-FFF2-40B4-BE49-F238E27FC236}">
                <a16:creationId xmlns:a16="http://schemas.microsoft.com/office/drawing/2014/main" id="{8E8B5D72-4747-5FE8-6C46-0FEAA8B5AF04}"/>
              </a:ext>
            </a:extLst>
          </p:cNvPr>
          <p:cNvSpPr>
            <a:spLocks noGrp="1"/>
          </p:cNvSpPr>
          <p:nvPr>
            <p:ph idx="1"/>
          </p:nvPr>
        </p:nvSpPr>
        <p:spPr>
          <a:xfrm>
            <a:off x="838200" y="1825625"/>
            <a:ext cx="10515600" cy="2742364"/>
          </a:xfrm>
        </p:spPr>
        <p:txBody>
          <a:bodyPr/>
          <a:lstStyle/>
          <a:p>
            <a:r>
              <a:rPr lang="en-US" dirty="0"/>
              <a:t>When passed an array not declared using malloc, how do we know its size?</a:t>
            </a:r>
          </a:p>
          <a:p>
            <a:pPr marL="514350" indent="-514350">
              <a:buFont typeface="+mj-lt"/>
              <a:buAutoNum type="arabicPeriod"/>
            </a:pPr>
            <a:r>
              <a:rPr lang="en-US" dirty="0"/>
              <a:t>We need to know what type of data the array holds. </a:t>
            </a:r>
          </a:p>
          <a:p>
            <a:pPr marL="514350" indent="-514350">
              <a:buFont typeface="+mj-lt"/>
              <a:buAutoNum type="arabicPeriod"/>
            </a:pPr>
            <a:r>
              <a:rPr lang="en-US" dirty="0"/>
              <a:t>If we know the type of data we can divide the total size of the array by the size of one element of data. That gives us the number of elements in the array.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4FEA42-2E87-5D74-037A-D2BC17672AE0}"/>
                  </a:ext>
                </a:extLst>
              </p:cNvPr>
              <p:cNvSpPr txBox="1"/>
              <p:nvPr/>
            </p:nvSpPr>
            <p:spPr>
              <a:xfrm>
                <a:off x="0" y="4860758"/>
                <a:ext cx="12192000" cy="989438"/>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Number</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elements</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the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num>
                        <m:den>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1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den>
                      </m:f>
                    </m:oMath>
                  </m:oMathPara>
                </a14:m>
                <a:endParaRPr lang="en-US" sz="3200" dirty="0"/>
              </a:p>
            </p:txBody>
          </p:sp>
        </mc:Choice>
        <mc:Fallback xmlns="">
          <p:sp>
            <p:nvSpPr>
              <p:cNvPr id="4" name="TextBox 3">
                <a:extLst>
                  <a:ext uri="{FF2B5EF4-FFF2-40B4-BE49-F238E27FC236}">
                    <a16:creationId xmlns:a16="http://schemas.microsoft.com/office/drawing/2014/main" id="{2E4FEA42-2E87-5D74-037A-D2BC17672AE0}"/>
                  </a:ext>
                </a:extLst>
              </p:cNvPr>
              <p:cNvSpPr txBox="1">
                <a:spLocks noRot="1" noChangeAspect="1" noMove="1" noResize="1" noEditPoints="1" noAdjustHandles="1" noChangeArrowheads="1" noChangeShapeType="1" noTextEdit="1"/>
              </p:cNvSpPr>
              <p:nvPr/>
            </p:nvSpPr>
            <p:spPr>
              <a:xfrm>
                <a:off x="0" y="4860758"/>
                <a:ext cx="12192000" cy="989438"/>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7673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E1E7-F3C1-6F36-0563-D106F8306E1F}"/>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pPr algn="ctr"/>
            <a:r>
              <a:rPr lang="en-US" sz="3600" dirty="0"/>
              <a:t>Case 1: Counting Elements in Pre-Declared Arrays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FCE927-DB2A-EC18-AA2B-BF970BAD71BA}"/>
                  </a:ext>
                </a:extLst>
              </p:cNvPr>
              <p:cNvSpPr txBox="1"/>
              <p:nvPr/>
            </p:nvSpPr>
            <p:spPr>
              <a:xfrm>
                <a:off x="0" y="1842443"/>
                <a:ext cx="12192000" cy="989438"/>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Number</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elements</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the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num>
                        <m:den>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1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den>
                      </m:f>
                    </m:oMath>
                  </m:oMathPara>
                </a14:m>
                <a:endParaRPr lang="en-US" sz="3200" dirty="0"/>
              </a:p>
            </p:txBody>
          </p:sp>
        </mc:Choice>
        <mc:Fallback xmlns="">
          <p:sp>
            <p:nvSpPr>
              <p:cNvPr id="8" name="TextBox 7">
                <a:extLst>
                  <a:ext uri="{FF2B5EF4-FFF2-40B4-BE49-F238E27FC236}">
                    <a16:creationId xmlns:a16="http://schemas.microsoft.com/office/drawing/2014/main" id="{BCFCE927-DB2A-EC18-AA2B-BF970BAD71BA}"/>
                  </a:ext>
                </a:extLst>
              </p:cNvPr>
              <p:cNvSpPr txBox="1">
                <a:spLocks noRot="1" noChangeAspect="1" noMove="1" noResize="1" noEditPoints="1" noAdjustHandles="1" noChangeArrowheads="1" noChangeShapeType="1" noTextEdit="1"/>
              </p:cNvSpPr>
              <p:nvPr/>
            </p:nvSpPr>
            <p:spPr>
              <a:xfrm>
                <a:off x="0" y="1842443"/>
                <a:ext cx="12192000" cy="989438"/>
              </a:xfrm>
              <a:prstGeom prst="rect">
                <a:avLst/>
              </a:prstGeo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2771ABE-B888-DB16-78FD-0C39D8DAD2FD}"/>
              </a:ext>
            </a:extLst>
          </p:cNvPr>
          <p:cNvPicPr>
            <a:picLocks noChangeAspect="1"/>
          </p:cNvPicPr>
          <p:nvPr/>
        </p:nvPicPr>
        <p:blipFill rotWithShape="1">
          <a:blip r:embed="rId3"/>
          <a:srcRect b="642"/>
          <a:stretch/>
        </p:blipFill>
        <p:spPr>
          <a:xfrm>
            <a:off x="792079" y="2983636"/>
            <a:ext cx="6388768" cy="3541490"/>
          </a:xfrm>
          <a:prstGeom prst="rect">
            <a:avLst/>
          </a:prstGeom>
          <a:ln>
            <a:solidFill>
              <a:schemeClr val="tx1"/>
            </a:solidFill>
          </a:ln>
        </p:spPr>
      </p:pic>
      <p:sp>
        <p:nvSpPr>
          <p:cNvPr id="5" name="Arrow: Right 4">
            <a:extLst>
              <a:ext uri="{FF2B5EF4-FFF2-40B4-BE49-F238E27FC236}">
                <a16:creationId xmlns:a16="http://schemas.microsoft.com/office/drawing/2014/main" id="{52896568-F078-CFF3-557B-180C7AD54930}"/>
              </a:ext>
            </a:extLst>
          </p:cNvPr>
          <p:cNvSpPr/>
          <p:nvPr/>
        </p:nvSpPr>
        <p:spPr>
          <a:xfrm>
            <a:off x="7307178" y="4336700"/>
            <a:ext cx="1094874" cy="858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FDCFF07-338D-8497-A522-8233CFD45E7E}"/>
              </a:ext>
            </a:extLst>
          </p:cNvPr>
          <p:cNvPicPr>
            <a:picLocks noChangeAspect="1"/>
          </p:cNvPicPr>
          <p:nvPr/>
        </p:nvPicPr>
        <p:blipFill rotWithShape="1">
          <a:blip r:embed="rId4"/>
          <a:srcRect t="14301"/>
          <a:stretch/>
        </p:blipFill>
        <p:spPr>
          <a:xfrm>
            <a:off x="8496299" y="4507488"/>
            <a:ext cx="3617401" cy="516675"/>
          </a:xfrm>
          <a:prstGeom prst="rect">
            <a:avLst/>
          </a:prstGeom>
        </p:spPr>
      </p:pic>
    </p:spTree>
    <p:extLst>
      <p:ext uri="{BB962C8B-B14F-4D97-AF65-F5344CB8AC3E}">
        <p14:creationId xmlns:p14="http://schemas.microsoft.com/office/powerpoint/2010/main" val="173066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23FD-A764-DFEA-4277-E7295A532627}"/>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Follow up Question:</a:t>
            </a:r>
          </a:p>
        </p:txBody>
      </p:sp>
      <p:sp>
        <p:nvSpPr>
          <p:cNvPr id="3" name="Content Placeholder 2">
            <a:extLst>
              <a:ext uri="{FF2B5EF4-FFF2-40B4-BE49-F238E27FC236}">
                <a16:creationId xmlns:a16="http://schemas.microsoft.com/office/drawing/2014/main" id="{8F10C777-A683-3430-2324-B8D033BEDEA7}"/>
              </a:ext>
            </a:extLst>
          </p:cNvPr>
          <p:cNvSpPr>
            <a:spLocks noGrp="1"/>
          </p:cNvSpPr>
          <p:nvPr>
            <p:ph idx="1"/>
          </p:nvPr>
        </p:nvSpPr>
        <p:spPr>
          <a:xfrm>
            <a:off x="874296" y="2892039"/>
            <a:ext cx="10515600" cy="2940468"/>
          </a:xfrm>
        </p:spPr>
        <p:txBody>
          <a:bodyPr>
            <a:normAutofit/>
          </a:bodyPr>
          <a:lstStyle/>
          <a:p>
            <a:pPr marL="0" indent="0" algn="ctr">
              <a:buNone/>
            </a:pPr>
            <a:r>
              <a:rPr lang="en-US" sz="4400" i="1" dirty="0"/>
              <a:t>If all we need is the simple formula above why isn’t it already built into C as a function?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73DF814-B831-6614-E7C8-2ADF8CD343BD}"/>
                  </a:ext>
                </a:extLst>
              </p:cNvPr>
              <p:cNvSpPr txBox="1"/>
              <p:nvPr/>
            </p:nvSpPr>
            <p:spPr>
              <a:xfrm>
                <a:off x="0" y="1842443"/>
                <a:ext cx="12192000" cy="989438"/>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Number</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elements</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the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num>
                        <m:den>
                          <m:r>
                            <m:rPr>
                              <m:sty m:val="p"/>
                            </m:rPr>
                            <a:rPr lang="en-US" sz="2800" b="0" i="0" smtClean="0">
                              <a:latin typeface="Cambria Math" panose="02040503050406030204" pitchFamily="18" charset="0"/>
                            </a:rPr>
                            <m:t>Size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1 </m:t>
                          </m:r>
                          <m:r>
                            <m:rPr>
                              <m:sty m:val="p"/>
                            </m:rPr>
                            <a:rPr lang="en-US" sz="2800" b="0" i="0" smtClean="0">
                              <a:latin typeface="Cambria Math" panose="02040503050406030204" pitchFamily="18" charset="0"/>
                            </a:rPr>
                            <m:t>Array</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Element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bytes</m:t>
                          </m:r>
                          <m:r>
                            <a:rPr lang="en-US" sz="2800" b="0" i="0" smtClean="0">
                              <a:latin typeface="Cambria Math" panose="02040503050406030204" pitchFamily="18" charset="0"/>
                            </a:rPr>
                            <m:t>)</m:t>
                          </m:r>
                        </m:den>
                      </m:f>
                    </m:oMath>
                  </m:oMathPara>
                </a14:m>
                <a:endParaRPr lang="en-US" sz="3200" dirty="0"/>
              </a:p>
            </p:txBody>
          </p:sp>
        </mc:Choice>
        <mc:Fallback xmlns="">
          <p:sp>
            <p:nvSpPr>
              <p:cNvPr id="4" name="TextBox 3">
                <a:extLst>
                  <a:ext uri="{FF2B5EF4-FFF2-40B4-BE49-F238E27FC236}">
                    <a16:creationId xmlns:a16="http://schemas.microsoft.com/office/drawing/2014/main" id="{173DF814-B831-6614-E7C8-2ADF8CD343BD}"/>
                  </a:ext>
                </a:extLst>
              </p:cNvPr>
              <p:cNvSpPr txBox="1">
                <a:spLocks noRot="1" noChangeAspect="1" noMove="1" noResize="1" noEditPoints="1" noAdjustHandles="1" noChangeArrowheads="1" noChangeShapeType="1" noTextEdit="1"/>
              </p:cNvSpPr>
              <p:nvPr/>
            </p:nvSpPr>
            <p:spPr>
              <a:xfrm>
                <a:off x="0" y="1842443"/>
                <a:ext cx="12192000" cy="989438"/>
              </a:xfrm>
              <a:prstGeom prst="rect">
                <a:avLst/>
              </a:prstGeom>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A8C997A-C6E2-E8F8-0576-48B813C1CDAC}"/>
              </a:ext>
            </a:extLst>
          </p:cNvPr>
          <p:cNvPicPr>
            <a:picLocks noChangeAspect="1"/>
          </p:cNvPicPr>
          <p:nvPr/>
        </p:nvPicPr>
        <p:blipFill rotWithShape="1">
          <a:blip r:embed="rId3"/>
          <a:srcRect b="3465"/>
          <a:stretch/>
        </p:blipFill>
        <p:spPr>
          <a:xfrm>
            <a:off x="4203032" y="4634161"/>
            <a:ext cx="4166937" cy="2011281"/>
          </a:xfrm>
          <a:prstGeom prst="rect">
            <a:avLst/>
          </a:prstGeom>
        </p:spPr>
      </p:pic>
      <p:sp>
        <p:nvSpPr>
          <p:cNvPr id="7" name="TextBox 6">
            <a:extLst>
              <a:ext uri="{FF2B5EF4-FFF2-40B4-BE49-F238E27FC236}">
                <a16:creationId xmlns:a16="http://schemas.microsoft.com/office/drawing/2014/main" id="{626537BF-90C0-714C-D28E-E17C3A61635B}"/>
              </a:ext>
            </a:extLst>
          </p:cNvPr>
          <p:cNvSpPr txBox="1"/>
          <p:nvPr/>
        </p:nvSpPr>
        <p:spPr>
          <a:xfrm>
            <a:off x="4239126" y="4327359"/>
            <a:ext cx="4098758" cy="369332"/>
          </a:xfrm>
          <a:prstGeom prst="rect">
            <a:avLst/>
          </a:prstGeom>
          <a:noFill/>
        </p:spPr>
        <p:txBody>
          <a:bodyPr wrap="square" rtlCol="0">
            <a:spAutoFit/>
          </a:bodyPr>
          <a:lstStyle/>
          <a:p>
            <a:pPr algn="ctr"/>
            <a:r>
              <a:rPr lang="en-US" dirty="0"/>
              <a:t>Most of the class right now:</a:t>
            </a:r>
          </a:p>
        </p:txBody>
      </p:sp>
    </p:spTree>
    <p:extLst>
      <p:ext uri="{BB962C8B-B14F-4D97-AF65-F5344CB8AC3E}">
        <p14:creationId xmlns:p14="http://schemas.microsoft.com/office/powerpoint/2010/main" val="400546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C9E0A-6BD7-9CFE-0ADE-C8C283B68E3F}"/>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r>
              <a:rPr lang="en-US" dirty="0"/>
              <a:t>Trying to build our own function to find number of elements… </a:t>
            </a:r>
          </a:p>
        </p:txBody>
      </p:sp>
      <p:pic>
        <p:nvPicPr>
          <p:cNvPr id="7" name="Picture 6">
            <a:extLst>
              <a:ext uri="{FF2B5EF4-FFF2-40B4-BE49-F238E27FC236}">
                <a16:creationId xmlns:a16="http://schemas.microsoft.com/office/drawing/2014/main" id="{92F72913-7507-CD86-DD2B-2C184CD401FA}"/>
              </a:ext>
            </a:extLst>
          </p:cNvPr>
          <p:cNvPicPr>
            <a:picLocks noChangeAspect="1"/>
          </p:cNvPicPr>
          <p:nvPr/>
        </p:nvPicPr>
        <p:blipFill>
          <a:blip r:embed="rId2"/>
          <a:stretch>
            <a:fillRect/>
          </a:stretch>
        </p:blipFill>
        <p:spPr>
          <a:xfrm>
            <a:off x="283510" y="1920875"/>
            <a:ext cx="5926535" cy="4572000"/>
          </a:xfrm>
          <a:prstGeom prst="rect">
            <a:avLst/>
          </a:prstGeom>
          <a:ln>
            <a:solidFill>
              <a:schemeClr val="tx1"/>
            </a:solidFill>
          </a:ln>
        </p:spPr>
      </p:pic>
      <p:sp>
        <p:nvSpPr>
          <p:cNvPr id="8" name="Arrow: Right 7">
            <a:extLst>
              <a:ext uri="{FF2B5EF4-FFF2-40B4-BE49-F238E27FC236}">
                <a16:creationId xmlns:a16="http://schemas.microsoft.com/office/drawing/2014/main" id="{6173E437-85ED-175D-FA79-8BE791CFCC8B}"/>
              </a:ext>
            </a:extLst>
          </p:cNvPr>
          <p:cNvSpPr/>
          <p:nvPr/>
        </p:nvSpPr>
        <p:spPr>
          <a:xfrm>
            <a:off x="6324600" y="3678154"/>
            <a:ext cx="737937" cy="7259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264DBCA-F1C5-185B-F601-E10288F23F54}"/>
              </a:ext>
            </a:extLst>
          </p:cNvPr>
          <p:cNvPicPr>
            <a:picLocks noChangeAspect="1"/>
          </p:cNvPicPr>
          <p:nvPr/>
        </p:nvPicPr>
        <p:blipFill>
          <a:blip r:embed="rId3"/>
          <a:stretch>
            <a:fillRect/>
          </a:stretch>
        </p:blipFill>
        <p:spPr>
          <a:xfrm>
            <a:off x="7177092" y="3429000"/>
            <a:ext cx="4893357" cy="975060"/>
          </a:xfrm>
          <a:prstGeom prst="rect">
            <a:avLst/>
          </a:prstGeom>
        </p:spPr>
      </p:pic>
      <p:pic>
        <p:nvPicPr>
          <p:cNvPr id="11" name="Picture 10">
            <a:extLst>
              <a:ext uri="{FF2B5EF4-FFF2-40B4-BE49-F238E27FC236}">
                <a16:creationId xmlns:a16="http://schemas.microsoft.com/office/drawing/2014/main" id="{BFADDB68-326D-0F56-C877-C431627E2C8C}"/>
              </a:ext>
            </a:extLst>
          </p:cNvPr>
          <p:cNvPicPr>
            <a:picLocks noChangeAspect="1"/>
          </p:cNvPicPr>
          <p:nvPr/>
        </p:nvPicPr>
        <p:blipFill>
          <a:blip r:embed="rId4"/>
          <a:stretch>
            <a:fillRect/>
          </a:stretch>
        </p:blipFill>
        <p:spPr>
          <a:xfrm>
            <a:off x="9125421" y="4552950"/>
            <a:ext cx="1920990" cy="2117557"/>
          </a:xfrm>
          <a:prstGeom prst="rect">
            <a:avLst/>
          </a:prstGeom>
        </p:spPr>
      </p:pic>
    </p:spTree>
    <p:extLst>
      <p:ext uri="{BB962C8B-B14F-4D97-AF65-F5344CB8AC3E}">
        <p14:creationId xmlns:p14="http://schemas.microsoft.com/office/powerpoint/2010/main" val="208710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C0A94-CEA9-6383-6610-45980F3E577A}"/>
              </a:ext>
            </a:extLst>
          </p:cNvPr>
          <p:cNvSpPr>
            <a:spLocks noGrp="1"/>
          </p:cNvSpPr>
          <p:nvPr>
            <p:ph type="title"/>
          </p:nvPr>
        </p:nvSpPr>
        <p:spPr>
          <a:xfrm>
            <a:off x="838200" y="80378"/>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dirty="0"/>
              <a:t>Explaining the Issue</a:t>
            </a:r>
          </a:p>
        </p:txBody>
      </p:sp>
      <p:sp>
        <p:nvSpPr>
          <p:cNvPr id="3" name="Content Placeholder 2">
            <a:extLst>
              <a:ext uri="{FF2B5EF4-FFF2-40B4-BE49-F238E27FC236}">
                <a16:creationId xmlns:a16="http://schemas.microsoft.com/office/drawing/2014/main" id="{96152EA2-97A3-D5D7-4A34-168762259946}"/>
              </a:ext>
            </a:extLst>
          </p:cNvPr>
          <p:cNvSpPr>
            <a:spLocks noGrp="1"/>
          </p:cNvSpPr>
          <p:nvPr>
            <p:ph idx="1"/>
          </p:nvPr>
        </p:nvSpPr>
        <p:spPr>
          <a:xfrm>
            <a:off x="838200" y="1584993"/>
            <a:ext cx="10515600" cy="1908176"/>
          </a:xfrm>
        </p:spPr>
        <p:style>
          <a:lnRef idx="2">
            <a:schemeClr val="dk1"/>
          </a:lnRef>
          <a:fillRef idx="1">
            <a:schemeClr val="lt1"/>
          </a:fillRef>
          <a:effectRef idx="0">
            <a:schemeClr val="dk1"/>
          </a:effectRef>
          <a:fontRef idx="minor">
            <a:schemeClr val="dk1"/>
          </a:fontRef>
        </p:style>
        <p:txBody>
          <a:bodyPr>
            <a:normAutofit/>
          </a:bodyPr>
          <a:lstStyle/>
          <a:p>
            <a:r>
              <a:rPr lang="en-US" dirty="0"/>
              <a:t>In C how are arrays passed to functions?</a:t>
            </a:r>
          </a:p>
          <a:p>
            <a:r>
              <a:rPr lang="en-US" dirty="0"/>
              <a:t>They are passed as POINTERS.</a:t>
            </a:r>
          </a:p>
          <a:p>
            <a:r>
              <a:rPr lang="en-US" dirty="0"/>
              <a:t>The function doesn’t see the entire array. It only sees a pointer to the first element in the array.</a:t>
            </a:r>
          </a:p>
        </p:txBody>
      </p:sp>
      <p:pic>
        <p:nvPicPr>
          <p:cNvPr id="7" name="Picture 6">
            <a:extLst>
              <a:ext uri="{FF2B5EF4-FFF2-40B4-BE49-F238E27FC236}">
                <a16:creationId xmlns:a16="http://schemas.microsoft.com/office/drawing/2014/main" id="{42E6C3BE-4A33-C682-3EAA-A65F359F37F6}"/>
              </a:ext>
            </a:extLst>
          </p:cNvPr>
          <p:cNvPicPr>
            <a:picLocks noChangeAspect="1"/>
          </p:cNvPicPr>
          <p:nvPr/>
        </p:nvPicPr>
        <p:blipFill rotWithShape="1">
          <a:blip r:embed="rId2"/>
          <a:srcRect b="37101"/>
          <a:stretch/>
        </p:blipFill>
        <p:spPr>
          <a:xfrm>
            <a:off x="800866" y="3791975"/>
            <a:ext cx="5054501" cy="2452580"/>
          </a:xfrm>
          <a:prstGeom prst="rect">
            <a:avLst/>
          </a:prstGeom>
          <a:ln>
            <a:solidFill>
              <a:schemeClr val="tx1"/>
            </a:solidFill>
          </a:ln>
        </p:spPr>
      </p:pic>
      <p:sp>
        <p:nvSpPr>
          <p:cNvPr id="8" name="Content Placeholder 2">
            <a:extLst>
              <a:ext uri="{FF2B5EF4-FFF2-40B4-BE49-F238E27FC236}">
                <a16:creationId xmlns:a16="http://schemas.microsoft.com/office/drawing/2014/main" id="{75FF33D3-3A0E-6D7B-C774-D8A5560C802B}"/>
              </a:ext>
            </a:extLst>
          </p:cNvPr>
          <p:cNvSpPr txBox="1">
            <a:spLocks/>
          </p:cNvSpPr>
          <p:nvPr/>
        </p:nvSpPr>
        <p:spPr>
          <a:xfrm>
            <a:off x="6063916" y="3951203"/>
            <a:ext cx="5875422" cy="224506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When we are running code inside the function in line 5, who is x and what is its size?</a:t>
            </a:r>
          </a:p>
          <a:p>
            <a:r>
              <a:rPr lang="en-US" dirty="0"/>
              <a:t>x is a pointer that points to the first element of x in memory. See next slide for a picture.</a:t>
            </a:r>
          </a:p>
        </p:txBody>
      </p:sp>
    </p:spTree>
    <p:extLst>
      <p:ext uri="{BB962C8B-B14F-4D97-AF65-F5344CB8AC3E}">
        <p14:creationId xmlns:p14="http://schemas.microsoft.com/office/powerpoint/2010/main" val="169481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E647-6E99-7E5F-2DA3-F8DE25C39991}"/>
              </a:ext>
            </a:extLst>
          </p:cNvPr>
          <p:cNvSpPr>
            <a:spLocks noGrp="1"/>
          </p:cNvSpPr>
          <p:nvPr>
            <p:ph type="title"/>
          </p:nvPr>
        </p:nvSpPr>
        <p:spPr>
          <a:xfrm>
            <a:off x="749968" y="92409"/>
            <a:ext cx="10515600" cy="1325563"/>
          </a:xfrm>
        </p:spPr>
        <p:txBody>
          <a:bodyPr/>
          <a:lstStyle/>
          <a:p>
            <a:r>
              <a:rPr lang="en-US" u="sng" dirty="0"/>
              <a:t>Pictorial View of What is Going on…</a:t>
            </a:r>
          </a:p>
        </p:txBody>
      </p:sp>
      <p:pic>
        <p:nvPicPr>
          <p:cNvPr id="3" name="Picture 2">
            <a:extLst>
              <a:ext uri="{FF2B5EF4-FFF2-40B4-BE49-F238E27FC236}">
                <a16:creationId xmlns:a16="http://schemas.microsoft.com/office/drawing/2014/main" id="{57DCDD0F-6CF9-E612-039C-CD264E5DCED5}"/>
              </a:ext>
            </a:extLst>
          </p:cNvPr>
          <p:cNvPicPr>
            <a:picLocks noChangeAspect="1"/>
          </p:cNvPicPr>
          <p:nvPr/>
        </p:nvPicPr>
        <p:blipFill>
          <a:blip r:embed="rId2"/>
          <a:stretch>
            <a:fillRect/>
          </a:stretch>
        </p:blipFill>
        <p:spPr>
          <a:xfrm>
            <a:off x="439920" y="1511967"/>
            <a:ext cx="5500024" cy="4242970"/>
          </a:xfrm>
          <a:prstGeom prst="rect">
            <a:avLst/>
          </a:prstGeom>
          <a:ln>
            <a:solidFill>
              <a:schemeClr val="tx1"/>
            </a:solidFill>
          </a:ln>
        </p:spPr>
      </p:pic>
      <p:sp>
        <p:nvSpPr>
          <p:cNvPr id="4" name="Arrow: Right 3">
            <a:extLst>
              <a:ext uri="{FF2B5EF4-FFF2-40B4-BE49-F238E27FC236}">
                <a16:creationId xmlns:a16="http://schemas.microsoft.com/office/drawing/2014/main" id="{A36C48E7-5AE0-DE21-E540-2D61A7C3C327}"/>
              </a:ext>
            </a:extLst>
          </p:cNvPr>
          <p:cNvSpPr/>
          <p:nvPr/>
        </p:nvSpPr>
        <p:spPr>
          <a:xfrm>
            <a:off x="118459" y="4243137"/>
            <a:ext cx="425116" cy="4010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308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E647-6E99-7E5F-2DA3-F8DE25C39991}"/>
              </a:ext>
            </a:extLst>
          </p:cNvPr>
          <p:cNvSpPr>
            <a:spLocks noGrp="1"/>
          </p:cNvSpPr>
          <p:nvPr>
            <p:ph type="title"/>
          </p:nvPr>
        </p:nvSpPr>
        <p:spPr>
          <a:xfrm>
            <a:off x="749968" y="92409"/>
            <a:ext cx="10515600" cy="1325563"/>
          </a:xfrm>
        </p:spPr>
        <p:txBody>
          <a:bodyPr/>
          <a:lstStyle/>
          <a:p>
            <a:r>
              <a:rPr lang="en-US" u="sng" dirty="0"/>
              <a:t>Pictorial View of What is Going on…</a:t>
            </a:r>
          </a:p>
        </p:txBody>
      </p:sp>
      <p:pic>
        <p:nvPicPr>
          <p:cNvPr id="3" name="Picture 2">
            <a:extLst>
              <a:ext uri="{FF2B5EF4-FFF2-40B4-BE49-F238E27FC236}">
                <a16:creationId xmlns:a16="http://schemas.microsoft.com/office/drawing/2014/main" id="{57DCDD0F-6CF9-E612-039C-CD264E5DCED5}"/>
              </a:ext>
            </a:extLst>
          </p:cNvPr>
          <p:cNvPicPr>
            <a:picLocks noChangeAspect="1"/>
          </p:cNvPicPr>
          <p:nvPr/>
        </p:nvPicPr>
        <p:blipFill>
          <a:blip r:embed="rId2"/>
          <a:stretch>
            <a:fillRect/>
          </a:stretch>
        </p:blipFill>
        <p:spPr>
          <a:xfrm>
            <a:off x="439920" y="1511967"/>
            <a:ext cx="5500024" cy="4242970"/>
          </a:xfrm>
          <a:prstGeom prst="rect">
            <a:avLst/>
          </a:prstGeom>
          <a:ln>
            <a:solidFill>
              <a:schemeClr val="tx1"/>
            </a:solidFill>
          </a:ln>
        </p:spPr>
      </p:pic>
      <p:sp>
        <p:nvSpPr>
          <p:cNvPr id="4" name="Arrow: Right 3">
            <a:extLst>
              <a:ext uri="{FF2B5EF4-FFF2-40B4-BE49-F238E27FC236}">
                <a16:creationId xmlns:a16="http://schemas.microsoft.com/office/drawing/2014/main" id="{A36C48E7-5AE0-DE21-E540-2D61A7C3C327}"/>
              </a:ext>
            </a:extLst>
          </p:cNvPr>
          <p:cNvSpPr/>
          <p:nvPr/>
        </p:nvSpPr>
        <p:spPr>
          <a:xfrm>
            <a:off x="114449" y="4664242"/>
            <a:ext cx="425116" cy="4010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2AC36E-4AAE-9A40-EE71-402AC745D186}"/>
              </a:ext>
            </a:extLst>
          </p:cNvPr>
          <p:cNvSpPr/>
          <p:nvPr/>
        </p:nvSpPr>
        <p:spPr>
          <a:xfrm>
            <a:off x="7174831" y="183682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a[0]</a:t>
            </a:r>
          </a:p>
        </p:txBody>
      </p:sp>
      <p:sp>
        <p:nvSpPr>
          <p:cNvPr id="6" name="Rectangle 5">
            <a:extLst>
              <a:ext uri="{FF2B5EF4-FFF2-40B4-BE49-F238E27FC236}">
                <a16:creationId xmlns:a16="http://schemas.microsoft.com/office/drawing/2014/main" id="{5907618F-0AB8-69AE-416E-864262C74CDE}"/>
              </a:ext>
            </a:extLst>
          </p:cNvPr>
          <p:cNvSpPr/>
          <p:nvPr/>
        </p:nvSpPr>
        <p:spPr>
          <a:xfrm>
            <a:off x="7988613" y="183682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a[1]</a:t>
            </a:r>
          </a:p>
        </p:txBody>
      </p:sp>
      <p:sp>
        <p:nvSpPr>
          <p:cNvPr id="7" name="Rectangle 6">
            <a:extLst>
              <a:ext uri="{FF2B5EF4-FFF2-40B4-BE49-F238E27FC236}">
                <a16:creationId xmlns:a16="http://schemas.microsoft.com/office/drawing/2014/main" id="{48D06A0D-9605-C6DC-243D-CD9E43514F4B}"/>
              </a:ext>
            </a:extLst>
          </p:cNvPr>
          <p:cNvSpPr/>
          <p:nvPr/>
        </p:nvSpPr>
        <p:spPr>
          <a:xfrm>
            <a:off x="8835189" y="18408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a[2]</a:t>
            </a:r>
          </a:p>
        </p:txBody>
      </p:sp>
      <p:sp>
        <p:nvSpPr>
          <p:cNvPr id="10" name="Rectangle 9">
            <a:extLst>
              <a:ext uri="{FF2B5EF4-FFF2-40B4-BE49-F238E27FC236}">
                <a16:creationId xmlns:a16="http://schemas.microsoft.com/office/drawing/2014/main" id="{B14A2319-7026-3ED4-497B-A6EA579ABA90}"/>
              </a:ext>
            </a:extLst>
          </p:cNvPr>
          <p:cNvSpPr/>
          <p:nvPr/>
        </p:nvSpPr>
        <p:spPr>
          <a:xfrm>
            <a:off x="9648971" y="1836820"/>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a[3]</a:t>
            </a:r>
          </a:p>
        </p:txBody>
      </p:sp>
      <p:sp>
        <p:nvSpPr>
          <p:cNvPr id="11" name="Rectangle 10">
            <a:extLst>
              <a:ext uri="{FF2B5EF4-FFF2-40B4-BE49-F238E27FC236}">
                <a16:creationId xmlns:a16="http://schemas.microsoft.com/office/drawing/2014/main" id="{ACAB702D-FCE2-C9C8-9DA8-7524F87DB9C5}"/>
              </a:ext>
            </a:extLst>
          </p:cNvPr>
          <p:cNvSpPr/>
          <p:nvPr/>
        </p:nvSpPr>
        <p:spPr>
          <a:xfrm>
            <a:off x="10462753" y="1832808"/>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a[4]</a:t>
            </a:r>
          </a:p>
        </p:txBody>
      </p:sp>
      <p:sp>
        <p:nvSpPr>
          <p:cNvPr id="12" name="TextBox 11">
            <a:extLst>
              <a:ext uri="{FF2B5EF4-FFF2-40B4-BE49-F238E27FC236}">
                <a16:creationId xmlns:a16="http://schemas.microsoft.com/office/drawing/2014/main" id="{AFF1C08F-9AC4-9433-2A38-8318EF988DFA}"/>
              </a:ext>
            </a:extLst>
          </p:cNvPr>
          <p:cNvSpPr txBox="1"/>
          <p:nvPr/>
        </p:nvSpPr>
        <p:spPr>
          <a:xfrm>
            <a:off x="7225140"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104</a:t>
            </a:r>
          </a:p>
        </p:txBody>
      </p:sp>
      <p:sp>
        <p:nvSpPr>
          <p:cNvPr id="13" name="TextBox 12">
            <a:extLst>
              <a:ext uri="{FF2B5EF4-FFF2-40B4-BE49-F238E27FC236}">
                <a16:creationId xmlns:a16="http://schemas.microsoft.com/office/drawing/2014/main" id="{60D08D78-9A29-886E-412B-3274ED15DB09}"/>
              </a:ext>
            </a:extLst>
          </p:cNvPr>
          <p:cNvSpPr txBox="1"/>
          <p:nvPr/>
        </p:nvSpPr>
        <p:spPr>
          <a:xfrm>
            <a:off x="8062148"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105</a:t>
            </a:r>
          </a:p>
        </p:txBody>
      </p:sp>
      <p:sp>
        <p:nvSpPr>
          <p:cNvPr id="14" name="TextBox 13">
            <a:extLst>
              <a:ext uri="{FF2B5EF4-FFF2-40B4-BE49-F238E27FC236}">
                <a16:creationId xmlns:a16="http://schemas.microsoft.com/office/drawing/2014/main" id="{33CF68B0-FD44-FC24-29A8-807740A14C1F}"/>
              </a:ext>
            </a:extLst>
          </p:cNvPr>
          <p:cNvSpPr txBox="1"/>
          <p:nvPr/>
        </p:nvSpPr>
        <p:spPr>
          <a:xfrm>
            <a:off x="8899156"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106</a:t>
            </a:r>
          </a:p>
        </p:txBody>
      </p:sp>
      <p:sp>
        <p:nvSpPr>
          <p:cNvPr id="15" name="TextBox 14">
            <a:extLst>
              <a:ext uri="{FF2B5EF4-FFF2-40B4-BE49-F238E27FC236}">
                <a16:creationId xmlns:a16="http://schemas.microsoft.com/office/drawing/2014/main" id="{2619000C-8BEF-F44C-0B60-A84EB6C2E717}"/>
              </a:ext>
            </a:extLst>
          </p:cNvPr>
          <p:cNvSpPr txBox="1"/>
          <p:nvPr/>
        </p:nvSpPr>
        <p:spPr>
          <a:xfrm>
            <a:off x="9736164"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107</a:t>
            </a:r>
          </a:p>
        </p:txBody>
      </p:sp>
      <p:sp>
        <p:nvSpPr>
          <p:cNvPr id="16" name="TextBox 15">
            <a:extLst>
              <a:ext uri="{FF2B5EF4-FFF2-40B4-BE49-F238E27FC236}">
                <a16:creationId xmlns:a16="http://schemas.microsoft.com/office/drawing/2014/main" id="{02EDCA7D-96C7-3747-2C83-777742312414}"/>
              </a:ext>
            </a:extLst>
          </p:cNvPr>
          <p:cNvSpPr txBox="1"/>
          <p:nvPr/>
        </p:nvSpPr>
        <p:spPr>
          <a:xfrm>
            <a:off x="10573173"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108</a:t>
            </a:r>
          </a:p>
        </p:txBody>
      </p:sp>
      <p:sp>
        <p:nvSpPr>
          <p:cNvPr id="17" name="TextBox 16">
            <a:extLst>
              <a:ext uri="{FF2B5EF4-FFF2-40B4-BE49-F238E27FC236}">
                <a16:creationId xmlns:a16="http://schemas.microsoft.com/office/drawing/2014/main" id="{B78759E5-8D87-3113-612E-7B422C87C5AC}"/>
              </a:ext>
            </a:extLst>
          </p:cNvPr>
          <p:cNvSpPr txBox="1"/>
          <p:nvPr/>
        </p:nvSpPr>
        <p:spPr>
          <a:xfrm>
            <a:off x="6236968" y="2494545"/>
            <a:ext cx="1102258" cy="646331"/>
          </a:xfrm>
          <a:prstGeom prst="rect">
            <a:avLst/>
          </a:prstGeom>
          <a:noFill/>
        </p:spPr>
        <p:txBody>
          <a:bodyPr wrap="square" rtlCol="0">
            <a:spAutoFit/>
          </a:bodyPr>
          <a:lstStyle/>
          <a:p>
            <a:r>
              <a:rPr lang="en-US" dirty="0"/>
              <a:t>Address in Mem:</a:t>
            </a:r>
          </a:p>
        </p:txBody>
      </p:sp>
      <p:sp>
        <p:nvSpPr>
          <p:cNvPr id="18" name="TextBox 17">
            <a:extLst>
              <a:ext uri="{FF2B5EF4-FFF2-40B4-BE49-F238E27FC236}">
                <a16:creationId xmlns:a16="http://schemas.microsoft.com/office/drawing/2014/main" id="{DC5D9659-7005-09E4-63B8-34A8F37C1939}"/>
              </a:ext>
            </a:extLst>
          </p:cNvPr>
          <p:cNvSpPr txBox="1"/>
          <p:nvPr/>
        </p:nvSpPr>
        <p:spPr>
          <a:xfrm>
            <a:off x="6424862" y="2017294"/>
            <a:ext cx="1078832" cy="369332"/>
          </a:xfrm>
          <a:prstGeom prst="rect">
            <a:avLst/>
          </a:prstGeom>
          <a:noFill/>
        </p:spPr>
        <p:txBody>
          <a:bodyPr wrap="square" rtlCol="0">
            <a:spAutoFit/>
          </a:bodyPr>
          <a:lstStyle/>
          <a:p>
            <a:r>
              <a:rPr lang="en-US" dirty="0"/>
              <a:t>Value:</a:t>
            </a:r>
          </a:p>
        </p:txBody>
      </p:sp>
    </p:spTree>
    <p:extLst>
      <p:ext uri="{BB962C8B-B14F-4D97-AF65-F5344CB8AC3E}">
        <p14:creationId xmlns:p14="http://schemas.microsoft.com/office/powerpoint/2010/main" val="1804750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E647-6E99-7E5F-2DA3-F8DE25C39991}"/>
              </a:ext>
            </a:extLst>
          </p:cNvPr>
          <p:cNvSpPr>
            <a:spLocks noGrp="1"/>
          </p:cNvSpPr>
          <p:nvPr>
            <p:ph type="title"/>
          </p:nvPr>
        </p:nvSpPr>
        <p:spPr>
          <a:xfrm>
            <a:off x="749968" y="92409"/>
            <a:ext cx="10515600" cy="1325563"/>
          </a:xfrm>
        </p:spPr>
        <p:txBody>
          <a:bodyPr/>
          <a:lstStyle/>
          <a:p>
            <a:r>
              <a:rPr lang="en-US" u="sng" dirty="0"/>
              <a:t>Pictorial View of What is Going on…</a:t>
            </a:r>
          </a:p>
        </p:txBody>
      </p:sp>
      <p:pic>
        <p:nvPicPr>
          <p:cNvPr id="3" name="Picture 2">
            <a:extLst>
              <a:ext uri="{FF2B5EF4-FFF2-40B4-BE49-F238E27FC236}">
                <a16:creationId xmlns:a16="http://schemas.microsoft.com/office/drawing/2014/main" id="{57DCDD0F-6CF9-E612-039C-CD264E5DCED5}"/>
              </a:ext>
            </a:extLst>
          </p:cNvPr>
          <p:cNvPicPr>
            <a:picLocks noChangeAspect="1"/>
          </p:cNvPicPr>
          <p:nvPr/>
        </p:nvPicPr>
        <p:blipFill>
          <a:blip r:embed="rId2"/>
          <a:stretch>
            <a:fillRect/>
          </a:stretch>
        </p:blipFill>
        <p:spPr>
          <a:xfrm>
            <a:off x="439920" y="1511967"/>
            <a:ext cx="5500024" cy="4242970"/>
          </a:xfrm>
          <a:prstGeom prst="rect">
            <a:avLst/>
          </a:prstGeom>
          <a:ln>
            <a:solidFill>
              <a:schemeClr val="tx1"/>
            </a:solidFill>
          </a:ln>
        </p:spPr>
      </p:pic>
      <p:sp>
        <p:nvSpPr>
          <p:cNvPr id="4" name="Arrow: Right 3">
            <a:extLst>
              <a:ext uri="{FF2B5EF4-FFF2-40B4-BE49-F238E27FC236}">
                <a16:creationId xmlns:a16="http://schemas.microsoft.com/office/drawing/2014/main" id="{A36C48E7-5AE0-DE21-E540-2D61A7C3C327}"/>
              </a:ext>
            </a:extLst>
          </p:cNvPr>
          <p:cNvSpPr/>
          <p:nvPr/>
        </p:nvSpPr>
        <p:spPr>
          <a:xfrm>
            <a:off x="102418" y="4872789"/>
            <a:ext cx="425116" cy="4010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2AC36E-4AAE-9A40-EE71-402AC745D186}"/>
              </a:ext>
            </a:extLst>
          </p:cNvPr>
          <p:cNvSpPr/>
          <p:nvPr/>
        </p:nvSpPr>
        <p:spPr>
          <a:xfrm>
            <a:off x="7174831" y="183682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a[0]</a:t>
            </a:r>
          </a:p>
        </p:txBody>
      </p:sp>
      <p:sp>
        <p:nvSpPr>
          <p:cNvPr id="6" name="Rectangle 5">
            <a:extLst>
              <a:ext uri="{FF2B5EF4-FFF2-40B4-BE49-F238E27FC236}">
                <a16:creationId xmlns:a16="http://schemas.microsoft.com/office/drawing/2014/main" id="{5907618F-0AB8-69AE-416E-864262C74CDE}"/>
              </a:ext>
            </a:extLst>
          </p:cNvPr>
          <p:cNvSpPr/>
          <p:nvPr/>
        </p:nvSpPr>
        <p:spPr>
          <a:xfrm>
            <a:off x="7988613" y="183682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a[1]</a:t>
            </a:r>
          </a:p>
        </p:txBody>
      </p:sp>
      <p:sp>
        <p:nvSpPr>
          <p:cNvPr id="7" name="Rectangle 6">
            <a:extLst>
              <a:ext uri="{FF2B5EF4-FFF2-40B4-BE49-F238E27FC236}">
                <a16:creationId xmlns:a16="http://schemas.microsoft.com/office/drawing/2014/main" id="{48D06A0D-9605-C6DC-243D-CD9E43514F4B}"/>
              </a:ext>
            </a:extLst>
          </p:cNvPr>
          <p:cNvSpPr/>
          <p:nvPr/>
        </p:nvSpPr>
        <p:spPr>
          <a:xfrm>
            <a:off x="8835189" y="18408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a[2]</a:t>
            </a:r>
          </a:p>
        </p:txBody>
      </p:sp>
      <p:sp>
        <p:nvSpPr>
          <p:cNvPr id="10" name="Rectangle 9">
            <a:extLst>
              <a:ext uri="{FF2B5EF4-FFF2-40B4-BE49-F238E27FC236}">
                <a16:creationId xmlns:a16="http://schemas.microsoft.com/office/drawing/2014/main" id="{B14A2319-7026-3ED4-497B-A6EA579ABA90}"/>
              </a:ext>
            </a:extLst>
          </p:cNvPr>
          <p:cNvSpPr/>
          <p:nvPr/>
        </p:nvSpPr>
        <p:spPr>
          <a:xfrm>
            <a:off x="9648971" y="1836820"/>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a[3]</a:t>
            </a:r>
          </a:p>
        </p:txBody>
      </p:sp>
      <p:sp>
        <p:nvSpPr>
          <p:cNvPr id="11" name="Rectangle 10">
            <a:extLst>
              <a:ext uri="{FF2B5EF4-FFF2-40B4-BE49-F238E27FC236}">
                <a16:creationId xmlns:a16="http://schemas.microsoft.com/office/drawing/2014/main" id="{ACAB702D-FCE2-C9C8-9DA8-7524F87DB9C5}"/>
              </a:ext>
            </a:extLst>
          </p:cNvPr>
          <p:cNvSpPr/>
          <p:nvPr/>
        </p:nvSpPr>
        <p:spPr>
          <a:xfrm>
            <a:off x="10462753" y="1832808"/>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a[4]</a:t>
            </a:r>
          </a:p>
        </p:txBody>
      </p:sp>
      <p:sp>
        <p:nvSpPr>
          <p:cNvPr id="12" name="TextBox 11">
            <a:extLst>
              <a:ext uri="{FF2B5EF4-FFF2-40B4-BE49-F238E27FC236}">
                <a16:creationId xmlns:a16="http://schemas.microsoft.com/office/drawing/2014/main" id="{AFF1C08F-9AC4-9433-2A38-8318EF988DFA}"/>
              </a:ext>
            </a:extLst>
          </p:cNvPr>
          <p:cNvSpPr txBox="1"/>
          <p:nvPr/>
        </p:nvSpPr>
        <p:spPr>
          <a:xfrm>
            <a:off x="7225140"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104</a:t>
            </a:r>
          </a:p>
        </p:txBody>
      </p:sp>
      <p:sp>
        <p:nvSpPr>
          <p:cNvPr id="13" name="TextBox 12">
            <a:extLst>
              <a:ext uri="{FF2B5EF4-FFF2-40B4-BE49-F238E27FC236}">
                <a16:creationId xmlns:a16="http://schemas.microsoft.com/office/drawing/2014/main" id="{60D08D78-9A29-886E-412B-3274ED15DB09}"/>
              </a:ext>
            </a:extLst>
          </p:cNvPr>
          <p:cNvSpPr txBox="1"/>
          <p:nvPr/>
        </p:nvSpPr>
        <p:spPr>
          <a:xfrm>
            <a:off x="8062148"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105</a:t>
            </a:r>
          </a:p>
        </p:txBody>
      </p:sp>
      <p:sp>
        <p:nvSpPr>
          <p:cNvPr id="14" name="TextBox 13">
            <a:extLst>
              <a:ext uri="{FF2B5EF4-FFF2-40B4-BE49-F238E27FC236}">
                <a16:creationId xmlns:a16="http://schemas.microsoft.com/office/drawing/2014/main" id="{33CF68B0-FD44-FC24-29A8-807740A14C1F}"/>
              </a:ext>
            </a:extLst>
          </p:cNvPr>
          <p:cNvSpPr txBox="1"/>
          <p:nvPr/>
        </p:nvSpPr>
        <p:spPr>
          <a:xfrm>
            <a:off x="8899156"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106</a:t>
            </a:r>
          </a:p>
        </p:txBody>
      </p:sp>
      <p:sp>
        <p:nvSpPr>
          <p:cNvPr id="15" name="TextBox 14">
            <a:extLst>
              <a:ext uri="{FF2B5EF4-FFF2-40B4-BE49-F238E27FC236}">
                <a16:creationId xmlns:a16="http://schemas.microsoft.com/office/drawing/2014/main" id="{2619000C-8BEF-F44C-0B60-A84EB6C2E717}"/>
              </a:ext>
            </a:extLst>
          </p:cNvPr>
          <p:cNvSpPr txBox="1"/>
          <p:nvPr/>
        </p:nvSpPr>
        <p:spPr>
          <a:xfrm>
            <a:off x="9736164"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107</a:t>
            </a:r>
          </a:p>
        </p:txBody>
      </p:sp>
      <p:sp>
        <p:nvSpPr>
          <p:cNvPr id="16" name="TextBox 15">
            <a:extLst>
              <a:ext uri="{FF2B5EF4-FFF2-40B4-BE49-F238E27FC236}">
                <a16:creationId xmlns:a16="http://schemas.microsoft.com/office/drawing/2014/main" id="{02EDCA7D-96C7-3747-2C83-777742312414}"/>
              </a:ext>
            </a:extLst>
          </p:cNvPr>
          <p:cNvSpPr txBox="1"/>
          <p:nvPr/>
        </p:nvSpPr>
        <p:spPr>
          <a:xfrm>
            <a:off x="10573173" y="254005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108</a:t>
            </a:r>
          </a:p>
        </p:txBody>
      </p:sp>
      <p:sp>
        <p:nvSpPr>
          <p:cNvPr id="17" name="TextBox 16">
            <a:extLst>
              <a:ext uri="{FF2B5EF4-FFF2-40B4-BE49-F238E27FC236}">
                <a16:creationId xmlns:a16="http://schemas.microsoft.com/office/drawing/2014/main" id="{B78759E5-8D87-3113-612E-7B422C87C5AC}"/>
              </a:ext>
            </a:extLst>
          </p:cNvPr>
          <p:cNvSpPr txBox="1"/>
          <p:nvPr/>
        </p:nvSpPr>
        <p:spPr>
          <a:xfrm>
            <a:off x="6236968" y="2494545"/>
            <a:ext cx="1102258" cy="646331"/>
          </a:xfrm>
          <a:prstGeom prst="rect">
            <a:avLst/>
          </a:prstGeom>
          <a:noFill/>
        </p:spPr>
        <p:txBody>
          <a:bodyPr wrap="square" rtlCol="0">
            <a:spAutoFit/>
          </a:bodyPr>
          <a:lstStyle/>
          <a:p>
            <a:r>
              <a:rPr lang="en-US" dirty="0"/>
              <a:t>Address in Mem:</a:t>
            </a:r>
          </a:p>
        </p:txBody>
      </p:sp>
      <p:sp>
        <p:nvSpPr>
          <p:cNvPr id="18" name="TextBox 17">
            <a:extLst>
              <a:ext uri="{FF2B5EF4-FFF2-40B4-BE49-F238E27FC236}">
                <a16:creationId xmlns:a16="http://schemas.microsoft.com/office/drawing/2014/main" id="{DC5D9659-7005-09E4-63B8-34A8F37C1939}"/>
              </a:ext>
            </a:extLst>
          </p:cNvPr>
          <p:cNvSpPr txBox="1"/>
          <p:nvPr/>
        </p:nvSpPr>
        <p:spPr>
          <a:xfrm>
            <a:off x="6424862" y="2017294"/>
            <a:ext cx="1078832" cy="369332"/>
          </a:xfrm>
          <a:prstGeom prst="rect">
            <a:avLst/>
          </a:prstGeom>
          <a:noFill/>
        </p:spPr>
        <p:txBody>
          <a:bodyPr wrap="square" rtlCol="0">
            <a:spAutoFit/>
          </a:bodyPr>
          <a:lstStyle/>
          <a:p>
            <a:r>
              <a:rPr lang="en-US" dirty="0"/>
              <a:t>Value:</a:t>
            </a:r>
          </a:p>
        </p:txBody>
      </p:sp>
    </p:spTree>
    <p:extLst>
      <p:ext uri="{BB962C8B-B14F-4D97-AF65-F5344CB8AC3E}">
        <p14:creationId xmlns:p14="http://schemas.microsoft.com/office/powerpoint/2010/main" val="2504939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E647-6E99-7E5F-2DA3-F8DE25C39991}"/>
              </a:ext>
            </a:extLst>
          </p:cNvPr>
          <p:cNvSpPr>
            <a:spLocks noGrp="1"/>
          </p:cNvSpPr>
          <p:nvPr>
            <p:ph type="title"/>
          </p:nvPr>
        </p:nvSpPr>
        <p:spPr>
          <a:xfrm>
            <a:off x="749968" y="92409"/>
            <a:ext cx="10515600" cy="1325563"/>
          </a:xfrm>
        </p:spPr>
        <p:txBody>
          <a:bodyPr/>
          <a:lstStyle/>
          <a:p>
            <a:r>
              <a:rPr lang="en-US" u="sng" dirty="0"/>
              <a:t>Pictorial View of What is Going on…</a:t>
            </a:r>
          </a:p>
        </p:txBody>
      </p:sp>
      <p:pic>
        <p:nvPicPr>
          <p:cNvPr id="3" name="Picture 2">
            <a:extLst>
              <a:ext uri="{FF2B5EF4-FFF2-40B4-BE49-F238E27FC236}">
                <a16:creationId xmlns:a16="http://schemas.microsoft.com/office/drawing/2014/main" id="{57DCDD0F-6CF9-E612-039C-CD264E5DCED5}"/>
              </a:ext>
            </a:extLst>
          </p:cNvPr>
          <p:cNvPicPr>
            <a:picLocks noChangeAspect="1"/>
          </p:cNvPicPr>
          <p:nvPr/>
        </p:nvPicPr>
        <p:blipFill>
          <a:blip r:embed="rId2"/>
          <a:stretch>
            <a:fillRect/>
          </a:stretch>
        </p:blipFill>
        <p:spPr>
          <a:xfrm>
            <a:off x="439920" y="1511967"/>
            <a:ext cx="5500024" cy="4242970"/>
          </a:xfrm>
          <a:prstGeom prst="rect">
            <a:avLst/>
          </a:prstGeom>
          <a:ln>
            <a:solidFill>
              <a:schemeClr val="tx1"/>
            </a:solidFill>
          </a:ln>
        </p:spPr>
      </p:pic>
      <p:sp>
        <p:nvSpPr>
          <p:cNvPr id="4" name="Arrow: Right 3">
            <a:extLst>
              <a:ext uri="{FF2B5EF4-FFF2-40B4-BE49-F238E27FC236}">
                <a16:creationId xmlns:a16="http://schemas.microsoft.com/office/drawing/2014/main" id="{A36C48E7-5AE0-DE21-E540-2D61A7C3C327}"/>
              </a:ext>
            </a:extLst>
          </p:cNvPr>
          <p:cNvSpPr/>
          <p:nvPr/>
        </p:nvSpPr>
        <p:spPr>
          <a:xfrm>
            <a:off x="179414" y="2201960"/>
            <a:ext cx="425116" cy="4010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2AC36E-4AAE-9A40-EE71-402AC745D186}"/>
              </a:ext>
            </a:extLst>
          </p:cNvPr>
          <p:cNvSpPr/>
          <p:nvPr/>
        </p:nvSpPr>
        <p:spPr>
          <a:xfrm>
            <a:off x="6845968" y="180874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a[0]</a:t>
            </a:r>
          </a:p>
        </p:txBody>
      </p:sp>
      <p:sp>
        <p:nvSpPr>
          <p:cNvPr id="6" name="Rectangle 5">
            <a:extLst>
              <a:ext uri="{FF2B5EF4-FFF2-40B4-BE49-F238E27FC236}">
                <a16:creationId xmlns:a16="http://schemas.microsoft.com/office/drawing/2014/main" id="{5907618F-0AB8-69AE-416E-864262C74CDE}"/>
              </a:ext>
            </a:extLst>
          </p:cNvPr>
          <p:cNvSpPr/>
          <p:nvPr/>
        </p:nvSpPr>
        <p:spPr>
          <a:xfrm>
            <a:off x="7659750" y="180874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a[1]</a:t>
            </a:r>
          </a:p>
        </p:txBody>
      </p:sp>
      <p:sp>
        <p:nvSpPr>
          <p:cNvPr id="7" name="Rectangle 6">
            <a:extLst>
              <a:ext uri="{FF2B5EF4-FFF2-40B4-BE49-F238E27FC236}">
                <a16:creationId xmlns:a16="http://schemas.microsoft.com/office/drawing/2014/main" id="{48D06A0D-9605-C6DC-243D-CD9E43514F4B}"/>
              </a:ext>
            </a:extLst>
          </p:cNvPr>
          <p:cNvSpPr/>
          <p:nvPr/>
        </p:nvSpPr>
        <p:spPr>
          <a:xfrm>
            <a:off x="8506326" y="181275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a[2]</a:t>
            </a:r>
          </a:p>
        </p:txBody>
      </p:sp>
      <p:sp>
        <p:nvSpPr>
          <p:cNvPr id="10" name="Rectangle 9">
            <a:extLst>
              <a:ext uri="{FF2B5EF4-FFF2-40B4-BE49-F238E27FC236}">
                <a16:creationId xmlns:a16="http://schemas.microsoft.com/office/drawing/2014/main" id="{B14A2319-7026-3ED4-497B-A6EA579ABA90}"/>
              </a:ext>
            </a:extLst>
          </p:cNvPr>
          <p:cNvSpPr/>
          <p:nvPr/>
        </p:nvSpPr>
        <p:spPr>
          <a:xfrm>
            <a:off x="9320108" y="1808746"/>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a[3]</a:t>
            </a:r>
          </a:p>
        </p:txBody>
      </p:sp>
      <p:sp>
        <p:nvSpPr>
          <p:cNvPr id="11" name="Rectangle 10">
            <a:extLst>
              <a:ext uri="{FF2B5EF4-FFF2-40B4-BE49-F238E27FC236}">
                <a16:creationId xmlns:a16="http://schemas.microsoft.com/office/drawing/2014/main" id="{ACAB702D-FCE2-C9C8-9DA8-7524F87DB9C5}"/>
              </a:ext>
            </a:extLst>
          </p:cNvPr>
          <p:cNvSpPr/>
          <p:nvPr/>
        </p:nvSpPr>
        <p:spPr>
          <a:xfrm>
            <a:off x="10133890" y="1804734"/>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a[4]</a:t>
            </a:r>
          </a:p>
        </p:txBody>
      </p:sp>
      <p:sp>
        <p:nvSpPr>
          <p:cNvPr id="12" name="TextBox 11">
            <a:extLst>
              <a:ext uri="{FF2B5EF4-FFF2-40B4-BE49-F238E27FC236}">
                <a16:creationId xmlns:a16="http://schemas.microsoft.com/office/drawing/2014/main" id="{AFF1C08F-9AC4-9433-2A38-8318EF988DFA}"/>
              </a:ext>
            </a:extLst>
          </p:cNvPr>
          <p:cNvSpPr txBox="1"/>
          <p:nvPr/>
        </p:nvSpPr>
        <p:spPr>
          <a:xfrm>
            <a:off x="6896277"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104</a:t>
            </a:r>
          </a:p>
        </p:txBody>
      </p:sp>
      <p:sp>
        <p:nvSpPr>
          <p:cNvPr id="13" name="TextBox 12">
            <a:extLst>
              <a:ext uri="{FF2B5EF4-FFF2-40B4-BE49-F238E27FC236}">
                <a16:creationId xmlns:a16="http://schemas.microsoft.com/office/drawing/2014/main" id="{60D08D78-9A29-886E-412B-3274ED15DB09}"/>
              </a:ext>
            </a:extLst>
          </p:cNvPr>
          <p:cNvSpPr txBox="1"/>
          <p:nvPr/>
        </p:nvSpPr>
        <p:spPr>
          <a:xfrm>
            <a:off x="7733285"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105</a:t>
            </a:r>
          </a:p>
        </p:txBody>
      </p:sp>
      <p:sp>
        <p:nvSpPr>
          <p:cNvPr id="14" name="TextBox 13">
            <a:extLst>
              <a:ext uri="{FF2B5EF4-FFF2-40B4-BE49-F238E27FC236}">
                <a16:creationId xmlns:a16="http://schemas.microsoft.com/office/drawing/2014/main" id="{33CF68B0-FD44-FC24-29A8-807740A14C1F}"/>
              </a:ext>
            </a:extLst>
          </p:cNvPr>
          <p:cNvSpPr txBox="1"/>
          <p:nvPr/>
        </p:nvSpPr>
        <p:spPr>
          <a:xfrm>
            <a:off x="8570293"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106</a:t>
            </a:r>
          </a:p>
        </p:txBody>
      </p:sp>
      <p:sp>
        <p:nvSpPr>
          <p:cNvPr id="15" name="TextBox 14">
            <a:extLst>
              <a:ext uri="{FF2B5EF4-FFF2-40B4-BE49-F238E27FC236}">
                <a16:creationId xmlns:a16="http://schemas.microsoft.com/office/drawing/2014/main" id="{2619000C-8BEF-F44C-0B60-A84EB6C2E717}"/>
              </a:ext>
            </a:extLst>
          </p:cNvPr>
          <p:cNvSpPr txBox="1"/>
          <p:nvPr/>
        </p:nvSpPr>
        <p:spPr>
          <a:xfrm>
            <a:off x="9407301"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107</a:t>
            </a:r>
          </a:p>
        </p:txBody>
      </p:sp>
      <p:sp>
        <p:nvSpPr>
          <p:cNvPr id="16" name="TextBox 15">
            <a:extLst>
              <a:ext uri="{FF2B5EF4-FFF2-40B4-BE49-F238E27FC236}">
                <a16:creationId xmlns:a16="http://schemas.microsoft.com/office/drawing/2014/main" id="{02EDCA7D-96C7-3747-2C83-777742312414}"/>
              </a:ext>
            </a:extLst>
          </p:cNvPr>
          <p:cNvSpPr txBox="1"/>
          <p:nvPr/>
        </p:nvSpPr>
        <p:spPr>
          <a:xfrm>
            <a:off x="10244310"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108</a:t>
            </a:r>
          </a:p>
        </p:txBody>
      </p:sp>
      <p:sp>
        <p:nvSpPr>
          <p:cNvPr id="17" name="TextBox 16">
            <a:extLst>
              <a:ext uri="{FF2B5EF4-FFF2-40B4-BE49-F238E27FC236}">
                <a16:creationId xmlns:a16="http://schemas.microsoft.com/office/drawing/2014/main" id="{B78759E5-8D87-3113-612E-7B422C87C5AC}"/>
              </a:ext>
            </a:extLst>
          </p:cNvPr>
          <p:cNvSpPr txBox="1"/>
          <p:nvPr/>
        </p:nvSpPr>
        <p:spPr>
          <a:xfrm>
            <a:off x="5908105" y="2466471"/>
            <a:ext cx="1102258" cy="646331"/>
          </a:xfrm>
          <a:prstGeom prst="rect">
            <a:avLst/>
          </a:prstGeom>
          <a:noFill/>
        </p:spPr>
        <p:txBody>
          <a:bodyPr wrap="square" rtlCol="0">
            <a:spAutoFit/>
          </a:bodyPr>
          <a:lstStyle/>
          <a:p>
            <a:r>
              <a:rPr lang="en-US" dirty="0"/>
              <a:t>Address in Mem:</a:t>
            </a:r>
          </a:p>
        </p:txBody>
      </p:sp>
      <p:sp>
        <p:nvSpPr>
          <p:cNvPr id="18" name="TextBox 17">
            <a:extLst>
              <a:ext uri="{FF2B5EF4-FFF2-40B4-BE49-F238E27FC236}">
                <a16:creationId xmlns:a16="http://schemas.microsoft.com/office/drawing/2014/main" id="{DC5D9659-7005-09E4-63B8-34A8F37C1939}"/>
              </a:ext>
            </a:extLst>
          </p:cNvPr>
          <p:cNvSpPr txBox="1"/>
          <p:nvPr/>
        </p:nvSpPr>
        <p:spPr>
          <a:xfrm>
            <a:off x="6095999" y="1989220"/>
            <a:ext cx="1078832" cy="369332"/>
          </a:xfrm>
          <a:prstGeom prst="rect">
            <a:avLst/>
          </a:prstGeom>
          <a:noFill/>
        </p:spPr>
        <p:txBody>
          <a:bodyPr wrap="square" rtlCol="0">
            <a:spAutoFit/>
          </a:bodyPr>
          <a:lstStyle/>
          <a:p>
            <a:r>
              <a:rPr lang="en-US" dirty="0"/>
              <a:t>Value:</a:t>
            </a:r>
          </a:p>
        </p:txBody>
      </p:sp>
      <p:sp>
        <p:nvSpPr>
          <p:cNvPr id="8" name="Rectangle 7">
            <a:extLst>
              <a:ext uri="{FF2B5EF4-FFF2-40B4-BE49-F238E27FC236}">
                <a16:creationId xmlns:a16="http://schemas.microsoft.com/office/drawing/2014/main" id="{770AB7A0-20D1-0CC5-A0F1-4CBC55F7D703}"/>
              </a:ext>
            </a:extLst>
          </p:cNvPr>
          <p:cNvSpPr/>
          <p:nvPr/>
        </p:nvSpPr>
        <p:spPr>
          <a:xfrm>
            <a:off x="11402511" y="1796894"/>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104</a:t>
            </a:r>
          </a:p>
        </p:txBody>
      </p:sp>
      <p:sp>
        <p:nvSpPr>
          <p:cNvPr id="9" name="TextBox 8">
            <a:extLst>
              <a:ext uri="{FF2B5EF4-FFF2-40B4-BE49-F238E27FC236}">
                <a16:creationId xmlns:a16="http://schemas.microsoft.com/office/drawing/2014/main" id="{AF95154C-F752-3454-E275-9F41535A1D7D}"/>
              </a:ext>
            </a:extLst>
          </p:cNvPr>
          <p:cNvSpPr txBox="1"/>
          <p:nvPr/>
        </p:nvSpPr>
        <p:spPr>
          <a:xfrm>
            <a:off x="11452820"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209</a:t>
            </a:r>
          </a:p>
        </p:txBody>
      </p:sp>
      <p:sp>
        <p:nvSpPr>
          <p:cNvPr id="19" name="TextBox 18">
            <a:extLst>
              <a:ext uri="{FF2B5EF4-FFF2-40B4-BE49-F238E27FC236}">
                <a16:creationId xmlns:a16="http://schemas.microsoft.com/office/drawing/2014/main" id="{92A44FBA-05EC-7E8B-8EAD-992164AE42A4}"/>
              </a:ext>
            </a:extLst>
          </p:cNvPr>
          <p:cNvSpPr txBox="1"/>
          <p:nvPr/>
        </p:nvSpPr>
        <p:spPr>
          <a:xfrm>
            <a:off x="11539522" y="2851192"/>
            <a:ext cx="425116" cy="523220"/>
          </a:xfrm>
          <a:prstGeom prst="rect">
            <a:avLst/>
          </a:prstGeom>
          <a:noFill/>
        </p:spPr>
        <p:txBody>
          <a:bodyPr wrap="square" rtlCol="0">
            <a:spAutoFit/>
          </a:bodyPr>
          <a:lstStyle/>
          <a:p>
            <a:r>
              <a:rPr lang="en-US" sz="2800" dirty="0"/>
              <a:t>x</a:t>
            </a:r>
          </a:p>
        </p:txBody>
      </p:sp>
      <p:sp>
        <p:nvSpPr>
          <p:cNvPr id="20" name="Content Placeholder 2">
            <a:extLst>
              <a:ext uri="{FF2B5EF4-FFF2-40B4-BE49-F238E27FC236}">
                <a16:creationId xmlns:a16="http://schemas.microsoft.com/office/drawing/2014/main" id="{68B8F06D-2523-6159-3033-2471DD398019}"/>
              </a:ext>
            </a:extLst>
          </p:cNvPr>
          <p:cNvSpPr txBox="1">
            <a:spLocks/>
          </p:cNvSpPr>
          <p:nvPr/>
        </p:nvSpPr>
        <p:spPr>
          <a:xfrm>
            <a:off x="6063916" y="3951203"/>
            <a:ext cx="5875422" cy="264210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Remember when we call the function, our array is passed in BY reference. </a:t>
            </a:r>
          </a:p>
          <a:p>
            <a:r>
              <a:rPr lang="en-US" dirty="0"/>
              <a:t>This means we get a variables whose value is the first memory address of array “a”.</a:t>
            </a:r>
          </a:p>
          <a:p>
            <a:r>
              <a:rPr lang="en-US" dirty="0"/>
              <a:t>Do we know where “a” ends? Not when the variable is passed to us by reference.</a:t>
            </a:r>
          </a:p>
        </p:txBody>
      </p:sp>
      <p:cxnSp>
        <p:nvCxnSpPr>
          <p:cNvPr id="22" name="Straight Arrow Connector 21">
            <a:extLst>
              <a:ext uri="{FF2B5EF4-FFF2-40B4-BE49-F238E27FC236}">
                <a16:creationId xmlns:a16="http://schemas.microsoft.com/office/drawing/2014/main" id="{98437425-6EF8-764E-C78D-02CE10893A09}"/>
              </a:ext>
            </a:extLst>
          </p:cNvPr>
          <p:cNvCxnSpPr>
            <a:cxnSpLocks/>
          </p:cNvCxnSpPr>
          <p:nvPr/>
        </p:nvCxnSpPr>
        <p:spPr>
          <a:xfrm flipH="1">
            <a:off x="7387389" y="2201960"/>
            <a:ext cx="4152133" cy="477072"/>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138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E647-6E99-7E5F-2DA3-F8DE25C39991}"/>
              </a:ext>
            </a:extLst>
          </p:cNvPr>
          <p:cNvSpPr>
            <a:spLocks noGrp="1"/>
          </p:cNvSpPr>
          <p:nvPr>
            <p:ph type="title"/>
          </p:nvPr>
        </p:nvSpPr>
        <p:spPr>
          <a:xfrm>
            <a:off x="749968" y="92409"/>
            <a:ext cx="10515600" cy="1325563"/>
          </a:xfrm>
        </p:spPr>
        <p:txBody>
          <a:bodyPr/>
          <a:lstStyle/>
          <a:p>
            <a:r>
              <a:rPr lang="en-US" u="sng" dirty="0"/>
              <a:t>Pictorial View of What is Going on…</a:t>
            </a:r>
          </a:p>
        </p:txBody>
      </p:sp>
      <p:pic>
        <p:nvPicPr>
          <p:cNvPr id="3" name="Picture 2">
            <a:extLst>
              <a:ext uri="{FF2B5EF4-FFF2-40B4-BE49-F238E27FC236}">
                <a16:creationId xmlns:a16="http://schemas.microsoft.com/office/drawing/2014/main" id="{57DCDD0F-6CF9-E612-039C-CD264E5DCED5}"/>
              </a:ext>
            </a:extLst>
          </p:cNvPr>
          <p:cNvPicPr>
            <a:picLocks noChangeAspect="1"/>
          </p:cNvPicPr>
          <p:nvPr/>
        </p:nvPicPr>
        <p:blipFill>
          <a:blip r:embed="rId2"/>
          <a:stretch>
            <a:fillRect/>
          </a:stretch>
        </p:blipFill>
        <p:spPr>
          <a:xfrm>
            <a:off x="439920" y="1511967"/>
            <a:ext cx="5500024" cy="4242970"/>
          </a:xfrm>
          <a:prstGeom prst="rect">
            <a:avLst/>
          </a:prstGeom>
          <a:ln>
            <a:solidFill>
              <a:schemeClr val="tx1"/>
            </a:solidFill>
          </a:ln>
        </p:spPr>
      </p:pic>
      <p:sp>
        <p:nvSpPr>
          <p:cNvPr id="4" name="Arrow: Right 3">
            <a:extLst>
              <a:ext uri="{FF2B5EF4-FFF2-40B4-BE49-F238E27FC236}">
                <a16:creationId xmlns:a16="http://schemas.microsoft.com/office/drawing/2014/main" id="{A36C48E7-5AE0-DE21-E540-2D61A7C3C327}"/>
              </a:ext>
            </a:extLst>
          </p:cNvPr>
          <p:cNvSpPr/>
          <p:nvPr/>
        </p:nvSpPr>
        <p:spPr>
          <a:xfrm>
            <a:off x="184011" y="3027948"/>
            <a:ext cx="425116" cy="4010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2AC36E-4AAE-9A40-EE71-402AC745D186}"/>
              </a:ext>
            </a:extLst>
          </p:cNvPr>
          <p:cNvSpPr/>
          <p:nvPr/>
        </p:nvSpPr>
        <p:spPr>
          <a:xfrm>
            <a:off x="6845968" y="180874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a[0]</a:t>
            </a:r>
          </a:p>
        </p:txBody>
      </p:sp>
      <p:sp>
        <p:nvSpPr>
          <p:cNvPr id="6" name="Rectangle 5">
            <a:extLst>
              <a:ext uri="{FF2B5EF4-FFF2-40B4-BE49-F238E27FC236}">
                <a16:creationId xmlns:a16="http://schemas.microsoft.com/office/drawing/2014/main" id="{5907618F-0AB8-69AE-416E-864262C74CDE}"/>
              </a:ext>
            </a:extLst>
          </p:cNvPr>
          <p:cNvSpPr/>
          <p:nvPr/>
        </p:nvSpPr>
        <p:spPr>
          <a:xfrm>
            <a:off x="7659750" y="180874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a[1]</a:t>
            </a:r>
          </a:p>
        </p:txBody>
      </p:sp>
      <p:sp>
        <p:nvSpPr>
          <p:cNvPr id="7" name="Rectangle 6">
            <a:extLst>
              <a:ext uri="{FF2B5EF4-FFF2-40B4-BE49-F238E27FC236}">
                <a16:creationId xmlns:a16="http://schemas.microsoft.com/office/drawing/2014/main" id="{48D06A0D-9605-C6DC-243D-CD9E43514F4B}"/>
              </a:ext>
            </a:extLst>
          </p:cNvPr>
          <p:cNvSpPr/>
          <p:nvPr/>
        </p:nvSpPr>
        <p:spPr>
          <a:xfrm>
            <a:off x="8506326" y="1812757"/>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a[2]</a:t>
            </a:r>
          </a:p>
        </p:txBody>
      </p:sp>
      <p:sp>
        <p:nvSpPr>
          <p:cNvPr id="10" name="Rectangle 9">
            <a:extLst>
              <a:ext uri="{FF2B5EF4-FFF2-40B4-BE49-F238E27FC236}">
                <a16:creationId xmlns:a16="http://schemas.microsoft.com/office/drawing/2014/main" id="{B14A2319-7026-3ED4-497B-A6EA579ABA90}"/>
              </a:ext>
            </a:extLst>
          </p:cNvPr>
          <p:cNvSpPr/>
          <p:nvPr/>
        </p:nvSpPr>
        <p:spPr>
          <a:xfrm>
            <a:off x="9320108" y="1808746"/>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a[3]</a:t>
            </a:r>
          </a:p>
        </p:txBody>
      </p:sp>
      <p:sp>
        <p:nvSpPr>
          <p:cNvPr id="11" name="Rectangle 10">
            <a:extLst>
              <a:ext uri="{FF2B5EF4-FFF2-40B4-BE49-F238E27FC236}">
                <a16:creationId xmlns:a16="http://schemas.microsoft.com/office/drawing/2014/main" id="{ACAB702D-FCE2-C9C8-9DA8-7524F87DB9C5}"/>
              </a:ext>
            </a:extLst>
          </p:cNvPr>
          <p:cNvSpPr/>
          <p:nvPr/>
        </p:nvSpPr>
        <p:spPr>
          <a:xfrm>
            <a:off x="10133890" y="1804734"/>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a[4]</a:t>
            </a:r>
          </a:p>
        </p:txBody>
      </p:sp>
      <p:sp>
        <p:nvSpPr>
          <p:cNvPr id="12" name="TextBox 11">
            <a:extLst>
              <a:ext uri="{FF2B5EF4-FFF2-40B4-BE49-F238E27FC236}">
                <a16:creationId xmlns:a16="http://schemas.microsoft.com/office/drawing/2014/main" id="{AFF1C08F-9AC4-9433-2A38-8318EF988DFA}"/>
              </a:ext>
            </a:extLst>
          </p:cNvPr>
          <p:cNvSpPr txBox="1"/>
          <p:nvPr/>
        </p:nvSpPr>
        <p:spPr>
          <a:xfrm>
            <a:off x="6896277"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104</a:t>
            </a:r>
          </a:p>
        </p:txBody>
      </p:sp>
      <p:sp>
        <p:nvSpPr>
          <p:cNvPr id="13" name="TextBox 12">
            <a:extLst>
              <a:ext uri="{FF2B5EF4-FFF2-40B4-BE49-F238E27FC236}">
                <a16:creationId xmlns:a16="http://schemas.microsoft.com/office/drawing/2014/main" id="{60D08D78-9A29-886E-412B-3274ED15DB09}"/>
              </a:ext>
            </a:extLst>
          </p:cNvPr>
          <p:cNvSpPr txBox="1"/>
          <p:nvPr/>
        </p:nvSpPr>
        <p:spPr>
          <a:xfrm>
            <a:off x="7733285"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105</a:t>
            </a:r>
          </a:p>
        </p:txBody>
      </p:sp>
      <p:sp>
        <p:nvSpPr>
          <p:cNvPr id="14" name="TextBox 13">
            <a:extLst>
              <a:ext uri="{FF2B5EF4-FFF2-40B4-BE49-F238E27FC236}">
                <a16:creationId xmlns:a16="http://schemas.microsoft.com/office/drawing/2014/main" id="{33CF68B0-FD44-FC24-29A8-807740A14C1F}"/>
              </a:ext>
            </a:extLst>
          </p:cNvPr>
          <p:cNvSpPr txBox="1"/>
          <p:nvPr/>
        </p:nvSpPr>
        <p:spPr>
          <a:xfrm>
            <a:off x="8570293"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106</a:t>
            </a:r>
          </a:p>
        </p:txBody>
      </p:sp>
      <p:sp>
        <p:nvSpPr>
          <p:cNvPr id="15" name="TextBox 14">
            <a:extLst>
              <a:ext uri="{FF2B5EF4-FFF2-40B4-BE49-F238E27FC236}">
                <a16:creationId xmlns:a16="http://schemas.microsoft.com/office/drawing/2014/main" id="{2619000C-8BEF-F44C-0B60-A84EB6C2E717}"/>
              </a:ext>
            </a:extLst>
          </p:cNvPr>
          <p:cNvSpPr txBox="1"/>
          <p:nvPr/>
        </p:nvSpPr>
        <p:spPr>
          <a:xfrm>
            <a:off x="9407301"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107</a:t>
            </a:r>
          </a:p>
        </p:txBody>
      </p:sp>
      <p:sp>
        <p:nvSpPr>
          <p:cNvPr id="16" name="TextBox 15">
            <a:extLst>
              <a:ext uri="{FF2B5EF4-FFF2-40B4-BE49-F238E27FC236}">
                <a16:creationId xmlns:a16="http://schemas.microsoft.com/office/drawing/2014/main" id="{02EDCA7D-96C7-3747-2C83-777742312414}"/>
              </a:ext>
            </a:extLst>
          </p:cNvPr>
          <p:cNvSpPr txBox="1"/>
          <p:nvPr/>
        </p:nvSpPr>
        <p:spPr>
          <a:xfrm>
            <a:off x="10244310"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108</a:t>
            </a:r>
          </a:p>
        </p:txBody>
      </p:sp>
      <p:sp>
        <p:nvSpPr>
          <p:cNvPr id="17" name="TextBox 16">
            <a:extLst>
              <a:ext uri="{FF2B5EF4-FFF2-40B4-BE49-F238E27FC236}">
                <a16:creationId xmlns:a16="http://schemas.microsoft.com/office/drawing/2014/main" id="{B78759E5-8D87-3113-612E-7B422C87C5AC}"/>
              </a:ext>
            </a:extLst>
          </p:cNvPr>
          <p:cNvSpPr txBox="1"/>
          <p:nvPr/>
        </p:nvSpPr>
        <p:spPr>
          <a:xfrm>
            <a:off x="5908105" y="2466471"/>
            <a:ext cx="1102258" cy="646331"/>
          </a:xfrm>
          <a:prstGeom prst="rect">
            <a:avLst/>
          </a:prstGeom>
          <a:noFill/>
        </p:spPr>
        <p:txBody>
          <a:bodyPr wrap="square" rtlCol="0">
            <a:spAutoFit/>
          </a:bodyPr>
          <a:lstStyle/>
          <a:p>
            <a:r>
              <a:rPr lang="en-US" dirty="0"/>
              <a:t>Address in Mem:</a:t>
            </a:r>
          </a:p>
        </p:txBody>
      </p:sp>
      <p:sp>
        <p:nvSpPr>
          <p:cNvPr id="18" name="TextBox 17">
            <a:extLst>
              <a:ext uri="{FF2B5EF4-FFF2-40B4-BE49-F238E27FC236}">
                <a16:creationId xmlns:a16="http://schemas.microsoft.com/office/drawing/2014/main" id="{DC5D9659-7005-09E4-63B8-34A8F37C1939}"/>
              </a:ext>
            </a:extLst>
          </p:cNvPr>
          <p:cNvSpPr txBox="1"/>
          <p:nvPr/>
        </p:nvSpPr>
        <p:spPr>
          <a:xfrm>
            <a:off x="6095999" y="1989220"/>
            <a:ext cx="1078832" cy="369332"/>
          </a:xfrm>
          <a:prstGeom prst="rect">
            <a:avLst/>
          </a:prstGeom>
          <a:noFill/>
        </p:spPr>
        <p:txBody>
          <a:bodyPr wrap="square" rtlCol="0">
            <a:spAutoFit/>
          </a:bodyPr>
          <a:lstStyle/>
          <a:p>
            <a:r>
              <a:rPr lang="en-US" dirty="0"/>
              <a:t>Value:</a:t>
            </a:r>
          </a:p>
        </p:txBody>
      </p:sp>
      <p:sp>
        <p:nvSpPr>
          <p:cNvPr id="8" name="Rectangle 7">
            <a:extLst>
              <a:ext uri="{FF2B5EF4-FFF2-40B4-BE49-F238E27FC236}">
                <a16:creationId xmlns:a16="http://schemas.microsoft.com/office/drawing/2014/main" id="{770AB7A0-20D1-0CC5-A0F1-4CBC55F7D703}"/>
              </a:ext>
            </a:extLst>
          </p:cNvPr>
          <p:cNvSpPr/>
          <p:nvPr/>
        </p:nvSpPr>
        <p:spPr>
          <a:xfrm>
            <a:off x="11402511" y="1796894"/>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104</a:t>
            </a:r>
          </a:p>
        </p:txBody>
      </p:sp>
      <p:sp>
        <p:nvSpPr>
          <p:cNvPr id="9" name="TextBox 8">
            <a:extLst>
              <a:ext uri="{FF2B5EF4-FFF2-40B4-BE49-F238E27FC236}">
                <a16:creationId xmlns:a16="http://schemas.microsoft.com/office/drawing/2014/main" id="{AF95154C-F752-3454-E275-9F41535A1D7D}"/>
              </a:ext>
            </a:extLst>
          </p:cNvPr>
          <p:cNvSpPr txBox="1"/>
          <p:nvPr/>
        </p:nvSpPr>
        <p:spPr>
          <a:xfrm>
            <a:off x="11452820" y="2511978"/>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209</a:t>
            </a:r>
          </a:p>
        </p:txBody>
      </p:sp>
      <p:sp>
        <p:nvSpPr>
          <p:cNvPr id="19" name="TextBox 18">
            <a:extLst>
              <a:ext uri="{FF2B5EF4-FFF2-40B4-BE49-F238E27FC236}">
                <a16:creationId xmlns:a16="http://schemas.microsoft.com/office/drawing/2014/main" id="{92A44FBA-05EC-7E8B-8EAD-992164AE42A4}"/>
              </a:ext>
            </a:extLst>
          </p:cNvPr>
          <p:cNvSpPr txBox="1"/>
          <p:nvPr/>
        </p:nvSpPr>
        <p:spPr>
          <a:xfrm>
            <a:off x="11539522" y="2851192"/>
            <a:ext cx="425116" cy="523220"/>
          </a:xfrm>
          <a:prstGeom prst="rect">
            <a:avLst/>
          </a:prstGeom>
          <a:noFill/>
        </p:spPr>
        <p:txBody>
          <a:bodyPr wrap="square" rtlCol="0">
            <a:spAutoFit/>
          </a:bodyPr>
          <a:lstStyle/>
          <a:p>
            <a:r>
              <a:rPr lang="en-US" sz="2800" dirty="0"/>
              <a:t>x</a:t>
            </a:r>
          </a:p>
        </p:txBody>
      </p:sp>
      <p:sp>
        <p:nvSpPr>
          <p:cNvPr id="20" name="Content Placeholder 2">
            <a:extLst>
              <a:ext uri="{FF2B5EF4-FFF2-40B4-BE49-F238E27FC236}">
                <a16:creationId xmlns:a16="http://schemas.microsoft.com/office/drawing/2014/main" id="{68B8F06D-2523-6159-3033-2471DD398019}"/>
              </a:ext>
            </a:extLst>
          </p:cNvPr>
          <p:cNvSpPr txBox="1">
            <a:spLocks/>
          </p:cNvSpPr>
          <p:nvPr/>
        </p:nvSpPr>
        <p:spPr>
          <a:xfrm>
            <a:off x="6195853" y="3407051"/>
            <a:ext cx="5875422" cy="264210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dirty="0"/>
              <a:t>Skip ahead a bit to line 9. What is the size of x?</a:t>
            </a:r>
          </a:p>
          <a:p>
            <a:r>
              <a:rPr lang="en-US" dirty="0"/>
              <a:t>x is a pointer so the size of x is whatever the size of a pointer will be. </a:t>
            </a:r>
          </a:p>
          <a:p>
            <a:r>
              <a:rPr lang="en-US" dirty="0"/>
              <a:t>x is NOT the size of the array “a”.</a:t>
            </a:r>
          </a:p>
        </p:txBody>
      </p:sp>
      <p:cxnSp>
        <p:nvCxnSpPr>
          <p:cNvPr id="22" name="Straight Arrow Connector 21">
            <a:extLst>
              <a:ext uri="{FF2B5EF4-FFF2-40B4-BE49-F238E27FC236}">
                <a16:creationId xmlns:a16="http://schemas.microsoft.com/office/drawing/2014/main" id="{98437425-6EF8-764E-C78D-02CE10893A09}"/>
              </a:ext>
            </a:extLst>
          </p:cNvPr>
          <p:cNvCxnSpPr>
            <a:cxnSpLocks/>
          </p:cNvCxnSpPr>
          <p:nvPr/>
        </p:nvCxnSpPr>
        <p:spPr>
          <a:xfrm flipH="1">
            <a:off x="7387389" y="2201960"/>
            <a:ext cx="4152133" cy="477072"/>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52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264F-5164-572E-8FD7-A0CE6BF528D2}"/>
              </a:ext>
            </a:extLst>
          </p:cNvPr>
          <p:cNvSpPr>
            <a:spLocks noGrp="1"/>
          </p:cNvSpPr>
          <p:nvPr>
            <p:ph type="title"/>
          </p:nvPr>
        </p:nvSpPr>
        <p:spPr>
          <a:xfrm>
            <a:off x="0" y="18255"/>
            <a:ext cx="10515600" cy="1325563"/>
          </a:xfrm>
        </p:spPr>
        <p:txBody>
          <a:bodyPr/>
          <a:lstStyle/>
          <a:p>
            <a:r>
              <a:rPr lang="en-US" u="sng" dirty="0"/>
              <a:t>Back to our original question…</a:t>
            </a:r>
          </a:p>
        </p:txBody>
      </p:sp>
      <p:sp>
        <p:nvSpPr>
          <p:cNvPr id="3" name="Content Placeholder 2">
            <a:extLst>
              <a:ext uri="{FF2B5EF4-FFF2-40B4-BE49-F238E27FC236}">
                <a16:creationId xmlns:a16="http://schemas.microsoft.com/office/drawing/2014/main" id="{458328EA-F7A3-261A-9397-9F218BFC4921}"/>
              </a:ext>
            </a:extLst>
          </p:cNvPr>
          <p:cNvSpPr>
            <a:spLocks noGrp="1"/>
          </p:cNvSpPr>
          <p:nvPr>
            <p:ph idx="1"/>
          </p:nvPr>
        </p:nvSpPr>
        <p:spPr>
          <a:xfrm>
            <a:off x="156411" y="1127793"/>
            <a:ext cx="11983452" cy="4351338"/>
          </a:xfrm>
        </p:spPr>
        <p:txBody>
          <a:bodyPr/>
          <a:lstStyle/>
          <a:p>
            <a:pPr marL="0" indent="0" algn="ctr">
              <a:buNone/>
            </a:pPr>
            <a:r>
              <a:rPr lang="en-US" sz="3200" dirty="0"/>
              <a:t>When passed an array not declared using malloc, how do we know its size and how do we remove the hard coded variables?</a:t>
            </a:r>
          </a:p>
          <a:p>
            <a:endParaRPr lang="en-US" dirty="0"/>
          </a:p>
        </p:txBody>
      </p:sp>
      <p:pic>
        <p:nvPicPr>
          <p:cNvPr id="6" name="Picture 5">
            <a:extLst>
              <a:ext uri="{FF2B5EF4-FFF2-40B4-BE49-F238E27FC236}">
                <a16:creationId xmlns:a16="http://schemas.microsoft.com/office/drawing/2014/main" id="{D05F3044-710B-CBF9-8672-63F284D478F3}"/>
              </a:ext>
            </a:extLst>
          </p:cNvPr>
          <p:cNvPicPr>
            <a:picLocks noChangeAspect="1"/>
          </p:cNvPicPr>
          <p:nvPr/>
        </p:nvPicPr>
        <p:blipFill>
          <a:blip r:embed="rId2"/>
          <a:stretch>
            <a:fillRect/>
          </a:stretch>
        </p:blipFill>
        <p:spPr>
          <a:xfrm>
            <a:off x="2515484" y="2104477"/>
            <a:ext cx="6756853" cy="4593102"/>
          </a:xfrm>
          <a:prstGeom prst="rect">
            <a:avLst/>
          </a:prstGeom>
          <a:ln>
            <a:solidFill>
              <a:schemeClr val="tx1"/>
            </a:solidFill>
          </a:ln>
        </p:spPr>
      </p:pic>
      <p:sp>
        <p:nvSpPr>
          <p:cNvPr id="8" name="Oval 7">
            <a:extLst>
              <a:ext uri="{FF2B5EF4-FFF2-40B4-BE49-F238E27FC236}">
                <a16:creationId xmlns:a16="http://schemas.microsoft.com/office/drawing/2014/main" id="{8833FBF1-3FAD-6C16-3052-39E5B292EC5E}"/>
              </a:ext>
            </a:extLst>
          </p:cNvPr>
          <p:cNvSpPr/>
          <p:nvPr/>
        </p:nvSpPr>
        <p:spPr>
          <a:xfrm>
            <a:off x="5526113" y="3144252"/>
            <a:ext cx="296779" cy="26469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EC04B42-2755-E381-F9FC-2B5EDB84CE75}"/>
              </a:ext>
            </a:extLst>
          </p:cNvPr>
          <p:cNvSpPr/>
          <p:nvPr/>
        </p:nvSpPr>
        <p:spPr>
          <a:xfrm>
            <a:off x="5822500" y="2939715"/>
            <a:ext cx="296779" cy="26469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BEFC62-11CC-B9DD-4453-DAB9743CC2E2}"/>
              </a:ext>
            </a:extLst>
          </p:cNvPr>
          <p:cNvSpPr/>
          <p:nvPr/>
        </p:nvSpPr>
        <p:spPr>
          <a:xfrm>
            <a:off x="4006515" y="3585411"/>
            <a:ext cx="2201779" cy="1804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475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264F-5164-572E-8FD7-A0CE6BF528D2}"/>
              </a:ext>
            </a:extLst>
          </p:cNvPr>
          <p:cNvSpPr>
            <a:spLocks noGrp="1"/>
          </p:cNvSpPr>
          <p:nvPr>
            <p:ph type="title"/>
          </p:nvPr>
        </p:nvSpPr>
        <p:spPr>
          <a:xfrm>
            <a:off x="0" y="18255"/>
            <a:ext cx="10515600" cy="1325563"/>
          </a:xfrm>
        </p:spPr>
        <p:txBody>
          <a:bodyPr/>
          <a:lstStyle/>
          <a:p>
            <a:r>
              <a:rPr lang="en-US" u="sng" dirty="0"/>
              <a:t>Back to our question…</a:t>
            </a:r>
          </a:p>
        </p:txBody>
      </p:sp>
      <p:sp>
        <p:nvSpPr>
          <p:cNvPr id="3" name="Content Placeholder 2">
            <a:extLst>
              <a:ext uri="{FF2B5EF4-FFF2-40B4-BE49-F238E27FC236}">
                <a16:creationId xmlns:a16="http://schemas.microsoft.com/office/drawing/2014/main" id="{458328EA-F7A3-261A-9397-9F218BFC4921}"/>
              </a:ext>
            </a:extLst>
          </p:cNvPr>
          <p:cNvSpPr>
            <a:spLocks noGrp="1"/>
          </p:cNvSpPr>
          <p:nvPr>
            <p:ph idx="1"/>
          </p:nvPr>
        </p:nvSpPr>
        <p:spPr>
          <a:xfrm>
            <a:off x="156411" y="1127793"/>
            <a:ext cx="11983452" cy="4351338"/>
          </a:xfrm>
        </p:spPr>
        <p:txBody>
          <a:bodyPr/>
          <a:lstStyle/>
          <a:p>
            <a:pPr marL="0" indent="0" algn="ctr">
              <a:buNone/>
            </a:pPr>
            <a:r>
              <a:rPr lang="en-US" sz="3200" dirty="0"/>
              <a:t>When passed an array, how do we know its size and how do we remove the hard coded variables?</a:t>
            </a:r>
          </a:p>
          <a:p>
            <a:endParaRPr lang="en-US" dirty="0"/>
          </a:p>
        </p:txBody>
      </p:sp>
      <p:pic>
        <p:nvPicPr>
          <p:cNvPr id="5" name="Picture 4">
            <a:extLst>
              <a:ext uri="{FF2B5EF4-FFF2-40B4-BE49-F238E27FC236}">
                <a16:creationId xmlns:a16="http://schemas.microsoft.com/office/drawing/2014/main" id="{30B58CAA-BEE6-18BA-D03F-2B71297A083F}"/>
              </a:ext>
            </a:extLst>
          </p:cNvPr>
          <p:cNvPicPr>
            <a:picLocks noChangeAspect="1"/>
          </p:cNvPicPr>
          <p:nvPr/>
        </p:nvPicPr>
        <p:blipFill>
          <a:blip r:embed="rId3"/>
          <a:stretch>
            <a:fillRect/>
          </a:stretch>
        </p:blipFill>
        <p:spPr>
          <a:xfrm>
            <a:off x="795964" y="2156021"/>
            <a:ext cx="4836835" cy="4511842"/>
          </a:xfrm>
          <a:prstGeom prst="rect">
            <a:avLst/>
          </a:prstGeom>
          <a:ln>
            <a:solidFill>
              <a:schemeClr val="tx1"/>
            </a:solidFill>
          </a:ln>
        </p:spPr>
      </p:pic>
      <p:sp>
        <p:nvSpPr>
          <p:cNvPr id="7" name="Rectangle 6">
            <a:extLst>
              <a:ext uri="{FF2B5EF4-FFF2-40B4-BE49-F238E27FC236}">
                <a16:creationId xmlns:a16="http://schemas.microsoft.com/office/drawing/2014/main" id="{0FE573DC-5214-CD95-5F0B-76DE4AC2EFAF}"/>
              </a:ext>
            </a:extLst>
          </p:cNvPr>
          <p:cNvSpPr/>
          <p:nvPr/>
        </p:nvSpPr>
        <p:spPr>
          <a:xfrm>
            <a:off x="1965380" y="3371293"/>
            <a:ext cx="1848853" cy="1965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CB2EA0-7273-4079-CCFB-A4BFB090A15A}"/>
              </a:ext>
            </a:extLst>
          </p:cNvPr>
          <p:cNvSpPr/>
          <p:nvPr/>
        </p:nvSpPr>
        <p:spPr>
          <a:xfrm>
            <a:off x="3730012" y="2661430"/>
            <a:ext cx="1167063" cy="228600"/>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9FB91B2-C3A3-C231-BE2B-3B3937F833AC}"/>
              </a:ext>
            </a:extLst>
          </p:cNvPr>
          <p:cNvSpPr/>
          <p:nvPr/>
        </p:nvSpPr>
        <p:spPr>
          <a:xfrm>
            <a:off x="1668602" y="4478199"/>
            <a:ext cx="1564105" cy="228600"/>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B702FA-E883-52CB-63FA-1F1C35AEEDC8}"/>
              </a:ext>
            </a:extLst>
          </p:cNvPr>
          <p:cNvSpPr/>
          <p:nvPr/>
        </p:nvSpPr>
        <p:spPr>
          <a:xfrm>
            <a:off x="1668602" y="5358131"/>
            <a:ext cx="706966"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408C8AB-C3F5-3F26-4D38-D29A4D9DFE39}"/>
              </a:ext>
            </a:extLst>
          </p:cNvPr>
          <p:cNvSpPr/>
          <p:nvPr/>
        </p:nvSpPr>
        <p:spPr>
          <a:xfrm>
            <a:off x="4496023" y="5715780"/>
            <a:ext cx="850231" cy="228600"/>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ality is often disappointing by Swiftwin4ds on DeviantArt">
            <a:extLst>
              <a:ext uri="{FF2B5EF4-FFF2-40B4-BE49-F238E27FC236}">
                <a16:creationId xmlns:a16="http://schemas.microsoft.com/office/drawing/2014/main" id="{C611B711-005A-F720-81BE-B49D62E55F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3500" y="3996266"/>
            <a:ext cx="4603113" cy="24232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67CE854-25AB-076E-9E00-263899950EE5}"/>
              </a:ext>
            </a:extLst>
          </p:cNvPr>
          <p:cNvSpPr txBox="1"/>
          <p:nvPr/>
        </p:nvSpPr>
        <p:spPr>
          <a:xfrm>
            <a:off x="6413500" y="3371293"/>
            <a:ext cx="460311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When you find out you have to keep track of the array size in C yourself:</a:t>
            </a:r>
          </a:p>
        </p:txBody>
      </p:sp>
    </p:spTree>
    <p:extLst>
      <p:ext uri="{BB962C8B-B14F-4D97-AF65-F5344CB8AC3E}">
        <p14:creationId xmlns:p14="http://schemas.microsoft.com/office/powerpoint/2010/main" val="300049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76FB45-8775-27BB-D745-F031111D0AF2}"/>
              </a:ext>
            </a:extLst>
          </p:cNvPr>
          <p:cNvSpPr>
            <a:spLocks noGrp="1"/>
          </p:cNvSpPr>
          <p:nvPr>
            <p:ph idx="1"/>
          </p:nvPr>
        </p:nvSpPr>
        <p:spPr>
          <a:xfrm>
            <a:off x="838200" y="1343695"/>
            <a:ext cx="10515600" cy="2385872"/>
          </a:xfrm>
        </p:spPr>
        <p:style>
          <a:lnRef idx="2">
            <a:schemeClr val="dk1"/>
          </a:lnRef>
          <a:fillRef idx="1">
            <a:schemeClr val="lt1"/>
          </a:fillRef>
          <a:effectRef idx="0">
            <a:schemeClr val="dk1"/>
          </a:effectRef>
          <a:fontRef idx="minor">
            <a:schemeClr val="dk1"/>
          </a:fontRef>
        </p:style>
        <p:txBody>
          <a:bodyPr>
            <a:normAutofit/>
          </a:bodyPr>
          <a:lstStyle/>
          <a:p>
            <a:pPr marL="514350" indent="-514350" algn="ctr">
              <a:buFont typeface="+mj-lt"/>
              <a:buAutoNum type="arabicPeriod"/>
            </a:pPr>
            <a:r>
              <a:rPr lang="en-US" sz="3200" strike="sngStrike" dirty="0"/>
              <a:t>We are working with an array that has a pre-declared size:</a:t>
            </a:r>
          </a:p>
          <a:p>
            <a:pPr marL="0" indent="0" algn="ctr">
              <a:buNone/>
            </a:pPr>
            <a:r>
              <a:rPr lang="en-US" sz="2400" strike="sngStrike" dirty="0">
                <a:solidFill>
                  <a:srgbClr val="0000FF"/>
                </a:solidFill>
                <a:latin typeface="Cascadia Mono" panose="020B0609020000020004" pitchFamily="49" charset="0"/>
              </a:rPr>
              <a:t>int</a:t>
            </a:r>
            <a:r>
              <a:rPr lang="en-US" sz="2400" strike="sngStrike" dirty="0">
                <a:solidFill>
                  <a:srgbClr val="000000"/>
                </a:solidFill>
                <a:latin typeface="Cascadia Mono" panose="020B0609020000020004" pitchFamily="49" charset="0"/>
              </a:rPr>
              <a:t> x[3] = {1, 2, 3};</a:t>
            </a:r>
            <a:endParaRPr lang="en-US" sz="3600" strike="sngStrike" dirty="0">
              <a:solidFill>
                <a:srgbClr val="00B0F0"/>
              </a:solidFill>
            </a:endParaRPr>
          </a:p>
          <a:p>
            <a:pPr marL="0" indent="0" algn="ctr">
              <a:buNone/>
            </a:pPr>
            <a:r>
              <a:rPr lang="en-US" sz="3200" dirty="0"/>
              <a:t>2. We are working with an array created using malloc: </a:t>
            </a:r>
          </a:p>
          <a:p>
            <a:pPr marL="0" indent="0" algn="ctr">
              <a:buNone/>
            </a:pPr>
            <a:r>
              <a:rPr lang="en-US" sz="2400" dirty="0">
                <a:solidFill>
                  <a:srgbClr val="0000FF"/>
                </a:solidFill>
                <a:latin typeface="Cascadia Mono" panose="020B0609020000020004" pitchFamily="49" charset="0"/>
              </a:rPr>
              <a:t>int</a:t>
            </a:r>
            <a:r>
              <a:rPr lang="en-US" sz="2400" dirty="0">
                <a:solidFill>
                  <a:srgbClr val="000000"/>
                </a:solidFill>
                <a:latin typeface="Cascadia Mono" panose="020B0609020000020004" pitchFamily="49" charset="0"/>
              </a:rPr>
              <a:t>* solution = malloc(3 * </a:t>
            </a:r>
            <a:r>
              <a:rPr lang="en-US" sz="2400" dirty="0" err="1">
                <a:solidFill>
                  <a:srgbClr val="0000FF"/>
                </a:solidFill>
                <a:latin typeface="Cascadia Mono" panose="020B0609020000020004" pitchFamily="49" charset="0"/>
              </a:rPr>
              <a:t>sizeof</a:t>
            </a:r>
            <a:r>
              <a:rPr lang="en-US" sz="2400" dirty="0">
                <a:solidFill>
                  <a:srgbClr val="000000"/>
                </a:solidFill>
                <a:latin typeface="Cascadia Mono" panose="020B0609020000020004" pitchFamily="49" charset="0"/>
              </a:rPr>
              <a:t>(</a:t>
            </a:r>
            <a:r>
              <a:rPr lang="en-US" sz="2400" dirty="0">
                <a:solidFill>
                  <a:srgbClr val="0000FF"/>
                </a:solidFill>
                <a:latin typeface="Cascadia Mono" panose="020B0609020000020004" pitchFamily="49" charset="0"/>
              </a:rPr>
              <a:t>int</a:t>
            </a:r>
            <a:r>
              <a:rPr lang="en-US" sz="2400" dirty="0">
                <a:solidFill>
                  <a:srgbClr val="000000"/>
                </a:solidFill>
                <a:latin typeface="Cascadia Mono" panose="020B0609020000020004" pitchFamily="49" charset="0"/>
              </a:rPr>
              <a:t>));</a:t>
            </a:r>
            <a:endParaRPr lang="en-US" sz="3600" dirty="0"/>
          </a:p>
        </p:txBody>
      </p:sp>
      <p:sp>
        <p:nvSpPr>
          <p:cNvPr id="4" name="Title 1">
            <a:extLst>
              <a:ext uri="{FF2B5EF4-FFF2-40B4-BE49-F238E27FC236}">
                <a16:creationId xmlns:a16="http://schemas.microsoft.com/office/drawing/2014/main" id="{5AB69B8E-6232-0A22-4C2B-E4A025C29E94}"/>
              </a:ext>
            </a:extLst>
          </p:cNvPr>
          <p:cNvSpPr txBox="1">
            <a:spLocks/>
          </p:cNvSpPr>
          <p:nvPr/>
        </p:nvSpPr>
        <p:spPr>
          <a:xfrm>
            <a:off x="800100" y="173320"/>
            <a:ext cx="10515600" cy="959238"/>
          </a:xfrm>
          <a:prstGeom prst="rect">
            <a:avLst/>
          </a:prstGeom>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800" dirty="0">
                <a:solidFill>
                  <a:schemeClr val="bg1"/>
                </a:solidFill>
              </a:rPr>
              <a:t>Recall we started by trying to break the problem down into two parts:</a:t>
            </a:r>
          </a:p>
        </p:txBody>
      </p:sp>
      <p:sp>
        <p:nvSpPr>
          <p:cNvPr id="7" name="Title 1">
            <a:extLst>
              <a:ext uri="{FF2B5EF4-FFF2-40B4-BE49-F238E27FC236}">
                <a16:creationId xmlns:a16="http://schemas.microsoft.com/office/drawing/2014/main" id="{B36E364E-20CF-20AE-E19B-E3BDF7E426F6}"/>
              </a:ext>
            </a:extLst>
          </p:cNvPr>
          <p:cNvSpPr txBox="1">
            <a:spLocks/>
          </p:cNvSpPr>
          <p:nvPr/>
        </p:nvSpPr>
        <p:spPr>
          <a:xfrm>
            <a:off x="770466" y="3894420"/>
            <a:ext cx="10515600" cy="959238"/>
          </a:xfrm>
          <a:prstGeom prst="rect">
            <a:avLst/>
          </a:prstGeom>
        </p:spPr>
        <p:style>
          <a:lnRef idx="3">
            <a:schemeClr val="lt1"/>
          </a:lnRef>
          <a:fillRef idx="1">
            <a:schemeClr val="accent5"/>
          </a:fillRef>
          <a:effectRef idx="1">
            <a:schemeClr val="accent5"/>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800" dirty="0">
                <a:solidFill>
                  <a:schemeClr val="bg1"/>
                </a:solidFill>
              </a:rPr>
              <a:t>What about for the second case?</a:t>
            </a:r>
          </a:p>
        </p:txBody>
      </p:sp>
      <p:sp>
        <p:nvSpPr>
          <p:cNvPr id="9" name="Content Placeholder 2">
            <a:extLst>
              <a:ext uri="{FF2B5EF4-FFF2-40B4-BE49-F238E27FC236}">
                <a16:creationId xmlns:a16="http://schemas.microsoft.com/office/drawing/2014/main" id="{30712922-51FB-3632-48DD-F491B79C89B0}"/>
              </a:ext>
            </a:extLst>
          </p:cNvPr>
          <p:cNvSpPr txBox="1">
            <a:spLocks/>
          </p:cNvSpPr>
          <p:nvPr/>
        </p:nvSpPr>
        <p:spPr>
          <a:xfrm>
            <a:off x="770466" y="5037665"/>
            <a:ext cx="10515600" cy="150706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en-US" sz="3600" dirty="0"/>
              <a:t>Short Answer: Malloc creates new memory by giving you a pointer to a memory address. You need to keep track, no function can double check for you later.</a:t>
            </a:r>
          </a:p>
        </p:txBody>
      </p:sp>
    </p:spTree>
    <p:extLst>
      <p:ext uri="{BB962C8B-B14F-4D97-AF65-F5344CB8AC3E}">
        <p14:creationId xmlns:p14="http://schemas.microsoft.com/office/powerpoint/2010/main" val="300237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38200" y="1411666"/>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strike="sngStrike" dirty="0">
                <a:effectLst>
                  <a:outerShdw blurRad="38100" dist="38100" dir="2700000" algn="tl">
                    <a:srgbClr val="000000">
                      <a:alpha val="43137"/>
                    </a:srgbClr>
                  </a:outerShdw>
                </a:effectLst>
              </a:rPr>
              <a:t>1. Memory Organization and Malloc</a:t>
            </a:r>
          </a:p>
        </p:txBody>
      </p:sp>
      <p:sp>
        <p:nvSpPr>
          <p:cNvPr id="4" name="Title 1">
            <a:extLst>
              <a:ext uri="{FF2B5EF4-FFF2-40B4-BE49-F238E27FC236}">
                <a16:creationId xmlns:a16="http://schemas.microsoft.com/office/drawing/2014/main" id="{2A5E5307-D978-36AF-F83D-D0EFD2AA9642}"/>
              </a:ext>
            </a:extLst>
          </p:cNvPr>
          <p:cNvSpPr txBox="1">
            <a:spLocks/>
          </p:cNvSpPr>
          <p:nvPr/>
        </p:nvSpPr>
        <p:spPr>
          <a:xfrm>
            <a:off x="838200" y="2958517"/>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strike="sngStrike" dirty="0">
                <a:effectLst>
                  <a:outerShdw blurRad="38100" dist="38100" dir="2700000" algn="tl">
                    <a:srgbClr val="000000">
                      <a:alpha val="43137"/>
                    </a:srgbClr>
                  </a:outerShdw>
                </a:effectLst>
              </a:rPr>
              <a:t>2. Tracking Array Size</a:t>
            </a:r>
          </a:p>
        </p:txBody>
      </p:sp>
      <p:sp>
        <p:nvSpPr>
          <p:cNvPr id="3" name="Title 1">
            <a:extLst>
              <a:ext uri="{FF2B5EF4-FFF2-40B4-BE49-F238E27FC236}">
                <a16:creationId xmlns:a16="http://schemas.microsoft.com/office/drawing/2014/main" id="{72651BD0-BD73-02F8-B368-60BA8DB8612E}"/>
              </a:ext>
            </a:extLst>
          </p:cNvPr>
          <p:cNvSpPr txBox="1">
            <a:spLocks/>
          </p:cNvSpPr>
          <p:nvPr/>
        </p:nvSpPr>
        <p:spPr>
          <a:xfrm>
            <a:off x="838200" y="4505368"/>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effectLst>
                  <a:outerShdw blurRad="38100" dist="38100" dir="2700000" algn="tl">
                    <a:srgbClr val="000000">
                      <a:alpha val="43137"/>
                    </a:srgbClr>
                  </a:outerShdw>
                </a:effectLst>
              </a:rPr>
              <a:t>3. More on Arrays and Multi-dimensional Arrays</a:t>
            </a:r>
          </a:p>
        </p:txBody>
      </p:sp>
      <p:sp>
        <p:nvSpPr>
          <p:cNvPr id="6" name="TextBox 5">
            <a:extLst>
              <a:ext uri="{FF2B5EF4-FFF2-40B4-BE49-F238E27FC236}">
                <a16:creationId xmlns:a16="http://schemas.microsoft.com/office/drawing/2014/main" id="{E9FE9ABD-F746-5DC7-FA40-E4329743A79B}"/>
              </a:ext>
            </a:extLst>
          </p:cNvPr>
          <p:cNvSpPr txBox="1"/>
          <p:nvPr/>
        </p:nvSpPr>
        <p:spPr>
          <a:xfrm>
            <a:off x="2147792" y="259847"/>
            <a:ext cx="8105652" cy="769441"/>
          </a:xfrm>
          <a:prstGeom prst="rect">
            <a:avLst/>
          </a:prstGeom>
          <a:noFill/>
        </p:spPr>
        <p:txBody>
          <a:bodyPr wrap="square">
            <a:spAutoFit/>
          </a:bodyPr>
          <a:lstStyle/>
          <a:p>
            <a:pPr algn="ctr"/>
            <a:r>
              <a:rPr lang="en-US" sz="4400" b="1" u="sng" dirty="0"/>
              <a:t>Memory Allocation Lecture Topics</a:t>
            </a:r>
          </a:p>
        </p:txBody>
      </p:sp>
    </p:spTree>
    <p:extLst>
      <p:ext uri="{BB962C8B-B14F-4D97-AF65-F5344CB8AC3E}">
        <p14:creationId xmlns:p14="http://schemas.microsoft.com/office/powerpoint/2010/main" val="4085301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D264-AF04-E5AC-7FC8-5F6366BBCF65}"/>
              </a:ext>
            </a:extLst>
          </p:cNvPr>
          <p:cNvSpPr>
            <a:spLocks noGrp="1"/>
          </p:cNvSpPr>
          <p:nvPr>
            <p:ph type="title"/>
          </p:nvPr>
        </p:nvSpPr>
        <p:spPr>
          <a:xfrm>
            <a:off x="838200" y="132347"/>
            <a:ext cx="10515600" cy="1325563"/>
          </a:xfrm>
        </p:spPr>
        <p:style>
          <a:lnRef idx="2">
            <a:schemeClr val="accent1"/>
          </a:lnRef>
          <a:fillRef idx="1">
            <a:schemeClr val="lt1"/>
          </a:fillRef>
          <a:effectRef idx="0">
            <a:schemeClr val="accent1"/>
          </a:effectRef>
          <a:fontRef idx="minor">
            <a:schemeClr val="dk1"/>
          </a:fontRef>
        </p:style>
        <p:txBody>
          <a:bodyPr>
            <a:normAutofit/>
          </a:bodyPr>
          <a:lstStyle/>
          <a:p>
            <a:pPr algn="ctr"/>
            <a:r>
              <a:rPr lang="en-US" sz="4000" i="1" dirty="0"/>
              <a:t>Another Question: Who lives in the empty array?</a:t>
            </a:r>
          </a:p>
        </p:txBody>
      </p:sp>
      <p:pic>
        <p:nvPicPr>
          <p:cNvPr id="10" name="Picture 9">
            <a:extLst>
              <a:ext uri="{FF2B5EF4-FFF2-40B4-BE49-F238E27FC236}">
                <a16:creationId xmlns:a16="http://schemas.microsoft.com/office/drawing/2014/main" id="{4B7F6947-3668-F501-B3DF-F098E2C3BAC2}"/>
              </a:ext>
            </a:extLst>
          </p:cNvPr>
          <p:cNvPicPr>
            <a:picLocks noChangeAspect="1"/>
          </p:cNvPicPr>
          <p:nvPr/>
        </p:nvPicPr>
        <p:blipFill>
          <a:blip r:embed="rId2"/>
          <a:stretch>
            <a:fillRect/>
          </a:stretch>
        </p:blipFill>
        <p:spPr>
          <a:xfrm>
            <a:off x="8851009" y="3898288"/>
            <a:ext cx="2286000" cy="2000250"/>
          </a:xfrm>
          <a:prstGeom prst="rect">
            <a:avLst/>
          </a:prstGeom>
        </p:spPr>
      </p:pic>
      <p:pic>
        <p:nvPicPr>
          <p:cNvPr id="4" name="Picture 3">
            <a:extLst>
              <a:ext uri="{FF2B5EF4-FFF2-40B4-BE49-F238E27FC236}">
                <a16:creationId xmlns:a16="http://schemas.microsoft.com/office/drawing/2014/main" id="{3D4372A9-3952-DE29-C5E3-00EE6502B586}"/>
              </a:ext>
            </a:extLst>
          </p:cNvPr>
          <p:cNvPicPr>
            <a:picLocks noChangeAspect="1"/>
          </p:cNvPicPr>
          <p:nvPr/>
        </p:nvPicPr>
        <p:blipFill>
          <a:blip r:embed="rId3"/>
          <a:stretch>
            <a:fillRect/>
          </a:stretch>
        </p:blipFill>
        <p:spPr>
          <a:xfrm>
            <a:off x="461433" y="1943100"/>
            <a:ext cx="5983412" cy="3081867"/>
          </a:xfrm>
          <a:prstGeom prst="rect">
            <a:avLst/>
          </a:prstGeom>
          <a:ln>
            <a:solidFill>
              <a:schemeClr val="tx1"/>
            </a:solidFill>
          </a:ln>
        </p:spPr>
      </p:pic>
      <p:pic>
        <p:nvPicPr>
          <p:cNvPr id="8" name="Picture 7">
            <a:extLst>
              <a:ext uri="{FF2B5EF4-FFF2-40B4-BE49-F238E27FC236}">
                <a16:creationId xmlns:a16="http://schemas.microsoft.com/office/drawing/2014/main" id="{2315FAE7-A61A-9912-DFC2-9E9FCEEB3BB9}"/>
              </a:ext>
            </a:extLst>
          </p:cNvPr>
          <p:cNvPicPr>
            <a:picLocks noChangeAspect="1"/>
          </p:cNvPicPr>
          <p:nvPr/>
        </p:nvPicPr>
        <p:blipFill>
          <a:blip r:embed="rId4"/>
          <a:stretch>
            <a:fillRect/>
          </a:stretch>
        </p:blipFill>
        <p:spPr>
          <a:xfrm>
            <a:off x="7993063" y="2646446"/>
            <a:ext cx="3648075" cy="1095375"/>
          </a:xfrm>
          <a:prstGeom prst="rect">
            <a:avLst/>
          </a:prstGeom>
        </p:spPr>
      </p:pic>
      <p:sp>
        <p:nvSpPr>
          <p:cNvPr id="11" name="Arrow: Right 10">
            <a:extLst>
              <a:ext uri="{FF2B5EF4-FFF2-40B4-BE49-F238E27FC236}">
                <a16:creationId xmlns:a16="http://schemas.microsoft.com/office/drawing/2014/main" id="{51C2CACC-E570-FA2D-DB7C-48F0415D8D68}"/>
              </a:ext>
            </a:extLst>
          </p:cNvPr>
          <p:cNvSpPr/>
          <p:nvPr/>
        </p:nvSpPr>
        <p:spPr>
          <a:xfrm>
            <a:off x="6629400" y="2751667"/>
            <a:ext cx="1011767" cy="8085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226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AF05-56F6-A8E7-ED67-11A9CB3DC466}"/>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normAutofit/>
          </a:bodyPr>
          <a:lstStyle/>
          <a:p>
            <a:pPr algn="ctr"/>
            <a:r>
              <a:rPr lang="en-US" sz="4000" dirty="0"/>
              <a:t>Creating arrays AND setting their values: </a:t>
            </a:r>
            <a:r>
              <a:rPr lang="en-US" sz="4000" dirty="0" err="1"/>
              <a:t>calloc</a:t>
            </a:r>
            <a:endParaRPr lang="en-US" sz="4000" dirty="0"/>
          </a:p>
        </p:txBody>
      </p:sp>
      <p:sp>
        <p:nvSpPr>
          <p:cNvPr id="3" name="Content Placeholder 2">
            <a:extLst>
              <a:ext uri="{FF2B5EF4-FFF2-40B4-BE49-F238E27FC236}">
                <a16:creationId xmlns:a16="http://schemas.microsoft.com/office/drawing/2014/main" id="{ACE56DE3-7D1B-A7D4-96D6-99CA6ED35663}"/>
              </a:ext>
            </a:extLst>
          </p:cNvPr>
          <p:cNvSpPr>
            <a:spLocks noGrp="1"/>
          </p:cNvSpPr>
          <p:nvPr>
            <p:ph idx="1"/>
          </p:nvPr>
        </p:nvSpPr>
        <p:spPr>
          <a:xfrm>
            <a:off x="317966" y="1821615"/>
            <a:ext cx="5845767" cy="4671260"/>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solidFill>
                  <a:srgbClr val="00B0F0"/>
                </a:solidFill>
                <a:latin typeface="Consolas" panose="020B0609020204030204" pitchFamily="49" charset="0"/>
              </a:rPr>
              <a:t>#include &lt;</a:t>
            </a:r>
            <a:r>
              <a:rPr lang="en-US" dirty="0" err="1">
                <a:solidFill>
                  <a:srgbClr val="00B0F0"/>
                </a:solidFill>
                <a:latin typeface="Consolas" panose="020B0609020204030204" pitchFamily="49" charset="0"/>
              </a:rPr>
              <a:t>stdlib.h</a:t>
            </a:r>
            <a:r>
              <a:rPr lang="en-US" dirty="0">
                <a:solidFill>
                  <a:srgbClr val="00B0F0"/>
                </a:solidFill>
                <a:latin typeface="Consolas" panose="020B0609020204030204" pitchFamily="49" charset="0"/>
              </a:rPr>
              <a:t>&gt;</a:t>
            </a:r>
          </a:p>
          <a:p>
            <a:pPr marL="0" indent="0">
              <a:buNone/>
            </a:pPr>
            <a:r>
              <a:rPr lang="en-US" dirty="0">
                <a:solidFill>
                  <a:srgbClr val="00B0F0"/>
                </a:solidFill>
                <a:latin typeface="Consolas" panose="020B0609020204030204" pitchFamily="49" charset="0"/>
              </a:rPr>
              <a:t>void* </a:t>
            </a:r>
            <a:r>
              <a:rPr lang="en-US" dirty="0" err="1">
                <a:solidFill>
                  <a:srgbClr val="00B0F0"/>
                </a:solidFill>
                <a:latin typeface="Consolas" panose="020B0609020204030204" pitchFamily="49" charset="0"/>
              </a:rPr>
              <a:t>calloc</a:t>
            </a:r>
            <a:r>
              <a:rPr lang="en-US" dirty="0">
                <a:solidFill>
                  <a:srgbClr val="00B0F0"/>
                </a:solidFill>
                <a:latin typeface="Consolas" panose="020B0609020204030204" pitchFamily="49" charset="0"/>
              </a:rPr>
              <a:t>(</a:t>
            </a:r>
            <a:r>
              <a:rPr lang="en-US" dirty="0" err="1">
                <a:solidFill>
                  <a:srgbClr val="00B0F0"/>
                </a:solidFill>
                <a:latin typeface="Consolas" panose="020B0609020204030204" pitchFamily="49" charset="0"/>
              </a:rPr>
              <a:t>size_t</a:t>
            </a:r>
            <a:r>
              <a:rPr lang="en-US" dirty="0">
                <a:solidFill>
                  <a:srgbClr val="00B0F0"/>
                </a:solidFill>
                <a:latin typeface="Consolas" panose="020B0609020204030204" pitchFamily="49" charset="0"/>
              </a:rPr>
              <a:t> </a:t>
            </a:r>
            <a:r>
              <a:rPr lang="en-US" dirty="0" err="1">
                <a:solidFill>
                  <a:srgbClr val="00B0F0"/>
                </a:solidFill>
                <a:latin typeface="Consolas" panose="020B0609020204030204" pitchFamily="49" charset="0"/>
              </a:rPr>
              <a:t>nmemb</a:t>
            </a:r>
            <a:r>
              <a:rPr lang="en-US" dirty="0">
                <a:solidFill>
                  <a:srgbClr val="00B0F0"/>
                </a:solidFill>
                <a:latin typeface="Consolas" panose="020B0609020204030204" pitchFamily="49" charset="0"/>
              </a:rPr>
              <a:t>, </a:t>
            </a:r>
            <a:r>
              <a:rPr lang="en-US" dirty="0" err="1">
                <a:solidFill>
                  <a:srgbClr val="00B0F0"/>
                </a:solidFill>
                <a:latin typeface="Consolas" panose="020B0609020204030204" pitchFamily="49" charset="0"/>
              </a:rPr>
              <a:t>size_t</a:t>
            </a:r>
            <a:r>
              <a:rPr lang="en-US" dirty="0">
                <a:solidFill>
                  <a:srgbClr val="00B0F0"/>
                </a:solidFill>
                <a:latin typeface="Consolas" panose="020B0609020204030204" pitchFamily="49" charset="0"/>
              </a:rPr>
              <a:t> size);</a:t>
            </a:r>
            <a:endParaRPr lang="en-US" dirty="0">
              <a:solidFill>
                <a:srgbClr val="00B0F0"/>
              </a:solidFill>
            </a:endParaRPr>
          </a:p>
          <a:p>
            <a:endParaRPr lang="en-US" dirty="0"/>
          </a:p>
          <a:p>
            <a:r>
              <a:rPr lang="en-US" dirty="0" err="1"/>
              <a:t>calloc</a:t>
            </a:r>
            <a:r>
              <a:rPr lang="en-US" dirty="0"/>
              <a:t>() is implemented in terms of malloc()</a:t>
            </a:r>
          </a:p>
          <a:p>
            <a:pPr lvl="1"/>
            <a:r>
              <a:rPr lang="en-US" b="1" dirty="0" err="1">
                <a:solidFill>
                  <a:srgbClr val="00B0F0"/>
                </a:solidFill>
              </a:rPr>
              <a:t>calloc</a:t>
            </a:r>
            <a:r>
              <a:rPr lang="en-US" b="1" dirty="0">
                <a:solidFill>
                  <a:srgbClr val="00B0F0"/>
                </a:solidFill>
              </a:rPr>
              <a:t>() also initializes the content to 0</a:t>
            </a:r>
          </a:p>
          <a:p>
            <a:endParaRPr lang="en-US" dirty="0"/>
          </a:p>
        </p:txBody>
      </p:sp>
      <p:pic>
        <p:nvPicPr>
          <p:cNvPr id="7" name="Picture 6">
            <a:extLst>
              <a:ext uri="{FF2B5EF4-FFF2-40B4-BE49-F238E27FC236}">
                <a16:creationId xmlns:a16="http://schemas.microsoft.com/office/drawing/2014/main" id="{867DAEC8-9E98-23C8-311B-97AAC5FA7040}"/>
              </a:ext>
            </a:extLst>
          </p:cNvPr>
          <p:cNvPicPr>
            <a:picLocks noChangeAspect="1"/>
          </p:cNvPicPr>
          <p:nvPr/>
        </p:nvPicPr>
        <p:blipFill>
          <a:blip r:embed="rId2"/>
          <a:stretch>
            <a:fillRect/>
          </a:stretch>
        </p:blipFill>
        <p:spPr>
          <a:xfrm>
            <a:off x="6282268" y="1854200"/>
            <a:ext cx="5756401" cy="2942072"/>
          </a:xfrm>
          <a:prstGeom prst="rect">
            <a:avLst/>
          </a:prstGeom>
          <a:ln>
            <a:solidFill>
              <a:schemeClr val="tx1"/>
            </a:solidFill>
          </a:ln>
        </p:spPr>
      </p:pic>
      <p:sp>
        <p:nvSpPr>
          <p:cNvPr id="8" name="Rectangle 7">
            <a:extLst>
              <a:ext uri="{FF2B5EF4-FFF2-40B4-BE49-F238E27FC236}">
                <a16:creationId xmlns:a16="http://schemas.microsoft.com/office/drawing/2014/main" id="{C2870224-B040-650D-C3A7-3572855C50C5}"/>
              </a:ext>
            </a:extLst>
          </p:cNvPr>
          <p:cNvSpPr/>
          <p:nvPr/>
        </p:nvSpPr>
        <p:spPr>
          <a:xfrm>
            <a:off x="7874000" y="4224866"/>
            <a:ext cx="4000034" cy="2201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1ECCAF9B-82D8-15FB-E023-416D12EBE0CD}"/>
              </a:ext>
            </a:extLst>
          </p:cNvPr>
          <p:cNvSpPr/>
          <p:nvPr/>
        </p:nvSpPr>
        <p:spPr>
          <a:xfrm rot="5400000">
            <a:off x="9050867" y="4855633"/>
            <a:ext cx="533400" cy="6180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AFA3DEA-7BA6-6FB5-7CB8-2C2BA8F183BF}"/>
              </a:ext>
            </a:extLst>
          </p:cNvPr>
          <p:cNvPicPr>
            <a:picLocks noChangeAspect="1"/>
          </p:cNvPicPr>
          <p:nvPr/>
        </p:nvPicPr>
        <p:blipFill>
          <a:blip r:embed="rId3"/>
          <a:stretch>
            <a:fillRect/>
          </a:stretch>
        </p:blipFill>
        <p:spPr>
          <a:xfrm>
            <a:off x="8286220" y="5533061"/>
            <a:ext cx="2257425" cy="1076325"/>
          </a:xfrm>
          <a:prstGeom prst="rect">
            <a:avLst/>
          </a:prstGeom>
        </p:spPr>
      </p:pic>
    </p:spTree>
    <p:extLst>
      <p:ext uri="{BB962C8B-B14F-4D97-AF65-F5344CB8AC3E}">
        <p14:creationId xmlns:p14="http://schemas.microsoft.com/office/powerpoint/2010/main" val="341603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08BA-2D88-1A59-4960-6C81A259B007}"/>
              </a:ext>
            </a:extLst>
          </p:cNvPr>
          <p:cNvSpPr>
            <a:spLocks noGrp="1"/>
          </p:cNvSpPr>
          <p:nvPr>
            <p:ph type="title"/>
          </p:nvPr>
        </p:nvSpPr>
        <p:spPr>
          <a:xfrm>
            <a:off x="795866" y="94192"/>
            <a:ext cx="10515600" cy="1325563"/>
          </a:xfrm>
        </p:spPr>
        <p:style>
          <a:lnRef idx="2">
            <a:schemeClr val="accent5"/>
          </a:lnRef>
          <a:fillRef idx="1">
            <a:schemeClr val="lt1"/>
          </a:fillRef>
          <a:effectRef idx="0">
            <a:schemeClr val="accent5"/>
          </a:effectRef>
          <a:fontRef idx="minor">
            <a:schemeClr val="dk1"/>
          </a:fontRef>
        </p:style>
        <p:txBody>
          <a:bodyPr/>
          <a:lstStyle/>
          <a:p>
            <a:pPr algn="ctr"/>
            <a:r>
              <a:rPr lang="en-US" dirty="0"/>
              <a:t>Adjusting array size</a:t>
            </a:r>
          </a:p>
        </p:txBody>
      </p:sp>
      <p:sp>
        <p:nvSpPr>
          <p:cNvPr id="3" name="Content Placeholder 2">
            <a:extLst>
              <a:ext uri="{FF2B5EF4-FFF2-40B4-BE49-F238E27FC236}">
                <a16:creationId xmlns:a16="http://schemas.microsoft.com/office/drawing/2014/main" id="{6344A36B-E438-6B05-78F5-E61AAB483F64}"/>
              </a:ext>
            </a:extLst>
          </p:cNvPr>
          <p:cNvSpPr>
            <a:spLocks noGrp="1"/>
          </p:cNvSpPr>
          <p:nvPr>
            <p:ph idx="1"/>
          </p:nvPr>
        </p:nvSpPr>
        <p:spPr>
          <a:xfrm>
            <a:off x="838200" y="1519767"/>
            <a:ext cx="10515600" cy="5244041"/>
          </a:xfrm>
        </p:spPr>
        <p:style>
          <a:lnRef idx="2">
            <a:schemeClr val="dk1"/>
          </a:lnRef>
          <a:fillRef idx="1">
            <a:schemeClr val="lt1"/>
          </a:fillRef>
          <a:effectRef idx="0">
            <a:schemeClr val="dk1"/>
          </a:effectRef>
          <a:fontRef idx="minor">
            <a:schemeClr val="dk1"/>
          </a:fontRef>
        </p:style>
        <p:txBody>
          <a:bodyPr>
            <a:normAutofit/>
          </a:bodyPr>
          <a:lstStyle/>
          <a:p>
            <a:pPr marL="0" lvl="0" indent="0">
              <a:buNone/>
            </a:pPr>
            <a:r>
              <a:rPr lang="en-US" dirty="0">
                <a:solidFill>
                  <a:srgbClr val="00B0F0"/>
                </a:solidFill>
                <a:latin typeface="Consolas" panose="020B0609020204030204" pitchFamily="49" charset="0"/>
              </a:rPr>
              <a:t>#include &lt;</a:t>
            </a:r>
            <a:r>
              <a:rPr lang="en-US" dirty="0" err="1">
                <a:solidFill>
                  <a:srgbClr val="00B0F0"/>
                </a:solidFill>
                <a:latin typeface="Consolas" panose="020B0609020204030204" pitchFamily="49" charset="0"/>
              </a:rPr>
              <a:t>stdlib.h</a:t>
            </a:r>
            <a:r>
              <a:rPr lang="en-US" dirty="0">
                <a:solidFill>
                  <a:srgbClr val="00B0F0"/>
                </a:solidFill>
                <a:latin typeface="Consolas" panose="020B0609020204030204" pitchFamily="49" charset="0"/>
              </a:rPr>
              <a:t>&gt;</a:t>
            </a:r>
          </a:p>
          <a:p>
            <a:pPr marL="0" indent="0">
              <a:buNone/>
            </a:pPr>
            <a:r>
              <a:rPr lang="en-US" dirty="0">
                <a:solidFill>
                  <a:srgbClr val="00B0F0"/>
                </a:solidFill>
                <a:latin typeface="Consolas" panose="020B0609020204030204" pitchFamily="49" charset="0"/>
              </a:rPr>
              <a:t>void* </a:t>
            </a:r>
            <a:r>
              <a:rPr lang="en-US" dirty="0" err="1">
                <a:solidFill>
                  <a:srgbClr val="00B0F0"/>
                </a:solidFill>
                <a:latin typeface="Consolas" panose="020B0609020204030204" pitchFamily="49" charset="0"/>
              </a:rPr>
              <a:t>realloc</a:t>
            </a:r>
            <a:r>
              <a:rPr lang="en-US" dirty="0">
                <a:solidFill>
                  <a:srgbClr val="00B0F0"/>
                </a:solidFill>
                <a:latin typeface="Consolas" panose="020B0609020204030204" pitchFamily="49" charset="0"/>
              </a:rPr>
              <a:t> (void* </a:t>
            </a:r>
            <a:r>
              <a:rPr lang="en-US" dirty="0" err="1">
                <a:solidFill>
                  <a:srgbClr val="00B0F0"/>
                </a:solidFill>
                <a:latin typeface="Consolas" panose="020B0609020204030204" pitchFamily="49" charset="0"/>
              </a:rPr>
              <a:t>ptr</a:t>
            </a:r>
            <a:r>
              <a:rPr lang="en-US" dirty="0">
                <a:solidFill>
                  <a:srgbClr val="00B0F0"/>
                </a:solidFill>
                <a:latin typeface="Consolas" panose="020B0609020204030204" pitchFamily="49" charset="0"/>
              </a:rPr>
              <a:t>, </a:t>
            </a:r>
            <a:r>
              <a:rPr lang="en-US" dirty="0" err="1">
                <a:solidFill>
                  <a:srgbClr val="00B0F0"/>
                </a:solidFill>
                <a:latin typeface="Consolas" panose="020B0609020204030204" pitchFamily="49" charset="0"/>
              </a:rPr>
              <a:t>size_t</a:t>
            </a:r>
            <a:r>
              <a:rPr lang="en-US" dirty="0">
                <a:solidFill>
                  <a:srgbClr val="00B0F0"/>
                </a:solidFill>
                <a:latin typeface="Consolas" panose="020B0609020204030204" pitchFamily="49" charset="0"/>
              </a:rPr>
              <a:t> size);</a:t>
            </a:r>
          </a:p>
          <a:p>
            <a:pPr marL="0" indent="0">
              <a:buNone/>
            </a:pPr>
            <a:endParaRPr lang="en-US" sz="1200" dirty="0"/>
          </a:p>
          <a:p>
            <a:pPr marL="0" indent="0">
              <a:buNone/>
            </a:pPr>
            <a:r>
              <a:rPr lang="en-US" dirty="0"/>
              <a:t>What if you change your mind? </a:t>
            </a:r>
          </a:p>
          <a:p>
            <a:pPr lvl="1"/>
            <a:r>
              <a:rPr lang="en-US" dirty="0"/>
              <a:t>You requested 100 bytes, but now need 200!</a:t>
            </a:r>
          </a:p>
          <a:p>
            <a:endParaRPr lang="en-US" dirty="0"/>
          </a:p>
          <a:p>
            <a:endParaRPr lang="en-US" dirty="0"/>
          </a:p>
          <a:p>
            <a:endParaRPr lang="en-US" dirty="0"/>
          </a:p>
          <a:p>
            <a:r>
              <a:rPr lang="en-US" dirty="0"/>
              <a:t>Before a call to </a:t>
            </a:r>
            <a:r>
              <a:rPr lang="en-US" dirty="0" err="1"/>
              <a:t>realloc</a:t>
            </a:r>
            <a:r>
              <a:rPr lang="en-US" dirty="0"/>
              <a:t>(p, size), p must be</a:t>
            </a:r>
          </a:p>
          <a:p>
            <a:pPr lvl="1"/>
            <a:r>
              <a:rPr lang="en-US" dirty="0"/>
              <a:t> A pointer returned by a previous malloc/</a:t>
            </a:r>
            <a:r>
              <a:rPr lang="en-US" dirty="0" err="1"/>
              <a:t>calloc</a:t>
            </a:r>
            <a:r>
              <a:rPr lang="en-US" dirty="0"/>
              <a:t>/</a:t>
            </a:r>
            <a:r>
              <a:rPr lang="en-US" dirty="0" err="1"/>
              <a:t>realloc</a:t>
            </a:r>
            <a:endParaRPr lang="en-US" dirty="0"/>
          </a:p>
          <a:p>
            <a:pPr lvl="1"/>
            <a:r>
              <a:rPr lang="en-US" dirty="0"/>
              <a:t>Or NULL, in which case the call is equivalent to malloc(size)</a:t>
            </a:r>
          </a:p>
          <a:p>
            <a:endParaRPr lang="en-US" dirty="0"/>
          </a:p>
        </p:txBody>
      </p:sp>
      <p:sp>
        <p:nvSpPr>
          <p:cNvPr id="4" name="Shape 671">
            <a:extLst>
              <a:ext uri="{FF2B5EF4-FFF2-40B4-BE49-F238E27FC236}">
                <a16:creationId xmlns:a16="http://schemas.microsoft.com/office/drawing/2014/main" id="{55424BAC-D30F-349A-3D45-16B5FFDB1E1E}"/>
              </a:ext>
            </a:extLst>
          </p:cNvPr>
          <p:cNvSpPr/>
          <p:nvPr/>
        </p:nvSpPr>
        <p:spPr>
          <a:xfrm>
            <a:off x="1184265" y="3670244"/>
            <a:ext cx="9823469" cy="1508105"/>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wrap="square" lIns="0" tIns="0" rIns="0" bIns="0" anchor="ctr">
            <a:spAutoFit/>
          </a:bodyPr>
          <a:lstStyle/>
          <a:p>
            <a:pPr lvl="0" algn="l" defTabSz="457200">
              <a:defRPr sz="1800"/>
            </a:pPr>
            <a:endParaRPr sz="2400" dirty="0">
              <a:solidFill>
                <a:srgbClr val="00B0F0"/>
              </a:solidFill>
              <a:latin typeface="Courier"/>
              <a:ea typeface="Courier"/>
              <a:cs typeface="Courier"/>
              <a:sym typeface="Courier"/>
            </a:endParaRPr>
          </a:p>
          <a:p>
            <a:pPr lvl="0" algn="l" defTabSz="457200">
              <a:defRPr sz="1800"/>
            </a:pPr>
            <a:r>
              <a:rPr lang="en-US" sz="1600" dirty="0">
                <a:solidFill>
                  <a:srgbClr val="00B0F0"/>
                </a:solidFill>
                <a:latin typeface="Courier"/>
                <a:ea typeface="Courier"/>
                <a:cs typeface="Courier"/>
                <a:sym typeface="Courier"/>
              </a:rPr>
              <a:t>char</a:t>
            </a:r>
            <a:r>
              <a:rPr sz="1600" dirty="0">
                <a:solidFill>
                  <a:srgbClr val="00B0F0"/>
                </a:solidFill>
                <a:latin typeface="Courier"/>
                <a:ea typeface="Courier"/>
                <a:cs typeface="Courier"/>
                <a:sym typeface="Courier"/>
              </a:rPr>
              <a:t>* p</a:t>
            </a:r>
            <a:r>
              <a:rPr lang="en-US" sz="1600" dirty="0">
                <a:solidFill>
                  <a:srgbClr val="00B0F0"/>
                </a:solidFill>
                <a:latin typeface="Courier"/>
                <a:ea typeface="Courier"/>
                <a:cs typeface="Courier"/>
                <a:sym typeface="Courier"/>
              </a:rPr>
              <a:t> = </a:t>
            </a:r>
            <a:r>
              <a:rPr sz="1600" dirty="0">
                <a:solidFill>
                  <a:srgbClr val="00B0F0"/>
                </a:solidFill>
                <a:latin typeface="Courier"/>
                <a:ea typeface="Courier"/>
                <a:cs typeface="Courier"/>
                <a:sym typeface="Courier"/>
              </a:rPr>
              <a:t>malloc(</a:t>
            </a:r>
            <a:r>
              <a:rPr lang="en-US" sz="1600" dirty="0">
                <a:solidFill>
                  <a:srgbClr val="00B0F0"/>
                </a:solidFill>
                <a:latin typeface="Courier"/>
                <a:ea typeface="Courier"/>
                <a:cs typeface="Courier"/>
                <a:sym typeface="Courier"/>
              </a:rPr>
              <a:t>100</a:t>
            </a:r>
            <a:r>
              <a:rPr sz="1600" dirty="0">
                <a:solidFill>
                  <a:srgbClr val="00B0F0"/>
                </a:solidFill>
                <a:latin typeface="Courier"/>
                <a:ea typeface="Courier"/>
                <a:cs typeface="Courier"/>
                <a:sym typeface="Courier"/>
              </a:rPr>
              <a:t>);</a:t>
            </a:r>
            <a:r>
              <a:rPr lang="en-US" sz="1600" dirty="0">
                <a:solidFill>
                  <a:srgbClr val="00B0F0"/>
                </a:solidFill>
                <a:latin typeface="Courier"/>
                <a:ea typeface="Courier"/>
                <a:cs typeface="Courier"/>
                <a:sym typeface="Courier"/>
              </a:rPr>
              <a:t> // request 100 bytes</a:t>
            </a:r>
          </a:p>
          <a:p>
            <a:pPr lvl="0" algn="l" defTabSz="457200">
              <a:defRPr sz="1800"/>
            </a:pPr>
            <a:r>
              <a:rPr lang="en-US" sz="1600" dirty="0">
                <a:solidFill>
                  <a:srgbClr val="00B0F0"/>
                </a:solidFill>
                <a:latin typeface="Courier"/>
                <a:ea typeface="Courier"/>
                <a:cs typeface="Courier"/>
                <a:sym typeface="Courier"/>
              </a:rPr>
              <a:t>...</a:t>
            </a:r>
            <a:endParaRPr sz="1600" dirty="0">
              <a:solidFill>
                <a:srgbClr val="00B0F0"/>
              </a:solidFill>
              <a:latin typeface="Courier"/>
              <a:ea typeface="Courier"/>
              <a:cs typeface="Courier"/>
              <a:sym typeface="Courier"/>
            </a:endParaRPr>
          </a:p>
          <a:p>
            <a:pPr lvl="0" algn="l" defTabSz="457200">
              <a:defRPr sz="1800"/>
            </a:pPr>
            <a:r>
              <a:rPr lang="en-US" sz="1600" dirty="0">
                <a:solidFill>
                  <a:srgbClr val="00B0F0"/>
                </a:solidFill>
                <a:latin typeface="Courier"/>
                <a:ea typeface="Courier"/>
                <a:cs typeface="Courier"/>
                <a:sym typeface="Courier"/>
              </a:rPr>
              <a:t>p = </a:t>
            </a:r>
            <a:r>
              <a:rPr lang="en-US" sz="1600" dirty="0" err="1">
                <a:solidFill>
                  <a:srgbClr val="00B0F0"/>
                </a:solidFill>
                <a:latin typeface="Courier"/>
                <a:ea typeface="Courier"/>
                <a:cs typeface="Courier"/>
                <a:sym typeface="Courier"/>
              </a:rPr>
              <a:t>realloc</a:t>
            </a:r>
            <a:r>
              <a:rPr lang="en-US" sz="1600" dirty="0">
                <a:solidFill>
                  <a:srgbClr val="00B0F0"/>
                </a:solidFill>
                <a:latin typeface="Courier"/>
                <a:ea typeface="Courier"/>
                <a:cs typeface="Courier"/>
                <a:sym typeface="Courier"/>
              </a:rPr>
              <a:t>(p, 200);  // p may change!</a:t>
            </a:r>
          </a:p>
          <a:p>
            <a:pPr lvl="0" algn="l" defTabSz="457200">
              <a:defRPr sz="1800"/>
            </a:pPr>
            <a:endParaRPr sz="2400" dirty="0">
              <a:solidFill>
                <a:srgbClr val="212121"/>
              </a:solidFill>
              <a:latin typeface="Courier"/>
              <a:ea typeface="Courier"/>
              <a:cs typeface="Courier"/>
              <a:sym typeface="Courier"/>
            </a:endParaRPr>
          </a:p>
        </p:txBody>
      </p:sp>
    </p:spTree>
    <p:extLst>
      <p:ext uri="{BB962C8B-B14F-4D97-AF65-F5344CB8AC3E}">
        <p14:creationId xmlns:p14="http://schemas.microsoft.com/office/powerpoint/2010/main" val="3535354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DCA1-1A0F-24D7-46D9-6C9B310A7862}"/>
              </a:ext>
            </a:extLst>
          </p:cNvPr>
          <p:cNvSpPr>
            <a:spLocks noGrp="1"/>
          </p:cNvSpPr>
          <p:nvPr>
            <p:ph type="title"/>
          </p:nvPr>
        </p:nvSpPr>
        <p:spPr>
          <a:xfrm>
            <a:off x="838200" y="174625"/>
            <a:ext cx="10515600" cy="1325563"/>
          </a:xfrm>
        </p:spPr>
        <p:style>
          <a:lnRef idx="2">
            <a:schemeClr val="accent5"/>
          </a:lnRef>
          <a:fillRef idx="1">
            <a:schemeClr val="lt1"/>
          </a:fillRef>
          <a:effectRef idx="0">
            <a:schemeClr val="accent5"/>
          </a:effectRef>
          <a:fontRef idx="minor">
            <a:schemeClr val="dk1"/>
          </a:fontRef>
        </p:style>
        <p:txBody>
          <a:bodyPr/>
          <a:lstStyle/>
          <a:p>
            <a:pPr algn="ctr"/>
            <a:r>
              <a:rPr lang="en-US" dirty="0"/>
              <a:t>Deallocation</a:t>
            </a:r>
          </a:p>
        </p:txBody>
      </p:sp>
      <p:sp>
        <p:nvSpPr>
          <p:cNvPr id="3" name="Content Placeholder 2">
            <a:extLst>
              <a:ext uri="{FF2B5EF4-FFF2-40B4-BE49-F238E27FC236}">
                <a16:creationId xmlns:a16="http://schemas.microsoft.com/office/drawing/2014/main" id="{796D3F58-E97F-4159-14A1-1BAA73F79F26}"/>
              </a:ext>
            </a:extLst>
          </p:cNvPr>
          <p:cNvSpPr>
            <a:spLocks noGrp="1"/>
          </p:cNvSpPr>
          <p:nvPr>
            <p:ph idx="1"/>
          </p:nvPr>
        </p:nvSpPr>
        <p:spPr>
          <a:xfrm>
            <a:off x="838200" y="1825624"/>
            <a:ext cx="10515600" cy="4714875"/>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solidFill>
                  <a:srgbClr val="00B0F0"/>
                </a:solidFill>
                <a:latin typeface="Consolas" panose="020B0609020204030204" pitchFamily="49" charset="0"/>
              </a:rPr>
              <a:t>#include &lt;</a:t>
            </a:r>
            <a:r>
              <a:rPr lang="en-US" dirty="0" err="1">
                <a:solidFill>
                  <a:srgbClr val="00B0F0"/>
                </a:solidFill>
                <a:latin typeface="Consolas" panose="020B0609020204030204" pitchFamily="49" charset="0"/>
              </a:rPr>
              <a:t>stdlib.h</a:t>
            </a:r>
            <a:r>
              <a:rPr lang="en-US" dirty="0">
                <a:solidFill>
                  <a:srgbClr val="00B0F0"/>
                </a:solidFill>
                <a:latin typeface="Consolas" panose="020B0609020204030204" pitchFamily="49" charset="0"/>
              </a:rPr>
              <a:t>&gt;</a:t>
            </a:r>
          </a:p>
          <a:p>
            <a:pPr marL="0" indent="0">
              <a:buNone/>
            </a:pPr>
            <a:r>
              <a:rPr lang="en-US" dirty="0">
                <a:solidFill>
                  <a:srgbClr val="00B0F0"/>
                </a:solidFill>
                <a:latin typeface="Consolas" panose="020B0609020204030204" pitchFamily="49" charset="0"/>
              </a:rPr>
              <a:t>void free(void *</a:t>
            </a:r>
            <a:r>
              <a:rPr lang="en-US" dirty="0" err="1">
                <a:solidFill>
                  <a:srgbClr val="00B0F0"/>
                </a:solidFill>
                <a:latin typeface="Consolas" panose="020B0609020204030204" pitchFamily="49" charset="0"/>
              </a:rPr>
              <a:t>ptr</a:t>
            </a:r>
            <a:r>
              <a:rPr lang="en-US" dirty="0">
                <a:solidFill>
                  <a:srgbClr val="00B0F0"/>
                </a:solidFill>
                <a:latin typeface="Consolas" panose="020B0609020204030204" pitchFamily="49" charset="0"/>
              </a:rPr>
              <a:t>);</a:t>
            </a:r>
            <a:endParaRPr lang="en-US" dirty="0">
              <a:solidFill>
                <a:srgbClr val="00B0F0"/>
              </a:solidFill>
            </a:endParaRPr>
          </a:p>
          <a:p>
            <a:endParaRPr lang="en-US" sz="1000" dirty="0"/>
          </a:p>
          <a:p>
            <a:r>
              <a:rPr lang="en-US" dirty="0"/>
              <a:t>Straightforward</a:t>
            </a:r>
          </a:p>
          <a:p>
            <a:pPr lvl="1"/>
            <a:r>
              <a:rPr lang="en-US" dirty="0"/>
              <a:t>Simply call the library function “free”</a:t>
            </a:r>
          </a:p>
          <a:p>
            <a:pPr lvl="1"/>
            <a:r>
              <a:rPr lang="en-US" dirty="0"/>
              <a:t>Takes a pointer to the block to free</a:t>
            </a:r>
          </a:p>
          <a:p>
            <a:pPr lvl="1"/>
            <a:endParaRPr lang="en-US" dirty="0"/>
          </a:p>
          <a:p>
            <a:pPr lvl="1"/>
            <a:endParaRPr lang="en-US" dirty="0"/>
          </a:p>
          <a:p>
            <a:pPr lvl="1"/>
            <a:endParaRPr lang="en-US" dirty="0"/>
          </a:p>
          <a:p>
            <a:r>
              <a:rPr lang="en-US" dirty="0"/>
              <a:t>Do not free a pointer twice!</a:t>
            </a:r>
          </a:p>
          <a:p>
            <a:pPr lvl="1"/>
            <a:r>
              <a:rPr lang="en-US" dirty="0"/>
              <a:t>After freeing a pointer, set it to NULL</a:t>
            </a:r>
          </a:p>
          <a:p>
            <a:endParaRPr lang="en-US" dirty="0"/>
          </a:p>
        </p:txBody>
      </p:sp>
      <p:sp>
        <p:nvSpPr>
          <p:cNvPr id="4" name="free(ptr)">
            <a:extLst>
              <a:ext uri="{FF2B5EF4-FFF2-40B4-BE49-F238E27FC236}">
                <a16:creationId xmlns:a16="http://schemas.microsoft.com/office/drawing/2014/main" id="{F75A4E5F-1600-F71A-94E3-88A818299B5D}"/>
              </a:ext>
            </a:extLst>
          </p:cNvPr>
          <p:cNvSpPr txBox="1"/>
          <p:nvPr/>
        </p:nvSpPr>
        <p:spPr>
          <a:xfrm>
            <a:off x="2576659" y="4590455"/>
            <a:ext cx="3040510" cy="471924"/>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lIns="50800" tIns="50800" rIns="50800" bIns="50800" anchor="ctr">
            <a:spAutoFit/>
          </a:bodyPr>
          <a:lstStyle/>
          <a:p>
            <a:pPr defTabSz="457200">
              <a:defRPr sz="2400">
                <a:solidFill>
                  <a:srgbClr val="212121"/>
                </a:solidFill>
                <a:latin typeface="Courier"/>
                <a:ea typeface="Courier"/>
                <a:cs typeface="Courier"/>
                <a:sym typeface="Courier"/>
              </a:defRPr>
            </a:pPr>
            <a:r>
              <a:rPr dirty="0"/>
              <a:t>free(</a:t>
            </a:r>
            <a:r>
              <a:rPr dirty="0" err="1"/>
              <a:t>ptr</a:t>
            </a:r>
            <a:r>
              <a:rPr dirty="0"/>
              <a:t>)</a:t>
            </a:r>
            <a:r>
              <a:rPr lang="en-US" dirty="0"/>
              <a:t>;</a:t>
            </a:r>
            <a:endParaRPr dirty="0"/>
          </a:p>
        </p:txBody>
      </p:sp>
    </p:spTree>
    <p:extLst>
      <p:ext uri="{BB962C8B-B14F-4D97-AF65-F5344CB8AC3E}">
        <p14:creationId xmlns:p14="http://schemas.microsoft.com/office/powerpoint/2010/main" val="1287775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F157-7181-7A00-661D-4E704E99BD0A}"/>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Two key rules for using memory</a:t>
            </a:r>
          </a:p>
        </p:txBody>
      </p:sp>
      <p:sp>
        <p:nvSpPr>
          <p:cNvPr id="3" name="Content Placeholder 2">
            <a:extLst>
              <a:ext uri="{FF2B5EF4-FFF2-40B4-BE49-F238E27FC236}">
                <a16:creationId xmlns:a16="http://schemas.microsoft.com/office/drawing/2014/main" id="{5F886173-12B8-7E51-B216-9CB0958C7C5B}"/>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a:solidFill>
                  <a:srgbClr val="FF0000"/>
                </a:solidFill>
              </a:rPr>
              <a:t>Rule 1: 	Everything you requested should be freed, eventually</a:t>
            </a:r>
          </a:p>
          <a:p>
            <a:pPr marL="0" indent="0">
              <a:buNone/>
            </a:pPr>
            <a:r>
              <a:rPr lang="en-US" dirty="0">
                <a:solidFill>
                  <a:srgbClr val="FF0000"/>
                </a:solidFill>
              </a:rPr>
              <a:t>Rule 2: 	Only free what is allocated via malloc/</a:t>
            </a:r>
            <a:r>
              <a:rPr lang="en-US" dirty="0" err="1">
                <a:solidFill>
                  <a:srgbClr val="FF0000"/>
                </a:solidFill>
              </a:rPr>
              <a:t>calloc</a:t>
            </a:r>
            <a:r>
              <a:rPr lang="en-US" dirty="0">
                <a:solidFill>
                  <a:srgbClr val="FF0000"/>
                </a:solidFill>
              </a:rPr>
              <a:t>/</a:t>
            </a:r>
            <a:r>
              <a:rPr lang="en-US" dirty="0" err="1">
                <a:solidFill>
                  <a:srgbClr val="FF0000"/>
                </a:solidFill>
              </a:rPr>
              <a:t>realloc</a:t>
            </a:r>
            <a:endParaRPr lang="en-US" dirty="0">
              <a:solidFill>
                <a:srgbClr val="FF0000"/>
              </a:solidFill>
            </a:endParaRPr>
          </a:p>
          <a:p>
            <a:r>
              <a:rPr lang="en-US" dirty="0"/>
              <a:t>Consequences of not following the rules</a:t>
            </a:r>
          </a:p>
          <a:p>
            <a:pPr lvl="1"/>
            <a:r>
              <a:rPr lang="en-US" b="1" dirty="0">
                <a:solidFill>
                  <a:srgbClr val="FF0000"/>
                </a:solidFill>
              </a:rPr>
              <a:t>Memory “leaks”</a:t>
            </a:r>
          </a:p>
          <a:p>
            <a:pPr lvl="2"/>
            <a:r>
              <a:rPr lang="en-US" dirty="0"/>
              <a:t>Your program will eventually run out of memory</a:t>
            </a:r>
          </a:p>
          <a:p>
            <a:pPr lvl="1"/>
            <a:r>
              <a:rPr lang="en-US" b="1" dirty="0">
                <a:solidFill>
                  <a:srgbClr val="FF0000"/>
                </a:solidFill>
              </a:rPr>
              <a:t>Undefined behavior and horrible crashes</a:t>
            </a:r>
            <a:r>
              <a:rPr lang="en-US" dirty="0"/>
              <a:t> </a:t>
            </a:r>
          </a:p>
          <a:p>
            <a:pPr lvl="2"/>
            <a:r>
              <a:rPr lang="en-US" dirty="0"/>
              <a:t>Freeing unallocated memory or already freed memory</a:t>
            </a:r>
          </a:p>
          <a:p>
            <a:pPr lvl="3"/>
            <a:r>
              <a:rPr lang="en-US" dirty="0"/>
              <a:t>May cause a memory error and a program crash</a:t>
            </a:r>
          </a:p>
          <a:p>
            <a:pPr lvl="3"/>
            <a:r>
              <a:rPr lang="en-US" dirty="0"/>
              <a:t>Worse, may corrupt the heap and cause a crash later</a:t>
            </a:r>
          </a:p>
          <a:p>
            <a:pPr lvl="3"/>
            <a:r>
              <a:rPr lang="en-US" dirty="0"/>
              <a:t>Even worse, the program may keep running, totally corrupting your data, and writing it to disk without you </a:t>
            </a:r>
            <a:r>
              <a:rPr lang="en-US" dirty="0" err="1"/>
              <a:t>realising</a:t>
            </a:r>
            <a:endParaRPr lang="en-US" dirty="0"/>
          </a:p>
          <a:p>
            <a:endParaRPr lang="en-US" dirty="0"/>
          </a:p>
        </p:txBody>
      </p:sp>
    </p:spTree>
    <p:extLst>
      <p:ext uri="{BB962C8B-B14F-4D97-AF65-F5344CB8AC3E}">
        <p14:creationId xmlns:p14="http://schemas.microsoft.com/office/powerpoint/2010/main" val="371380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A91E-0E70-FAC3-53A2-69B3C460CEC2}"/>
              </a:ext>
            </a:extLst>
          </p:cNvPr>
          <p:cNvSpPr>
            <a:spLocks noGrp="1"/>
          </p:cNvSpPr>
          <p:nvPr>
            <p:ph type="title"/>
          </p:nvPr>
        </p:nvSpPr>
        <p:spPr>
          <a:xfrm>
            <a:off x="889218" y="212070"/>
            <a:ext cx="10515600" cy="1325563"/>
          </a:xfrm>
        </p:spPr>
        <p:style>
          <a:lnRef idx="2">
            <a:schemeClr val="accent1"/>
          </a:lnRef>
          <a:fillRef idx="1">
            <a:schemeClr val="lt1"/>
          </a:fillRef>
          <a:effectRef idx="0">
            <a:schemeClr val="accent1"/>
          </a:effectRef>
          <a:fontRef idx="minor">
            <a:schemeClr val="dk1"/>
          </a:fontRef>
        </p:style>
        <p:txBody>
          <a:bodyPr/>
          <a:lstStyle/>
          <a:p>
            <a:r>
              <a:rPr lang="en-US" dirty="0"/>
              <a:t>So far we have looked at 1D arrays with pointers…</a:t>
            </a:r>
          </a:p>
        </p:txBody>
      </p:sp>
      <p:sp>
        <p:nvSpPr>
          <p:cNvPr id="3" name="Content Placeholder 2">
            <a:extLst>
              <a:ext uri="{FF2B5EF4-FFF2-40B4-BE49-F238E27FC236}">
                <a16:creationId xmlns:a16="http://schemas.microsoft.com/office/drawing/2014/main" id="{251F3403-5506-687D-B4D3-4846B3EDF316}"/>
              </a:ext>
            </a:extLst>
          </p:cNvPr>
          <p:cNvSpPr>
            <a:spLocks noGrp="1"/>
          </p:cNvSpPr>
          <p:nvPr>
            <p:ph idx="1"/>
          </p:nvPr>
        </p:nvSpPr>
        <p:spPr>
          <a:xfrm>
            <a:off x="838200" y="1641175"/>
            <a:ext cx="10515600" cy="948971"/>
          </a:xfrm>
        </p:spPr>
        <p:txBody>
          <a:bodyPr>
            <a:normAutofit/>
          </a:bodyPr>
          <a:lstStyle/>
          <a:p>
            <a:pPr algn="ctr"/>
            <a:r>
              <a:rPr lang="en-US" sz="2400" dirty="0"/>
              <a:t>How could we make 2D arrays with pointers? Use an array of pointers!</a:t>
            </a:r>
          </a:p>
        </p:txBody>
      </p:sp>
      <p:sp>
        <p:nvSpPr>
          <p:cNvPr id="5" name="Rectangle 4">
            <a:extLst>
              <a:ext uri="{FF2B5EF4-FFF2-40B4-BE49-F238E27FC236}">
                <a16:creationId xmlns:a16="http://schemas.microsoft.com/office/drawing/2014/main" id="{3C8BE62A-1BFF-70B7-79D0-8038A6FF8BC2}"/>
              </a:ext>
            </a:extLst>
          </p:cNvPr>
          <p:cNvSpPr/>
          <p:nvPr/>
        </p:nvSpPr>
        <p:spPr>
          <a:xfrm>
            <a:off x="3938754" y="2723675"/>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104</a:t>
            </a:r>
          </a:p>
        </p:txBody>
      </p:sp>
      <p:sp>
        <p:nvSpPr>
          <p:cNvPr id="6" name="Rectangle 5">
            <a:extLst>
              <a:ext uri="{FF2B5EF4-FFF2-40B4-BE49-F238E27FC236}">
                <a16:creationId xmlns:a16="http://schemas.microsoft.com/office/drawing/2014/main" id="{47EE5DF2-9A00-BE02-9439-0C8BE6554B83}"/>
              </a:ext>
            </a:extLst>
          </p:cNvPr>
          <p:cNvSpPr/>
          <p:nvPr/>
        </p:nvSpPr>
        <p:spPr>
          <a:xfrm>
            <a:off x="4752536" y="2723675"/>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120</a:t>
            </a:r>
          </a:p>
        </p:txBody>
      </p:sp>
      <p:sp>
        <p:nvSpPr>
          <p:cNvPr id="7" name="Rectangle 6">
            <a:extLst>
              <a:ext uri="{FF2B5EF4-FFF2-40B4-BE49-F238E27FC236}">
                <a16:creationId xmlns:a16="http://schemas.microsoft.com/office/drawing/2014/main" id="{33985D9C-ECB5-D9B4-FC77-2C42D63F6EB5}"/>
              </a:ext>
            </a:extLst>
          </p:cNvPr>
          <p:cNvSpPr/>
          <p:nvPr/>
        </p:nvSpPr>
        <p:spPr>
          <a:xfrm>
            <a:off x="5599112" y="2727685"/>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280</a:t>
            </a:r>
          </a:p>
        </p:txBody>
      </p:sp>
      <p:sp>
        <p:nvSpPr>
          <p:cNvPr id="8" name="Rectangle 7">
            <a:extLst>
              <a:ext uri="{FF2B5EF4-FFF2-40B4-BE49-F238E27FC236}">
                <a16:creationId xmlns:a16="http://schemas.microsoft.com/office/drawing/2014/main" id="{191CD234-AA04-7FFB-3693-547325F5A3CF}"/>
              </a:ext>
            </a:extLst>
          </p:cNvPr>
          <p:cNvSpPr/>
          <p:nvPr/>
        </p:nvSpPr>
        <p:spPr>
          <a:xfrm>
            <a:off x="6434888" y="2693688"/>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305</a:t>
            </a:r>
          </a:p>
        </p:txBody>
      </p:sp>
      <p:sp>
        <p:nvSpPr>
          <p:cNvPr id="9" name="TextBox 8">
            <a:extLst>
              <a:ext uri="{FF2B5EF4-FFF2-40B4-BE49-F238E27FC236}">
                <a16:creationId xmlns:a16="http://schemas.microsoft.com/office/drawing/2014/main" id="{6F46FF73-013F-5FCE-CB08-9347D738BDBC}"/>
              </a:ext>
            </a:extLst>
          </p:cNvPr>
          <p:cNvSpPr txBox="1"/>
          <p:nvPr/>
        </p:nvSpPr>
        <p:spPr>
          <a:xfrm>
            <a:off x="3989063" y="3426906"/>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90</a:t>
            </a:r>
          </a:p>
        </p:txBody>
      </p:sp>
      <p:sp>
        <p:nvSpPr>
          <p:cNvPr id="10" name="TextBox 9">
            <a:extLst>
              <a:ext uri="{FF2B5EF4-FFF2-40B4-BE49-F238E27FC236}">
                <a16:creationId xmlns:a16="http://schemas.microsoft.com/office/drawing/2014/main" id="{51EEA732-E83D-0051-33E9-073F213871FC}"/>
              </a:ext>
            </a:extLst>
          </p:cNvPr>
          <p:cNvSpPr txBox="1"/>
          <p:nvPr/>
        </p:nvSpPr>
        <p:spPr>
          <a:xfrm>
            <a:off x="4826071" y="3426906"/>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91</a:t>
            </a:r>
          </a:p>
        </p:txBody>
      </p:sp>
      <p:sp>
        <p:nvSpPr>
          <p:cNvPr id="11" name="TextBox 10">
            <a:extLst>
              <a:ext uri="{FF2B5EF4-FFF2-40B4-BE49-F238E27FC236}">
                <a16:creationId xmlns:a16="http://schemas.microsoft.com/office/drawing/2014/main" id="{EF135BE2-CA48-74C6-C855-4A6604D45B5B}"/>
              </a:ext>
            </a:extLst>
          </p:cNvPr>
          <p:cNvSpPr txBox="1"/>
          <p:nvPr/>
        </p:nvSpPr>
        <p:spPr>
          <a:xfrm>
            <a:off x="5663079" y="3426906"/>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92</a:t>
            </a:r>
          </a:p>
        </p:txBody>
      </p:sp>
      <p:sp>
        <p:nvSpPr>
          <p:cNvPr id="12" name="TextBox 11">
            <a:extLst>
              <a:ext uri="{FF2B5EF4-FFF2-40B4-BE49-F238E27FC236}">
                <a16:creationId xmlns:a16="http://schemas.microsoft.com/office/drawing/2014/main" id="{BD47DDCD-3B26-A6A8-0283-CCAF9FE05BDF}"/>
              </a:ext>
            </a:extLst>
          </p:cNvPr>
          <p:cNvSpPr txBox="1"/>
          <p:nvPr/>
        </p:nvSpPr>
        <p:spPr>
          <a:xfrm>
            <a:off x="6500087" y="3426906"/>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93</a:t>
            </a:r>
          </a:p>
        </p:txBody>
      </p:sp>
      <p:sp>
        <p:nvSpPr>
          <p:cNvPr id="13" name="Rectangle 12">
            <a:extLst>
              <a:ext uri="{FF2B5EF4-FFF2-40B4-BE49-F238E27FC236}">
                <a16:creationId xmlns:a16="http://schemas.microsoft.com/office/drawing/2014/main" id="{DF70A4B0-477D-5853-372D-A456834FA829}"/>
              </a:ext>
            </a:extLst>
          </p:cNvPr>
          <p:cNvSpPr/>
          <p:nvPr/>
        </p:nvSpPr>
        <p:spPr>
          <a:xfrm>
            <a:off x="1243616" y="52492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 name="Rectangle 13">
            <a:extLst>
              <a:ext uri="{FF2B5EF4-FFF2-40B4-BE49-F238E27FC236}">
                <a16:creationId xmlns:a16="http://schemas.microsoft.com/office/drawing/2014/main" id="{19CB55F3-AC98-F681-15BC-E027D37EA943}"/>
              </a:ext>
            </a:extLst>
          </p:cNvPr>
          <p:cNvSpPr/>
          <p:nvPr/>
        </p:nvSpPr>
        <p:spPr>
          <a:xfrm>
            <a:off x="2057398" y="52492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 name="Rectangle 14">
            <a:extLst>
              <a:ext uri="{FF2B5EF4-FFF2-40B4-BE49-F238E27FC236}">
                <a16:creationId xmlns:a16="http://schemas.microsoft.com/office/drawing/2014/main" id="{D43E8C05-8A53-9600-2309-2DEDD5F487AF}"/>
              </a:ext>
            </a:extLst>
          </p:cNvPr>
          <p:cNvSpPr/>
          <p:nvPr/>
        </p:nvSpPr>
        <p:spPr>
          <a:xfrm>
            <a:off x="2903974" y="525324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7" name="TextBox 16">
            <a:extLst>
              <a:ext uri="{FF2B5EF4-FFF2-40B4-BE49-F238E27FC236}">
                <a16:creationId xmlns:a16="http://schemas.microsoft.com/office/drawing/2014/main" id="{32469774-4D75-6359-CBCB-CC714876FD61}"/>
              </a:ext>
            </a:extLst>
          </p:cNvPr>
          <p:cNvSpPr txBox="1"/>
          <p:nvPr/>
        </p:nvSpPr>
        <p:spPr>
          <a:xfrm>
            <a:off x="1293925"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104</a:t>
            </a:r>
          </a:p>
        </p:txBody>
      </p:sp>
      <p:sp>
        <p:nvSpPr>
          <p:cNvPr id="18" name="TextBox 17">
            <a:extLst>
              <a:ext uri="{FF2B5EF4-FFF2-40B4-BE49-F238E27FC236}">
                <a16:creationId xmlns:a16="http://schemas.microsoft.com/office/drawing/2014/main" id="{F620F5E5-478F-F2ED-FF9F-5DBFE4B46ED8}"/>
              </a:ext>
            </a:extLst>
          </p:cNvPr>
          <p:cNvSpPr txBox="1"/>
          <p:nvPr/>
        </p:nvSpPr>
        <p:spPr>
          <a:xfrm>
            <a:off x="2130933"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105</a:t>
            </a:r>
          </a:p>
        </p:txBody>
      </p:sp>
      <p:sp>
        <p:nvSpPr>
          <p:cNvPr id="19" name="TextBox 18">
            <a:extLst>
              <a:ext uri="{FF2B5EF4-FFF2-40B4-BE49-F238E27FC236}">
                <a16:creationId xmlns:a16="http://schemas.microsoft.com/office/drawing/2014/main" id="{797D4883-099E-A9AD-7344-98B30A107D8F}"/>
              </a:ext>
            </a:extLst>
          </p:cNvPr>
          <p:cNvSpPr txBox="1"/>
          <p:nvPr/>
        </p:nvSpPr>
        <p:spPr>
          <a:xfrm>
            <a:off x="2967941"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106</a:t>
            </a:r>
          </a:p>
        </p:txBody>
      </p:sp>
      <p:sp>
        <p:nvSpPr>
          <p:cNvPr id="21" name="Rectangle 20">
            <a:extLst>
              <a:ext uri="{FF2B5EF4-FFF2-40B4-BE49-F238E27FC236}">
                <a16:creationId xmlns:a16="http://schemas.microsoft.com/office/drawing/2014/main" id="{19D063FA-D108-E67C-DEFF-ECFD19033EB5}"/>
              </a:ext>
            </a:extLst>
          </p:cNvPr>
          <p:cNvSpPr/>
          <p:nvPr/>
        </p:nvSpPr>
        <p:spPr>
          <a:xfrm>
            <a:off x="4056645" y="525725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Rectangle 21">
            <a:extLst>
              <a:ext uri="{FF2B5EF4-FFF2-40B4-BE49-F238E27FC236}">
                <a16:creationId xmlns:a16="http://schemas.microsoft.com/office/drawing/2014/main" id="{5750369B-6E60-187D-DC86-D489E9A60619}"/>
              </a:ext>
            </a:extLst>
          </p:cNvPr>
          <p:cNvSpPr/>
          <p:nvPr/>
        </p:nvSpPr>
        <p:spPr>
          <a:xfrm>
            <a:off x="4870427" y="525725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Rectangle 22">
            <a:extLst>
              <a:ext uri="{FF2B5EF4-FFF2-40B4-BE49-F238E27FC236}">
                <a16:creationId xmlns:a16="http://schemas.microsoft.com/office/drawing/2014/main" id="{90CB2083-059A-6D5D-450D-701460ABBD7B}"/>
              </a:ext>
            </a:extLst>
          </p:cNvPr>
          <p:cNvSpPr/>
          <p:nvPr/>
        </p:nvSpPr>
        <p:spPr>
          <a:xfrm>
            <a:off x="5717003" y="526126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5" name="TextBox 24">
            <a:extLst>
              <a:ext uri="{FF2B5EF4-FFF2-40B4-BE49-F238E27FC236}">
                <a16:creationId xmlns:a16="http://schemas.microsoft.com/office/drawing/2014/main" id="{0D6F2FD4-F1E8-E3B0-4B4C-1D01E8011F43}"/>
              </a:ext>
            </a:extLst>
          </p:cNvPr>
          <p:cNvSpPr txBox="1"/>
          <p:nvPr/>
        </p:nvSpPr>
        <p:spPr>
          <a:xfrm>
            <a:off x="4106954" y="596048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120</a:t>
            </a:r>
          </a:p>
        </p:txBody>
      </p:sp>
      <p:sp>
        <p:nvSpPr>
          <p:cNvPr id="26" name="TextBox 25">
            <a:extLst>
              <a:ext uri="{FF2B5EF4-FFF2-40B4-BE49-F238E27FC236}">
                <a16:creationId xmlns:a16="http://schemas.microsoft.com/office/drawing/2014/main" id="{22CBC99F-523F-6C82-7600-760C0D3CE0CE}"/>
              </a:ext>
            </a:extLst>
          </p:cNvPr>
          <p:cNvSpPr txBox="1"/>
          <p:nvPr/>
        </p:nvSpPr>
        <p:spPr>
          <a:xfrm>
            <a:off x="4943962" y="596048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121</a:t>
            </a:r>
          </a:p>
        </p:txBody>
      </p:sp>
      <p:sp>
        <p:nvSpPr>
          <p:cNvPr id="27" name="TextBox 26">
            <a:extLst>
              <a:ext uri="{FF2B5EF4-FFF2-40B4-BE49-F238E27FC236}">
                <a16:creationId xmlns:a16="http://schemas.microsoft.com/office/drawing/2014/main" id="{FB15AEEC-6DEC-DD39-2D24-5E5519186273}"/>
              </a:ext>
            </a:extLst>
          </p:cNvPr>
          <p:cNvSpPr txBox="1"/>
          <p:nvPr/>
        </p:nvSpPr>
        <p:spPr>
          <a:xfrm>
            <a:off x="5780970" y="596048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122</a:t>
            </a:r>
          </a:p>
        </p:txBody>
      </p:sp>
      <p:sp>
        <p:nvSpPr>
          <p:cNvPr id="29" name="Rectangle 28">
            <a:extLst>
              <a:ext uri="{FF2B5EF4-FFF2-40B4-BE49-F238E27FC236}">
                <a16:creationId xmlns:a16="http://schemas.microsoft.com/office/drawing/2014/main" id="{4395D65B-4BFC-99C2-84FA-595A3CFAF048}"/>
              </a:ext>
            </a:extLst>
          </p:cNvPr>
          <p:cNvSpPr/>
          <p:nvPr/>
        </p:nvSpPr>
        <p:spPr>
          <a:xfrm>
            <a:off x="6757657" y="525670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30" name="Rectangle 29">
            <a:extLst>
              <a:ext uri="{FF2B5EF4-FFF2-40B4-BE49-F238E27FC236}">
                <a16:creationId xmlns:a16="http://schemas.microsoft.com/office/drawing/2014/main" id="{788CA031-6C2C-2530-87A8-D5CFAF253ACD}"/>
              </a:ext>
            </a:extLst>
          </p:cNvPr>
          <p:cNvSpPr/>
          <p:nvPr/>
        </p:nvSpPr>
        <p:spPr>
          <a:xfrm>
            <a:off x="7571439" y="525670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1" name="Rectangle 30">
            <a:extLst>
              <a:ext uri="{FF2B5EF4-FFF2-40B4-BE49-F238E27FC236}">
                <a16:creationId xmlns:a16="http://schemas.microsoft.com/office/drawing/2014/main" id="{A73C3026-B97F-6735-9337-74EDDE5E2CAE}"/>
              </a:ext>
            </a:extLst>
          </p:cNvPr>
          <p:cNvSpPr/>
          <p:nvPr/>
        </p:nvSpPr>
        <p:spPr>
          <a:xfrm>
            <a:off x="8418015" y="5260712"/>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3" name="TextBox 32">
            <a:extLst>
              <a:ext uri="{FF2B5EF4-FFF2-40B4-BE49-F238E27FC236}">
                <a16:creationId xmlns:a16="http://schemas.microsoft.com/office/drawing/2014/main" id="{F6080420-F2BF-F022-9FCD-7E680C939173}"/>
              </a:ext>
            </a:extLst>
          </p:cNvPr>
          <p:cNvSpPr txBox="1"/>
          <p:nvPr/>
        </p:nvSpPr>
        <p:spPr>
          <a:xfrm>
            <a:off x="6807966" y="595993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280</a:t>
            </a:r>
          </a:p>
        </p:txBody>
      </p:sp>
      <p:sp>
        <p:nvSpPr>
          <p:cNvPr id="34" name="TextBox 33">
            <a:extLst>
              <a:ext uri="{FF2B5EF4-FFF2-40B4-BE49-F238E27FC236}">
                <a16:creationId xmlns:a16="http://schemas.microsoft.com/office/drawing/2014/main" id="{E431BC27-DFF1-82AE-505C-07974355A0E0}"/>
              </a:ext>
            </a:extLst>
          </p:cNvPr>
          <p:cNvSpPr txBox="1"/>
          <p:nvPr/>
        </p:nvSpPr>
        <p:spPr>
          <a:xfrm>
            <a:off x="7644974" y="595993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281</a:t>
            </a:r>
          </a:p>
        </p:txBody>
      </p:sp>
      <p:sp>
        <p:nvSpPr>
          <p:cNvPr id="35" name="TextBox 34">
            <a:extLst>
              <a:ext uri="{FF2B5EF4-FFF2-40B4-BE49-F238E27FC236}">
                <a16:creationId xmlns:a16="http://schemas.microsoft.com/office/drawing/2014/main" id="{4D1A9283-9244-01D1-2537-A086D219C4BB}"/>
              </a:ext>
            </a:extLst>
          </p:cNvPr>
          <p:cNvSpPr txBox="1"/>
          <p:nvPr/>
        </p:nvSpPr>
        <p:spPr>
          <a:xfrm>
            <a:off x="8481982" y="5959933"/>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282</a:t>
            </a:r>
          </a:p>
        </p:txBody>
      </p:sp>
      <p:sp>
        <p:nvSpPr>
          <p:cNvPr id="37" name="TextBox 36">
            <a:extLst>
              <a:ext uri="{FF2B5EF4-FFF2-40B4-BE49-F238E27FC236}">
                <a16:creationId xmlns:a16="http://schemas.microsoft.com/office/drawing/2014/main" id="{035BE498-4C5D-C90B-78A5-04E00B8D965E}"/>
              </a:ext>
            </a:extLst>
          </p:cNvPr>
          <p:cNvSpPr txBox="1"/>
          <p:nvPr/>
        </p:nvSpPr>
        <p:spPr>
          <a:xfrm>
            <a:off x="2962992" y="3200925"/>
            <a:ext cx="1102258" cy="646331"/>
          </a:xfrm>
          <a:prstGeom prst="rect">
            <a:avLst/>
          </a:prstGeom>
          <a:noFill/>
        </p:spPr>
        <p:txBody>
          <a:bodyPr wrap="square" rtlCol="0">
            <a:spAutoFit/>
          </a:bodyPr>
          <a:lstStyle/>
          <a:p>
            <a:r>
              <a:rPr lang="en-US" dirty="0"/>
              <a:t>Address in Mem:</a:t>
            </a:r>
          </a:p>
        </p:txBody>
      </p:sp>
      <p:sp>
        <p:nvSpPr>
          <p:cNvPr id="38" name="TextBox 37">
            <a:extLst>
              <a:ext uri="{FF2B5EF4-FFF2-40B4-BE49-F238E27FC236}">
                <a16:creationId xmlns:a16="http://schemas.microsoft.com/office/drawing/2014/main" id="{892FFF03-C3E7-64C4-2B1A-C07743E13C24}"/>
              </a:ext>
            </a:extLst>
          </p:cNvPr>
          <p:cNvSpPr txBox="1"/>
          <p:nvPr/>
        </p:nvSpPr>
        <p:spPr>
          <a:xfrm>
            <a:off x="3102737" y="2773806"/>
            <a:ext cx="1078832" cy="369332"/>
          </a:xfrm>
          <a:prstGeom prst="rect">
            <a:avLst/>
          </a:prstGeom>
          <a:noFill/>
        </p:spPr>
        <p:txBody>
          <a:bodyPr wrap="square" rtlCol="0">
            <a:spAutoFit/>
          </a:bodyPr>
          <a:lstStyle/>
          <a:p>
            <a:r>
              <a:rPr lang="en-US" dirty="0"/>
              <a:t>Value:</a:t>
            </a:r>
          </a:p>
        </p:txBody>
      </p:sp>
      <p:sp>
        <p:nvSpPr>
          <p:cNvPr id="39" name="TextBox 38">
            <a:extLst>
              <a:ext uri="{FF2B5EF4-FFF2-40B4-BE49-F238E27FC236}">
                <a16:creationId xmlns:a16="http://schemas.microsoft.com/office/drawing/2014/main" id="{0044F516-98D3-6031-683C-9AEB8410324E}"/>
              </a:ext>
            </a:extLst>
          </p:cNvPr>
          <p:cNvSpPr txBox="1"/>
          <p:nvPr/>
        </p:nvSpPr>
        <p:spPr>
          <a:xfrm>
            <a:off x="206060" y="5730492"/>
            <a:ext cx="1102258" cy="646331"/>
          </a:xfrm>
          <a:prstGeom prst="rect">
            <a:avLst/>
          </a:prstGeom>
          <a:noFill/>
        </p:spPr>
        <p:txBody>
          <a:bodyPr wrap="square" rtlCol="0">
            <a:spAutoFit/>
          </a:bodyPr>
          <a:lstStyle/>
          <a:p>
            <a:r>
              <a:rPr lang="en-US" dirty="0"/>
              <a:t>Address in Mem:</a:t>
            </a:r>
          </a:p>
        </p:txBody>
      </p:sp>
      <p:sp>
        <p:nvSpPr>
          <p:cNvPr id="40" name="TextBox 39">
            <a:extLst>
              <a:ext uri="{FF2B5EF4-FFF2-40B4-BE49-F238E27FC236}">
                <a16:creationId xmlns:a16="http://schemas.microsoft.com/office/drawing/2014/main" id="{FF0E9E5A-E603-374A-A340-5316C2A2AE33}"/>
              </a:ext>
            </a:extLst>
          </p:cNvPr>
          <p:cNvSpPr txBox="1"/>
          <p:nvPr/>
        </p:nvSpPr>
        <p:spPr>
          <a:xfrm>
            <a:off x="393954" y="5253241"/>
            <a:ext cx="1078832" cy="369332"/>
          </a:xfrm>
          <a:prstGeom prst="rect">
            <a:avLst/>
          </a:prstGeom>
          <a:noFill/>
        </p:spPr>
        <p:txBody>
          <a:bodyPr wrap="square" rtlCol="0">
            <a:spAutoFit/>
          </a:bodyPr>
          <a:lstStyle/>
          <a:p>
            <a:r>
              <a:rPr lang="en-US" dirty="0"/>
              <a:t>Value:</a:t>
            </a:r>
          </a:p>
        </p:txBody>
      </p:sp>
      <p:sp>
        <p:nvSpPr>
          <p:cNvPr id="41" name="Rectangle 40">
            <a:extLst>
              <a:ext uri="{FF2B5EF4-FFF2-40B4-BE49-F238E27FC236}">
                <a16:creationId xmlns:a16="http://schemas.microsoft.com/office/drawing/2014/main" id="{80FDB647-2459-C2F6-5E35-E5283EAE1AF1}"/>
              </a:ext>
            </a:extLst>
          </p:cNvPr>
          <p:cNvSpPr/>
          <p:nvPr/>
        </p:nvSpPr>
        <p:spPr>
          <a:xfrm>
            <a:off x="9559698" y="52492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2" name="Rectangle 41">
            <a:extLst>
              <a:ext uri="{FF2B5EF4-FFF2-40B4-BE49-F238E27FC236}">
                <a16:creationId xmlns:a16="http://schemas.microsoft.com/office/drawing/2014/main" id="{EE4810C6-1EC4-98D9-DDE1-66BC4FD61B5C}"/>
              </a:ext>
            </a:extLst>
          </p:cNvPr>
          <p:cNvSpPr/>
          <p:nvPr/>
        </p:nvSpPr>
        <p:spPr>
          <a:xfrm>
            <a:off x="10373480" y="524923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3" name="Rectangle 42">
            <a:extLst>
              <a:ext uri="{FF2B5EF4-FFF2-40B4-BE49-F238E27FC236}">
                <a16:creationId xmlns:a16="http://schemas.microsoft.com/office/drawing/2014/main" id="{6C802FB4-E606-A6AB-4F2C-FEC895D050C6}"/>
              </a:ext>
            </a:extLst>
          </p:cNvPr>
          <p:cNvSpPr/>
          <p:nvPr/>
        </p:nvSpPr>
        <p:spPr>
          <a:xfrm>
            <a:off x="11220056" y="5253241"/>
            <a:ext cx="717885" cy="661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4" name="TextBox 43">
            <a:extLst>
              <a:ext uri="{FF2B5EF4-FFF2-40B4-BE49-F238E27FC236}">
                <a16:creationId xmlns:a16="http://schemas.microsoft.com/office/drawing/2014/main" id="{A4E40767-315D-0948-F98E-2485692730BC}"/>
              </a:ext>
            </a:extLst>
          </p:cNvPr>
          <p:cNvSpPr txBox="1"/>
          <p:nvPr/>
        </p:nvSpPr>
        <p:spPr>
          <a:xfrm>
            <a:off x="9610007"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305</a:t>
            </a:r>
          </a:p>
        </p:txBody>
      </p:sp>
      <p:sp>
        <p:nvSpPr>
          <p:cNvPr id="45" name="TextBox 44">
            <a:extLst>
              <a:ext uri="{FF2B5EF4-FFF2-40B4-BE49-F238E27FC236}">
                <a16:creationId xmlns:a16="http://schemas.microsoft.com/office/drawing/2014/main" id="{B6932328-89ED-A0F6-8BA5-570B821E90D6}"/>
              </a:ext>
            </a:extLst>
          </p:cNvPr>
          <p:cNvSpPr txBox="1"/>
          <p:nvPr/>
        </p:nvSpPr>
        <p:spPr>
          <a:xfrm>
            <a:off x="10447015"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306</a:t>
            </a:r>
          </a:p>
        </p:txBody>
      </p:sp>
      <p:sp>
        <p:nvSpPr>
          <p:cNvPr id="46" name="TextBox 45">
            <a:extLst>
              <a:ext uri="{FF2B5EF4-FFF2-40B4-BE49-F238E27FC236}">
                <a16:creationId xmlns:a16="http://schemas.microsoft.com/office/drawing/2014/main" id="{4C13CE50-D435-308A-EF1F-60A9D24836B0}"/>
              </a:ext>
            </a:extLst>
          </p:cNvPr>
          <p:cNvSpPr txBox="1"/>
          <p:nvPr/>
        </p:nvSpPr>
        <p:spPr>
          <a:xfrm>
            <a:off x="11284023" y="5952462"/>
            <a:ext cx="61726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307</a:t>
            </a:r>
          </a:p>
        </p:txBody>
      </p:sp>
      <p:cxnSp>
        <p:nvCxnSpPr>
          <p:cNvPr id="48" name="Straight Connector 47">
            <a:extLst>
              <a:ext uri="{FF2B5EF4-FFF2-40B4-BE49-F238E27FC236}">
                <a16:creationId xmlns:a16="http://schemas.microsoft.com/office/drawing/2014/main" id="{12D43B30-F8FA-532C-8DEB-5244F147C26B}"/>
              </a:ext>
            </a:extLst>
          </p:cNvPr>
          <p:cNvCxnSpPr/>
          <p:nvPr/>
        </p:nvCxnSpPr>
        <p:spPr>
          <a:xfrm>
            <a:off x="3836903" y="5081337"/>
            <a:ext cx="0" cy="143576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69ADAA9-043A-3F21-6300-16D81C2F73DA}"/>
              </a:ext>
            </a:extLst>
          </p:cNvPr>
          <p:cNvCxnSpPr/>
          <p:nvPr/>
        </p:nvCxnSpPr>
        <p:spPr>
          <a:xfrm>
            <a:off x="6638316" y="5081337"/>
            <a:ext cx="0" cy="143576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B21C323-361D-E1A9-4042-F2D015FF7696}"/>
              </a:ext>
            </a:extLst>
          </p:cNvPr>
          <p:cNvCxnSpPr/>
          <p:nvPr/>
        </p:nvCxnSpPr>
        <p:spPr>
          <a:xfrm>
            <a:off x="9341617" y="5081337"/>
            <a:ext cx="0" cy="143576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ight Brace 50">
            <a:extLst>
              <a:ext uri="{FF2B5EF4-FFF2-40B4-BE49-F238E27FC236}">
                <a16:creationId xmlns:a16="http://schemas.microsoft.com/office/drawing/2014/main" id="{5FC5E11E-0FEF-79AE-071C-D4993FF8B4FE}"/>
              </a:ext>
            </a:extLst>
          </p:cNvPr>
          <p:cNvSpPr/>
          <p:nvPr/>
        </p:nvSpPr>
        <p:spPr>
          <a:xfrm>
            <a:off x="7224937" y="2464563"/>
            <a:ext cx="459163" cy="1518767"/>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a:extLst>
              <a:ext uri="{FF2B5EF4-FFF2-40B4-BE49-F238E27FC236}">
                <a16:creationId xmlns:a16="http://schemas.microsoft.com/office/drawing/2014/main" id="{D7507B0C-69D1-DC75-5B06-7A6D0C65655D}"/>
              </a:ext>
            </a:extLst>
          </p:cNvPr>
          <p:cNvSpPr txBox="1"/>
          <p:nvPr/>
        </p:nvSpPr>
        <p:spPr>
          <a:xfrm>
            <a:off x="7688145" y="3007814"/>
            <a:ext cx="2539128" cy="369332"/>
          </a:xfrm>
          <a:prstGeom prst="rect">
            <a:avLst/>
          </a:prstGeom>
          <a:noFill/>
        </p:spPr>
        <p:txBody>
          <a:bodyPr wrap="square" rtlCol="0">
            <a:spAutoFit/>
          </a:bodyPr>
          <a:lstStyle/>
          <a:p>
            <a:r>
              <a:rPr lang="en-US" dirty="0"/>
              <a:t>An Array of Pointers</a:t>
            </a:r>
          </a:p>
        </p:txBody>
      </p:sp>
      <p:cxnSp>
        <p:nvCxnSpPr>
          <p:cNvPr id="54" name="Straight Arrow Connector 53">
            <a:extLst>
              <a:ext uri="{FF2B5EF4-FFF2-40B4-BE49-F238E27FC236}">
                <a16:creationId xmlns:a16="http://schemas.microsoft.com/office/drawing/2014/main" id="{CDEAD70B-DE44-C8E7-6A6B-787CF3AE4D42}"/>
              </a:ext>
            </a:extLst>
          </p:cNvPr>
          <p:cNvCxnSpPr>
            <a:cxnSpLocks/>
          </p:cNvCxnSpPr>
          <p:nvPr/>
        </p:nvCxnSpPr>
        <p:spPr>
          <a:xfrm flipH="1">
            <a:off x="1642435" y="3220280"/>
            <a:ext cx="2650833" cy="286656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3C19BE5-1DAF-F9B1-0E70-8182FF777CDF}"/>
              </a:ext>
            </a:extLst>
          </p:cNvPr>
          <p:cNvCxnSpPr>
            <a:cxnSpLocks/>
          </p:cNvCxnSpPr>
          <p:nvPr/>
        </p:nvCxnSpPr>
        <p:spPr>
          <a:xfrm flipH="1">
            <a:off x="4404963" y="3191930"/>
            <a:ext cx="757926" cy="276800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BC51B4A-5044-7301-91C5-887267C9953A}"/>
              </a:ext>
            </a:extLst>
          </p:cNvPr>
          <p:cNvCxnSpPr>
            <a:cxnSpLocks/>
          </p:cNvCxnSpPr>
          <p:nvPr/>
        </p:nvCxnSpPr>
        <p:spPr>
          <a:xfrm>
            <a:off x="6057391" y="3195210"/>
            <a:ext cx="1095382" cy="2891633"/>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0BD67A7-D571-A114-FA65-5D438CC8FE47}"/>
              </a:ext>
            </a:extLst>
          </p:cNvPr>
          <p:cNvCxnSpPr>
            <a:cxnSpLocks/>
          </p:cNvCxnSpPr>
          <p:nvPr/>
        </p:nvCxnSpPr>
        <p:spPr>
          <a:xfrm>
            <a:off x="6790961" y="3191861"/>
            <a:ext cx="2986880" cy="2894982"/>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471D12C9-7CFB-4E51-6C9C-3C105389B125}"/>
              </a:ext>
            </a:extLst>
          </p:cNvPr>
          <p:cNvSpPr txBox="1"/>
          <p:nvPr/>
        </p:nvSpPr>
        <p:spPr>
          <a:xfrm>
            <a:off x="171376" y="2877759"/>
            <a:ext cx="2296579"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t>Here we can make a 4x3 array:</a:t>
            </a:r>
          </a:p>
        </p:txBody>
      </p:sp>
    </p:spTree>
    <p:extLst>
      <p:ext uri="{BB962C8B-B14F-4D97-AF65-F5344CB8AC3E}">
        <p14:creationId xmlns:p14="http://schemas.microsoft.com/office/powerpoint/2010/main" val="236283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fade">
                                      <p:cBhvr>
                                        <p:cTn id="25" dur="500"/>
                                        <p:tgtEl>
                                          <p:spTgt spid="5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nodeType="with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fade">
                                      <p:cBhvr>
                                        <p:cTn id="48" dur="500"/>
                                        <p:tgtEl>
                                          <p:spTgt spid="5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fade">
                                      <p:cBhvr>
                                        <p:cTn id="71" dur="500"/>
                                        <p:tgtEl>
                                          <p:spTgt spid="6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500"/>
                                        <p:tgtEl>
                                          <p:spTgt spid="4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5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500"/>
                                        <p:tgtEl>
                                          <p:spTgt spid="4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fade">
                                      <p:cBhvr>
                                        <p:cTn id="91" dur="500"/>
                                        <p:tgtEl>
                                          <p:spTgt spid="4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41" grpId="0" animBg="1"/>
      <p:bldP spid="42" grpId="0" animBg="1"/>
      <p:bldP spid="43" grpId="0" animBg="1"/>
      <p:bldP spid="44" grpId="0" animBg="1"/>
      <p:bldP spid="45" grpId="0" animBg="1"/>
      <p:bldP spid="4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B8874-BD18-8022-93D1-1B983E4924F5}"/>
              </a:ext>
            </a:extLst>
          </p:cNvPr>
          <p:cNvSpPr>
            <a:spLocks noGrp="1"/>
          </p:cNvSpPr>
          <p:nvPr>
            <p:ph type="title"/>
          </p:nvPr>
        </p:nvSpPr>
        <p:spPr>
          <a:xfrm>
            <a:off x="869595" y="0"/>
            <a:ext cx="10515600" cy="1325563"/>
          </a:xfrm>
        </p:spPr>
        <p:txBody>
          <a:bodyPr/>
          <a:lstStyle/>
          <a:p>
            <a:pPr algn="ctr"/>
            <a:r>
              <a:rPr lang="en-US" u="sng" dirty="0"/>
              <a:t>Array of Pointers</a:t>
            </a:r>
          </a:p>
        </p:txBody>
      </p:sp>
      <p:sp>
        <p:nvSpPr>
          <p:cNvPr id="4" name="void doSomething(int n) {…">
            <a:extLst>
              <a:ext uri="{FF2B5EF4-FFF2-40B4-BE49-F238E27FC236}">
                <a16:creationId xmlns:a16="http://schemas.microsoft.com/office/drawing/2014/main" id="{94A19C59-DE3C-27BC-58D3-170941C1AD09}"/>
              </a:ext>
            </a:extLst>
          </p:cNvPr>
          <p:cNvSpPr txBox="1"/>
          <p:nvPr/>
        </p:nvSpPr>
        <p:spPr>
          <a:xfrm>
            <a:off x="214373" y="1536993"/>
            <a:ext cx="5345476" cy="5138602"/>
          </a:xfrm>
          <a:prstGeom prst="rect">
            <a:avLst/>
          </a:prstGeom>
          <a:solidFill>
            <a:schemeClr val="bg1">
              <a:lumMod val="8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wrap="square" lIns="50800" tIns="50800" rIns="50800" bIns="50800" anchor="t" anchorCtr="0">
            <a:noAutofit/>
          </a:bodyPr>
          <a:lstStyle/>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int	a0;</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int a1;</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int a2;</a:t>
            </a: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 array of int's</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int	 a[3];</a:t>
            </a: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p:txBody>
      </p:sp>
      <p:sp>
        <p:nvSpPr>
          <p:cNvPr id="5" name="void doSomething(int n) {…">
            <a:extLst>
              <a:ext uri="{FF2B5EF4-FFF2-40B4-BE49-F238E27FC236}">
                <a16:creationId xmlns:a16="http://schemas.microsoft.com/office/drawing/2014/main" id="{71A3E085-83B3-DB77-EE25-E273CED596FD}"/>
              </a:ext>
            </a:extLst>
          </p:cNvPr>
          <p:cNvSpPr txBox="1"/>
          <p:nvPr/>
        </p:nvSpPr>
        <p:spPr>
          <a:xfrm>
            <a:off x="6149197" y="1559143"/>
            <a:ext cx="5669279" cy="5138602"/>
          </a:xfrm>
          <a:prstGeom prst="rect">
            <a:avLst/>
          </a:prstGeom>
          <a:solidFill>
            <a:schemeClr val="bg1">
              <a:lumMod val="8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wrap="square" lIns="50800" tIns="50800" rIns="50800" bIns="50800" anchor="t" anchorCtr="0">
            <a:noAutofit/>
          </a:bodyPr>
          <a:lstStyle/>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char *p0 = malloc(10);</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char *p1 = malloc(10);</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char *p2 = malloc(10);</a:t>
            </a: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r>
              <a:rPr lang="en-US" sz="2800" dirty="0">
                <a:solidFill>
                  <a:schemeClr val="accent1"/>
                </a:solidFill>
                <a:latin typeface="Consolas" panose="020B0609020204030204" pitchFamily="49" charset="0"/>
              </a:rPr>
              <a:t>// array of pointers</a:t>
            </a:r>
          </a:p>
          <a:p>
            <a:pPr lvl="1" algn="l" defTabSz="457200">
              <a:defRPr sz="2400">
                <a:solidFill>
                  <a:srgbClr val="212121"/>
                </a:solidFill>
                <a:latin typeface="Courier"/>
                <a:ea typeface="Courier"/>
                <a:cs typeface="Courier"/>
                <a:sym typeface="Courier"/>
              </a:defRPr>
            </a:pPr>
            <a:r>
              <a:rPr lang="en-US" sz="2800" dirty="0">
                <a:solidFill>
                  <a:schemeClr val="accent5"/>
                </a:solidFill>
                <a:latin typeface="Consolas" panose="020B0609020204030204" pitchFamily="49" charset="0"/>
              </a:rPr>
              <a:t>char * p[3];</a:t>
            </a:r>
          </a:p>
          <a:p>
            <a:pPr lvl="1" algn="l" defTabSz="457200">
              <a:defRPr sz="2400">
                <a:solidFill>
                  <a:srgbClr val="212121"/>
                </a:solidFill>
                <a:latin typeface="Courier"/>
                <a:ea typeface="Courier"/>
                <a:cs typeface="Courier"/>
                <a:sym typeface="Courier"/>
              </a:defRPr>
            </a:pPr>
            <a:endParaRPr lang="en-US" sz="2800" dirty="0">
              <a:latin typeface="Consolas" panose="020B0609020204030204" pitchFamily="49" charset="0"/>
            </a:endParaRPr>
          </a:p>
          <a:p>
            <a:pPr lvl="1" algn="l" defTabSz="457200">
              <a:defRPr sz="2400">
                <a:solidFill>
                  <a:srgbClr val="212121"/>
                </a:solidFill>
                <a:latin typeface="Courier"/>
                <a:ea typeface="Courier"/>
                <a:cs typeface="Courier"/>
                <a:sym typeface="Courier"/>
              </a:defRPr>
            </a:pPr>
            <a:r>
              <a:rPr lang="en-US" sz="2800" dirty="0">
                <a:solidFill>
                  <a:schemeClr val="accent1"/>
                </a:solidFill>
                <a:latin typeface="Consolas" panose="020B0609020204030204" pitchFamily="49" charset="0"/>
              </a:rPr>
              <a:t>// Can also do with a loop</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p[0] = malloc(10);</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p[1] = malloc(10);</a:t>
            </a:r>
          </a:p>
          <a:p>
            <a:pPr lvl="1" algn="l" defTabSz="457200">
              <a:defRPr sz="2400">
                <a:solidFill>
                  <a:srgbClr val="212121"/>
                </a:solidFill>
                <a:latin typeface="Courier"/>
                <a:ea typeface="Courier"/>
                <a:cs typeface="Courier"/>
                <a:sym typeface="Courier"/>
              </a:defRPr>
            </a:pPr>
            <a:r>
              <a:rPr lang="en-US" sz="2800" dirty="0">
                <a:latin typeface="Consolas" panose="020B0609020204030204" pitchFamily="49" charset="0"/>
              </a:rPr>
              <a:t>p[2] = malloc(10);</a:t>
            </a:r>
          </a:p>
        </p:txBody>
      </p:sp>
      <p:sp>
        <p:nvSpPr>
          <p:cNvPr id="6" name="TextBox 5">
            <a:extLst>
              <a:ext uri="{FF2B5EF4-FFF2-40B4-BE49-F238E27FC236}">
                <a16:creationId xmlns:a16="http://schemas.microsoft.com/office/drawing/2014/main" id="{FE98891A-CE85-EB4A-E7BC-7C20C85CBC7D}"/>
              </a:ext>
            </a:extLst>
          </p:cNvPr>
          <p:cNvSpPr txBox="1"/>
          <p:nvPr/>
        </p:nvSpPr>
        <p:spPr>
          <a:xfrm>
            <a:off x="270788" y="1199057"/>
            <a:ext cx="3657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rgbClr val="92D050"/>
                </a:solidFill>
              </a:rPr>
              <a:t>3 integers, but not in an array:</a:t>
            </a:r>
          </a:p>
        </p:txBody>
      </p:sp>
      <p:sp>
        <p:nvSpPr>
          <p:cNvPr id="7" name="TextBox 6">
            <a:extLst>
              <a:ext uri="{FF2B5EF4-FFF2-40B4-BE49-F238E27FC236}">
                <a16:creationId xmlns:a16="http://schemas.microsoft.com/office/drawing/2014/main" id="{533A502C-A6DA-54E4-3FC3-8A7EC5D4739E}"/>
              </a:ext>
            </a:extLst>
          </p:cNvPr>
          <p:cNvSpPr txBox="1"/>
          <p:nvPr/>
        </p:nvSpPr>
        <p:spPr>
          <a:xfrm>
            <a:off x="592594" y="3325168"/>
            <a:ext cx="306500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rgbClr val="92D050"/>
                </a:solidFill>
              </a:rPr>
              <a:t>3 integers in an array:</a:t>
            </a:r>
          </a:p>
        </p:txBody>
      </p:sp>
      <p:sp>
        <p:nvSpPr>
          <p:cNvPr id="8" name="TextBox 7">
            <a:extLst>
              <a:ext uri="{FF2B5EF4-FFF2-40B4-BE49-F238E27FC236}">
                <a16:creationId xmlns:a16="http://schemas.microsoft.com/office/drawing/2014/main" id="{D2E87E33-D3FB-EF7B-12AA-44C335376E60}"/>
              </a:ext>
            </a:extLst>
          </p:cNvPr>
          <p:cNvSpPr txBox="1"/>
          <p:nvPr/>
        </p:nvSpPr>
        <p:spPr>
          <a:xfrm>
            <a:off x="7106550" y="1199057"/>
            <a:ext cx="3657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rgbClr val="92D050"/>
                </a:solidFill>
              </a:rPr>
              <a:t>3 arrays each of size 10:</a:t>
            </a:r>
          </a:p>
        </p:txBody>
      </p:sp>
      <p:sp>
        <p:nvSpPr>
          <p:cNvPr id="9" name="TextBox 8">
            <a:extLst>
              <a:ext uri="{FF2B5EF4-FFF2-40B4-BE49-F238E27FC236}">
                <a16:creationId xmlns:a16="http://schemas.microsoft.com/office/drawing/2014/main" id="{03C24D4F-C6B2-D040-30D1-F692EB4142A7}"/>
              </a:ext>
            </a:extLst>
          </p:cNvPr>
          <p:cNvSpPr txBox="1"/>
          <p:nvPr/>
        </p:nvSpPr>
        <p:spPr>
          <a:xfrm>
            <a:off x="7027407" y="3031128"/>
            <a:ext cx="36576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solidFill>
                  <a:srgbClr val="92D050"/>
                </a:solidFill>
              </a:rPr>
              <a:t>One 2D array of 3x10</a:t>
            </a:r>
          </a:p>
        </p:txBody>
      </p:sp>
    </p:spTree>
    <p:extLst>
      <p:ext uri="{BB962C8B-B14F-4D97-AF65-F5344CB8AC3E}">
        <p14:creationId xmlns:p14="http://schemas.microsoft.com/office/powerpoint/2010/main" val="356302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ADBE-08EC-B347-D234-286D4A3B5D02}"/>
              </a:ext>
            </a:extLst>
          </p:cNvPr>
          <p:cNvSpPr>
            <a:spLocks noGrp="1"/>
          </p:cNvSpPr>
          <p:nvPr>
            <p:ph type="title"/>
          </p:nvPr>
        </p:nvSpPr>
        <p:spPr>
          <a:xfrm>
            <a:off x="1078832" y="0"/>
            <a:ext cx="10515600" cy="1325563"/>
          </a:xfrm>
        </p:spPr>
        <p:txBody>
          <a:bodyPr/>
          <a:lstStyle/>
          <a:p>
            <a:pPr algn="ctr"/>
            <a:r>
              <a:rPr lang="en-US" u="sng" dirty="0"/>
              <a:t>Example: allocating 2d dynamical array</a:t>
            </a:r>
          </a:p>
        </p:txBody>
      </p:sp>
      <p:sp>
        <p:nvSpPr>
          <p:cNvPr id="4" name="Shape 671">
            <a:extLst>
              <a:ext uri="{FF2B5EF4-FFF2-40B4-BE49-F238E27FC236}">
                <a16:creationId xmlns:a16="http://schemas.microsoft.com/office/drawing/2014/main" id="{334CBA93-5B17-19EF-A23F-66673B49FEFC}"/>
              </a:ext>
            </a:extLst>
          </p:cNvPr>
          <p:cNvSpPr/>
          <p:nvPr/>
        </p:nvSpPr>
        <p:spPr>
          <a:xfrm>
            <a:off x="187922" y="1135151"/>
            <a:ext cx="11886795" cy="3693319"/>
          </a:xfrm>
          <a:prstGeom prst="rect">
            <a:avLst/>
          </a:prstGeom>
          <a:solidFill>
            <a:schemeClr val="bg1">
              <a:lumMod val="85000"/>
            </a:schemeClr>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wrap="square" lIns="0" tIns="0" rIns="0" bIns="0" anchor="ctr">
            <a:spAutoFit/>
          </a:bodyPr>
          <a:lstStyle/>
          <a:p>
            <a:pPr lvl="0" algn="l" defTabSz="457200">
              <a:defRPr sz="1800"/>
            </a:pPr>
            <a:r>
              <a:rPr lang="en-US" sz="2400" dirty="0">
                <a:solidFill>
                  <a:srgbClr val="212121"/>
                </a:solidFill>
                <a:latin typeface="Consolas" panose="020B0609020204030204" pitchFamily="49" charset="0"/>
                <a:ea typeface="Courier"/>
                <a:cs typeface="Courier"/>
                <a:sym typeface="Courier"/>
              </a:rPr>
              <a:t>void </a:t>
            </a:r>
            <a:r>
              <a:rPr lang="en-US" sz="2400" dirty="0" err="1">
                <a:solidFill>
                  <a:srgbClr val="212121"/>
                </a:solidFill>
                <a:latin typeface="Consolas" panose="020B0609020204030204" pitchFamily="49" charset="0"/>
                <a:ea typeface="Courier"/>
                <a:cs typeface="Courier"/>
                <a:sym typeface="Courier"/>
              </a:rPr>
              <a:t>doSomething</a:t>
            </a:r>
            <a:r>
              <a:rPr lang="en-US" sz="2400" dirty="0">
                <a:solidFill>
                  <a:srgbClr val="212121"/>
                </a:solidFill>
                <a:latin typeface="Consolas" panose="020B0609020204030204" pitchFamily="49" charset="0"/>
                <a:ea typeface="Courier"/>
                <a:cs typeface="Courier"/>
                <a:sym typeface="Courier"/>
              </a:rPr>
              <a:t>(int m, int n)</a:t>
            </a:r>
          </a:p>
          <a:p>
            <a:pPr lvl="0" algn="l" defTabSz="457200">
              <a:defRPr sz="1800"/>
            </a:pPr>
            <a:r>
              <a:rPr lang="en-US" sz="2400" dirty="0">
                <a:solidFill>
                  <a:srgbClr val="212121"/>
                </a:solidFill>
                <a:latin typeface="Consolas" panose="020B0609020204030204" pitchFamily="49" charset="0"/>
                <a:ea typeface="Courier"/>
                <a:cs typeface="Courier"/>
                <a:sym typeface="Courier"/>
              </a:rPr>
              <a:t>{ int **rows;</a:t>
            </a:r>
          </a:p>
          <a:p>
            <a:pPr lvl="0" algn="l" defTabSz="457200">
              <a:defRPr sz="1800"/>
            </a:pPr>
            <a:r>
              <a:rPr lang="en-US" sz="2400" dirty="0">
                <a:solidFill>
                  <a:srgbClr val="212121"/>
                </a:solidFill>
                <a:latin typeface="Consolas" panose="020B0609020204030204" pitchFamily="49" charset="0"/>
                <a:ea typeface="Courier"/>
                <a:cs typeface="Courier"/>
                <a:sym typeface="Courier"/>
              </a:rPr>
              <a:t>  rows = </a:t>
            </a:r>
            <a:r>
              <a:rPr lang="en-US" sz="2400" dirty="0" err="1">
                <a:solidFill>
                  <a:srgbClr val="212121"/>
                </a:solidFill>
                <a:latin typeface="Consolas" panose="020B0609020204030204" pitchFamily="49" charset="0"/>
                <a:ea typeface="Courier"/>
                <a:cs typeface="Courier"/>
                <a:sym typeface="Courier"/>
              </a:rPr>
              <a:t>malloc</a:t>
            </a:r>
            <a:r>
              <a:rPr lang="en-US" sz="2400" dirty="0">
                <a:solidFill>
                  <a:srgbClr val="212121"/>
                </a:solidFill>
                <a:latin typeface="Consolas" panose="020B0609020204030204" pitchFamily="49" charset="0"/>
                <a:ea typeface="Courier"/>
                <a:cs typeface="Courier"/>
                <a:sym typeface="Courier"/>
              </a:rPr>
              <a:t>(</a:t>
            </a:r>
            <a:r>
              <a:rPr lang="en-US" sz="2400" dirty="0" err="1">
                <a:solidFill>
                  <a:srgbClr val="212121"/>
                </a:solidFill>
                <a:latin typeface="Consolas" panose="020B0609020204030204" pitchFamily="49" charset="0"/>
                <a:ea typeface="Courier"/>
                <a:cs typeface="Courier"/>
                <a:sym typeface="Courier"/>
              </a:rPr>
              <a:t>sizeof</a:t>
            </a:r>
            <a:r>
              <a:rPr lang="en-US" sz="2400" dirty="0">
                <a:solidFill>
                  <a:srgbClr val="212121"/>
                </a:solidFill>
                <a:latin typeface="Consolas" panose="020B0609020204030204" pitchFamily="49" charset="0"/>
                <a:ea typeface="Courier"/>
                <a:cs typeface="Courier"/>
                <a:sym typeface="Courier"/>
              </a:rPr>
              <a:t>(</a:t>
            </a:r>
            <a:r>
              <a:rPr lang="en-US" sz="2400" dirty="0">
                <a:solidFill>
                  <a:srgbClr val="FF0000"/>
                </a:solidFill>
                <a:latin typeface="Consolas" panose="020B0609020204030204" pitchFamily="49" charset="0"/>
                <a:ea typeface="Courier"/>
                <a:cs typeface="Courier"/>
                <a:sym typeface="Courier"/>
              </a:rPr>
              <a:t>int *</a:t>
            </a:r>
            <a:r>
              <a:rPr lang="en-US" sz="2400" dirty="0">
                <a:solidFill>
                  <a:srgbClr val="212121"/>
                </a:solidFill>
                <a:latin typeface="Consolas" panose="020B0609020204030204" pitchFamily="49" charset="0"/>
                <a:ea typeface="Courier"/>
                <a:cs typeface="Courier"/>
                <a:sym typeface="Courier"/>
              </a:rPr>
              <a:t>) * m);  </a:t>
            </a:r>
            <a:r>
              <a:rPr lang="en-US" sz="2400" dirty="0">
                <a:solidFill>
                  <a:schemeClr val="accent1"/>
                </a:solidFill>
                <a:latin typeface="Consolas" panose="020B0609020204030204" pitchFamily="49" charset="0"/>
                <a:ea typeface="Courier"/>
                <a:cs typeface="Courier"/>
                <a:sym typeface="Courier"/>
              </a:rPr>
              <a:t>// array of pointers </a:t>
            </a:r>
          </a:p>
          <a:p>
            <a:pPr lvl="0" algn="l" defTabSz="457200">
              <a:defRPr sz="1800"/>
            </a:pPr>
            <a:r>
              <a:rPr lang="en-US" sz="2400" dirty="0">
                <a:solidFill>
                  <a:srgbClr val="212121"/>
                </a:solidFill>
                <a:latin typeface="Consolas" panose="020B0609020204030204" pitchFamily="49" charset="0"/>
                <a:ea typeface="Courier"/>
                <a:cs typeface="Courier"/>
                <a:sym typeface="Courier"/>
              </a:rPr>
              <a:t>  for (int </a:t>
            </a:r>
            <a:r>
              <a:rPr lang="en-US" sz="2400" dirty="0" err="1">
                <a:solidFill>
                  <a:srgbClr val="212121"/>
                </a:solidFill>
                <a:latin typeface="Consolas" panose="020B0609020204030204" pitchFamily="49" charset="0"/>
                <a:ea typeface="Courier"/>
                <a:cs typeface="Courier"/>
                <a:sym typeface="Courier"/>
              </a:rPr>
              <a:t>i</a:t>
            </a:r>
            <a:r>
              <a:rPr lang="en-US" sz="2400" dirty="0">
                <a:solidFill>
                  <a:srgbClr val="212121"/>
                </a:solidFill>
                <a:latin typeface="Consolas" panose="020B0609020204030204" pitchFamily="49" charset="0"/>
                <a:ea typeface="Courier"/>
                <a:cs typeface="Courier"/>
                <a:sym typeface="Courier"/>
              </a:rPr>
              <a:t> = 0; </a:t>
            </a:r>
            <a:r>
              <a:rPr lang="en-US" sz="2400" dirty="0" err="1">
                <a:solidFill>
                  <a:srgbClr val="212121"/>
                </a:solidFill>
                <a:latin typeface="Consolas" panose="020B0609020204030204" pitchFamily="49" charset="0"/>
                <a:ea typeface="Courier"/>
                <a:cs typeface="Courier"/>
                <a:sym typeface="Courier"/>
              </a:rPr>
              <a:t>i</a:t>
            </a:r>
            <a:r>
              <a:rPr lang="en-US" sz="2400" dirty="0">
                <a:solidFill>
                  <a:srgbClr val="212121"/>
                </a:solidFill>
                <a:latin typeface="Consolas" panose="020B0609020204030204" pitchFamily="49" charset="0"/>
                <a:ea typeface="Courier"/>
                <a:cs typeface="Courier"/>
                <a:sym typeface="Courier"/>
              </a:rPr>
              <a:t> &lt; m; </a:t>
            </a:r>
            <a:r>
              <a:rPr lang="en-US" sz="2400" dirty="0" err="1">
                <a:solidFill>
                  <a:srgbClr val="212121"/>
                </a:solidFill>
                <a:latin typeface="Consolas" panose="020B0609020204030204" pitchFamily="49" charset="0"/>
                <a:ea typeface="Courier"/>
                <a:cs typeface="Courier"/>
                <a:sym typeface="Courier"/>
              </a:rPr>
              <a:t>i</a:t>
            </a:r>
            <a:r>
              <a:rPr lang="en-US" sz="2400" dirty="0">
                <a:solidFill>
                  <a:srgbClr val="212121"/>
                </a:solidFill>
                <a:latin typeface="Consolas" panose="020B0609020204030204" pitchFamily="49" charset="0"/>
                <a:ea typeface="Courier"/>
                <a:cs typeface="Courier"/>
                <a:sym typeface="Courier"/>
              </a:rPr>
              <a:t>++)</a:t>
            </a:r>
          </a:p>
          <a:p>
            <a:pPr lvl="0" algn="l" defTabSz="457200">
              <a:defRPr sz="1800"/>
            </a:pPr>
            <a:r>
              <a:rPr lang="en-US" sz="2400" dirty="0">
                <a:solidFill>
                  <a:srgbClr val="212121"/>
                </a:solidFill>
                <a:latin typeface="Consolas" panose="020B0609020204030204" pitchFamily="49" charset="0"/>
                <a:ea typeface="Courier"/>
                <a:cs typeface="Courier"/>
                <a:sym typeface="Courier"/>
              </a:rPr>
              <a:t>    </a:t>
            </a:r>
            <a:r>
              <a:rPr lang="en-US" sz="2400" dirty="0">
                <a:solidFill>
                  <a:srgbClr val="FF0000"/>
                </a:solidFill>
                <a:latin typeface="Consolas" panose="020B0609020204030204" pitchFamily="49" charset="0"/>
                <a:ea typeface="Courier"/>
                <a:cs typeface="Courier"/>
                <a:sym typeface="Courier"/>
              </a:rPr>
              <a:t>rows[</a:t>
            </a:r>
            <a:r>
              <a:rPr lang="en-US" sz="2400" dirty="0" err="1">
                <a:solidFill>
                  <a:srgbClr val="FF0000"/>
                </a:solidFill>
                <a:latin typeface="Consolas" panose="020B0609020204030204" pitchFamily="49" charset="0"/>
                <a:ea typeface="Courier"/>
                <a:cs typeface="Courier"/>
                <a:sym typeface="Courier"/>
              </a:rPr>
              <a:t>i</a:t>
            </a:r>
            <a:r>
              <a:rPr lang="en-US" sz="2400" dirty="0">
                <a:solidFill>
                  <a:srgbClr val="FF0000"/>
                </a:solidFill>
                <a:latin typeface="Consolas" panose="020B0609020204030204" pitchFamily="49" charset="0"/>
                <a:ea typeface="Courier"/>
                <a:cs typeface="Courier"/>
                <a:sym typeface="Courier"/>
              </a:rPr>
              <a:t>] = </a:t>
            </a:r>
            <a:r>
              <a:rPr lang="en-US" sz="2400" dirty="0" err="1">
                <a:solidFill>
                  <a:srgbClr val="FF0000"/>
                </a:solidFill>
                <a:latin typeface="Consolas" panose="020B0609020204030204" pitchFamily="49" charset="0"/>
                <a:ea typeface="Courier"/>
                <a:cs typeface="Courier"/>
                <a:sym typeface="Courier"/>
              </a:rPr>
              <a:t>malloc</a:t>
            </a:r>
            <a:r>
              <a:rPr lang="en-US" sz="2400" dirty="0">
                <a:solidFill>
                  <a:srgbClr val="FF0000"/>
                </a:solidFill>
                <a:latin typeface="Consolas" panose="020B0609020204030204" pitchFamily="49" charset="0"/>
                <a:ea typeface="Courier"/>
                <a:cs typeface="Courier"/>
                <a:sym typeface="Courier"/>
              </a:rPr>
              <a:t>(</a:t>
            </a:r>
            <a:r>
              <a:rPr lang="en-US" sz="2400" dirty="0" err="1">
                <a:solidFill>
                  <a:srgbClr val="FF0000"/>
                </a:solidFill>
                <a:latin typeface="Consolas" panose="020B0609020204030204" pitchFamily="49" charset="0"/>
                <a:ea typeface="Courier"/>
                <a:cs typeface="Courier"/>
                <a:sym typeface="Courier"/>
              </a:rPr>
              <a:t>sizeof</a:t>
            </a:r>
            <a:r>
              <a:rPr lang="en-US" sz="2400" dirty="0">
                <a:solidFill>
                  <a:srgbClr val="FF0000"/>
                </a:solidFill>
                <a:latin typeface="Consolas" panose="020B0609020204030204" pitchFamily="49" charset="0"/>
                <a:ea typeface="Courier"/>
                <a:cs typeface="Courier"/>
                <a:sym typeface="Courier"/>
              </a:rPr>
              <a:t>(</a:t>
            </a:r>
            <a:r>
              <a:rPr lang="en-US" sz="2400" b="1" dirty="0">
                <a:solidFill>
                  <a:srgbClr val="FF0000"/>
                </a:solidFill>
                <a:latin typeface="Consolas" panose="020B0609020204030204" pitchFamily="49" charset="0"/>
                <a:ea typeface="Courier"/>
                <a:cs typeface="Courier"/>
                <a:sym typeface="Courier"/>
              </a:rPr>
              <a:t>int</a:t>
            </a:r>
            <a:r>
              <a:rPr lang="en-US" sz="2400" dirty="0">
                <a:solidFill>
                  <a:srgbClr val="FF0000"/>
                </a:solidFill>
                <a:latin typeface="Consolas" panose="020B0609020204030204" pitchFamily="49" charset="0"/>
                <a:ea typeface="Courier"/>
                <a:cs typeface="Courier"/>
                <a:sym typeface="Courier"/>
              </a:rPr>
              <a:t>)*n);</a:t>
            </a:r>
            <a:r>
              <a:rPr lang="en-US" sz="2400" dirty="0">
                <a:solidFill>
                  <a:srgbClr val="212121"/>
                </a:solidFill>
                <a:latin typeface="Consolas" panose="020B0609020204030204" pitchFamily="49" charset="0"/>
                <a:ea typeface="Courier"/>
                <a:cs typeface="Courier"/>
                <a:sym typeface="Courier"/>
              </a:rPr>
              <a:t> </a:t>
            </a:r>
            <a:r>
              <a:rPr lang="en-US" sz="2400" dirty="0">
                <a:solidFill>
                  <a:schemeClr val="accent1"/>
                </a:solidFill>
                <a:latin typeface="Consolas" panose="020B0609020204030204" pitchFamily="49" charset="0"/>
                <a:ea typeface="Courier"/>
                <a:cs typeface="Courier"/>
                <a:sym typeface="Courier"/>
              </a:rPr>
              <a:t>// one int array for each row</a:t>
            </a:r>
          </a:p>
          <a:p>
            <a:pPr lvl="0" algn="l" defTabSz="457200">
              <a:defRPr sz="1800"/>
            </a:pPr>
            <a:r>
              <a:rPr lang="en-US" sz="2400" dirty="0">
                <a:solidFill>
                  <a:srgbClr val="212121"/>
                </a:solidFill>
                <a:latin typeface="Consolas" panose="020B0609020204030204" pitchFamily="49" charset="0"/>
                <a:ea typeface="Courier"/>
                <a:cs typeface="Courier"/>
                <a:sym typeface="Courier"/>
              </a:rPr>
              <a:t>  ...</a:t>
            </a:r>
          </a:p>
          <a:p>
            <a:pPr lvl="0" algn="l" defTabSz="457200">
              <a:defRPr sz="1800"/>
            </a:pPr>
            <a:r>
              <a:rPr lang="en-US" sz="2400" dirty="0">
                <a:solidFill>
                  <a:srgbClr val="FF0000"/>
                </a:solidFill>
                <a:latin typeface="Consolas" panose="020B0609020204030204" pitchFamily="49" charset="0"/>
                <a:ea typeface="Courier"/>
                <a:cs typeface="Courier"/>
                <a:sym typeface="Courier"/>
              </a:rPr>
              <a:t>  for (int </a:t>
            </a:r>
            <a:r>
              <a:rPr lang="en-US" sz="2400" dirty="0" err="1">
                <a:solidFill>
                  <a:srgbClr val="FF0000"/>
                </a:solidFill>
                <a:latin typeface="Consolas" panose="020B0609020204030204" pitchFamily="49" charset="0"/>
                <a:ea typeface="Courier"/>
                <a:cs typeface="Courier"/>
                <a:sym typeface="Courier"/>
              </a:rPr>
              <a:t>i</a:t>
            </a:r>
            <a:r>
              <a:rPr lang="en-US" sz="2400" dirty="0">
                <a:solidFill>
                  <a:srgbClr val="FF0000"/>
                </a:solidFill>
                <a:latin typeface="Consolas" panose="020B0609020204030204" pitchFamily="49" charset="0"/>
                <a:ea typeface="Courier"/>
                <a:cs typeface="Courier"/>
                <a:sym typeface="Courier"/>
              </a:rPr>
              <a:t> = 0; </a:t>
            </a:r>
            <a:r>
              <a:rPr lang="en-US" sz="2400" dirty="0" err="1">
                <a:solidFill>
                  <a:srgbClr val="FF0000"/>
                </a:solidFill>
                <a:latin typeface="Consolas" panose="020B0609020204030204" pitchFamily="49" charset="0"/>
                <a:ea typeface="Courier"/>
                <a:cs typeface="Courier"/>
                <a:sym typeface="Courier"/>
              </a:rPr>
              <a:t>i</a:t>
            </a:r>
            <a:r>
              <a:rPr lang="en-US" sz="2400" dirty="0">
                <a:solidFill>
                  <a:srgbClr val="FF0000"/>
                </a:solidFill>
                <a:latin typeface="Consolas" panose="020B0609020204030204" pitchFamily="49" charset="0"/>
                <a:ea typeface="Courier"/>
                <a:cs typeface="Courier"/>
                <a:sym typeface="Courier"/>
              </a:rPr>
              <a:t> &lt; m; </a:t>
            </a:r>
            <a:r>
              <a:rPr lang="en-US" sz="2400" dirty="0" err="1">
                <a:solidFill>
                  <a:srgbClr val="FF0000"/>
                </a:solidFill>
                <a:latin typeface="Consolas" panose="020B0609020204030204" pitchFamily="49" charset="0"/>
                <a:ea typeface="Courier"/>
                <a:cs typeface="Courier"/>
                <a:sym typeface="Courier"/>
              </a:rPr>
              <a:t>i</a:t>
            </a:r>
            <a:r>
              <a:rPr lang="en-US" sz="2400" dirty="0">
                <a:solidFill>
                  <a:srgbClr val="FF0000"/>
                </a:solidFill>
                <a:latin typeface="Consolas" panose="020B0609020204030204" pitchFamily="49" charset="0"/>
                <a:ea typeface="Courier"/>
                <a:cs typeface="Courier"/>
                <a:sym typeface="Courier"/>
              </a:rPr>
              <a:t>++)</a:t>
            </a:r>
          </a:p>
          <a:p>
            <a:pPr lvl="0" algn="l" defTabSz="457200">
              <a:defRPr sz="1800"/>
            </a:pPr>
            <a:r>
              <a:rPr lang="en-US" sz="2400" dirty="0">
                <a:solidFill>
                  <a:srgbClr val="FF0000"/>
                </a:solidFill>
                <a:latin typeface="Consolas" panose="020B0609020204030204" pitchFamily="49" charset="0"/>
                <a:ea typeface="Courier"/>
                <a:cs typeface="Courier"/>
                <a:sym typeface="Courier"/>
              </a:rPr>
              <a:t>    free(rows[</a:t>
            </a:r>
            <a:r>
              <a:rPr lang="en-US" sz="2400" dirty="0" err="1">
                <a:solidFill>
                  <a:srgbClr val="FF0000"/>
                </a:solidFill>
                <a:latin typeface="Consolas" panose="020B0609020204030204" pitchFamily="49" charset="0"/>
                <a:ea typeface="Courier"/>
                <a:cs typeface="Courier"/>
                <a:sym typeface="Courier"/>
              </a:rPr>
              <a:t>i</a:t>
            </a:r>
            <a:r>
              <a:rPr lang="en-US" sz="2400" dirty="0">
                <a:solidFill>
                  <a:srgbClr val="FF0000"/>
                </a:solidFill>
                <a:latin typeface="Consolas" panose="020B0609020204030204" pitchFamily="49" charset="0"/>
                <a:ea typeface="Courier"/>
                <a:cs typeface="Courier"/>
                <a:sym typeface="Courier"/>
              </a:rPr>
              <a:t>]);</a:t>
            </a:r>
          </a:p>
          <a:p>
            <a:pPr lvl="0" algn="l" defTabSz="457200">
              <a:defRPr sz="1800"/>
            </a:pPr>
            <a:r>
              <a:rPr lang="en-US" sz="2400" dirty="0">
                <a:solidFill>
                  <a:srgbClr val="FF0000"/>
                </a:solidFill>
                <a:latin typeface="Consolas" panose="020B0609020204030204" pitchFamily="49" charset="0"/>
                <a:ea typeface="Courier"/>
                <a:cs typeface="Courier"/>
                <a:sym typeface="Courier"/>
              </a:rPr>
              <a:t>  free(rows);</a:t>
            </a:r>
          </a:p>
          <a:p>
            <a:pPr lvl="0" algn="l" defTabSz="457200">
              <a:defRPr sz="1800"/>
            </a:pPr>
            <a:r>
              <a:rPr lang="en-US" sz="2400" dirty="0">
                <a:solidFill>
                  <a:srgbClr val="212121"/>
                </a:solidFill>
                <a:latin typeface="Consolas" panose="020B0609020204030204" pitchFamily="49" charset="0"/>
                <a:ea typeface="Courier"/>
                <a:cs typeface="Courier"/>
                <a:sym typeface="Courier"/>
              </a:rPr>
              <a:t>}</a:t>
            </a:r>
          </a:p>
        </p:txBody>
      </p:sp>
    </p:spTree>
    <p:extLst>
      <p:ext uri="{BB962C8B-B14F-4D97-AF65-F5344CB8AC3E}">
        <p14:creationId xmlns:p14="http://schemas.microsoft.com/office/powerpoint/2010/main" val="3500816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7F932F-CA2E-6F3D-F24E-CA94C01F263A}"/>
              </a:ext>
            </a:extLst>
          </p:cNvPr>
          <p:cNvPicPr>
            <a:picLocks noChangeAspect="1"/>
          </p:cNvPicPr>
          <p:nvPr/>
        </p:nvPicPr>
        <p:blipFill>
          <a:blip r:embed="rId2"/>
          <a:stretch>
            <a:fillRect/>
          </a:stretch>
        </p:blipFill>
        <p:spPr>
          <a:xfrm>
            <a:off x="241127" y="533727"/>
            <a:ext cx="7206310" cy="5963222"/>
          </a:xfrm>
          <a:prstGeom prst="rect">
            <a:avLst/>
          </a:prstGeom>
          <a:ln>
            <a:solidFill>
              <a:schemeClr val="tx1"/>
            </a:solidFill>
          </a:ln>
        </p:spPr>
      </p:pic>
      <p:sp>
        <p:nvSpPr>
          <p:cNvPr id="4" name="Rectangle 3">
            <a:extLst>
              <a:ext uri="{FF2B5EF4-FFF2-40B4-BE49-F238E27FC236}">
                <a16:creationId xmlns:a16="http://schemas.microsoft.com/office/drawing/2014/main" id="{75EADDBB-33D3-F2EE-B163-95956EC95D9F}"/>
              </a:ext>
            </a:extLst>
          </p:cNvPr>
          <p:cNvSpPr/>
          <p:nvPr/>
        </p:nvSpPr>
        <p:spPr>
          <a:xfrm>
            <a:off x="1718915" y="2911952"/>
            <a:ext cx="4199176" cy="2590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03CCAC5-65C8-5ED5-5E24-E8D3C028E17C}"/>
              </a:ext>
            </a:extLst>
          </p:cNvPr>
          <p:cNvSpPr/>
          <p:nvPr/>
        </p:nvSpPr>
        <p:spPr>
          <a:xfrm>
            <a:off x="2122480" y="4267267"/>
            <a:ext cx="4199176"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8004998-7DAE-4620-F088-5C022F3CDB38}"/>
              </a:ext>
            </a:extLst>
          </p:cNvPr>
          <p:cNvSpPr/>
          <p:nvPr/>
        </p:nvSpPr>
        <p:spPr>
          <a:xfrm>
            <a:off x="7544013" y="3065987"/>
            <a:ext cx="620066" cy="7260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53C9066-F25E-E7A4-08DA-AA8C2C17415F}"/>
              </a:ext>
            </a:extLst>
          </p:cNvPr>
          <p:cNvPicPr>
            <a:picLocks noChangeAspect="1"/>
          </p:cNvPicPr>
          <p:nvPr/>
        </p:nvPicPr>
        <p:blipFill>
          <a:blip r:embed="rId3"/>
          <a:stretch>
            <a:fillRect/>
          </a:stretch>
        </p:blipFill>
        <p:spPr>
          <a:xfrm>
            <a:off x="8482624" y="2357437"/>
            <a:ext cx="2714625" cy="2143125"/>
          </a:xfrm>
          <a:prstGeom prst="rect">
            <a:avLst/>
          </a:prstGeom>
        </p:spPr>
      </p:pic>
    </p:spTree>
    <p:extLst>
      <p:ext uri="{BB962C8B-B14F-4D97-AF65-F5344CB8AC3E}">
        <p14:creationId xmlns:p14="http://schemas.microsoft.com/office/powerpoint/2010/main" val="309468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38200" y="1411666"/>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strike="sngStrike" dirty="0">
                <a:effectLst>
                  <a:outerShdw blurRad="38100" dist="38100" dir="2700000" algn="tl">
                    <a:srgbClr val="000000">
                      <a:alpha val="43137"/>
                    </a:srgbClr>
                  </a:outerShdw>
                </a:effectLst>
              </a:rPr>
              <a:t>1. Memory Organization and Malloc</a:t>
            </a:r>
          </a:p>
        </p:txBody>
      </p:sp>
      <p:sp>
        <p:nvSpPr>
          <p:cNvPr id="4" name="Title 1">
            <a:extLst>
              <a:ext uri="{FF2B5EF4-FFF2-40B4-BE49-F238E27FC236}">
                <a16:creationId xmlns:a16="http://schemas.microsoft.com/office/drawing/2014/main" id="{2A5E5307-D978-36AF-F83D-D0EFD2AA9642}"/>
              </a:ext>
            </a:extLst>
          </p:cNvPr>
          <p:cNvSpPr txBox="1">
            <a:spLocks/>
          </p:cNvSpPr>
          <p:nvPr/>
        </p:nvSpPr>
        <p:spPr>
          <a:xfrm>
            <a:off x="838200" y="2958517"/>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strike="sngStrike" dirty="0">
                <a:effectLst>
                  <a:outerShdw blurRad="38100" dist="38100" dir="2700000" algn="tl">
                    <a:srgbClr val="000000">
                      <a:alpha val="43137"/>
                    </a:srgbClr>
                  </a:outerShdw>
                </a:effectLst>
              </a:rPr>
              <a:t>2. Tracking Array Size</a:t>
            </a:r>
          </a:p>
        </p:txBody>
      </p:sp>
      <p:sp>
        <p:nvSpPr>
          <p:cNvPr id="3" name="Title 1">
            <a:extLst>
              <a:ext uri="{FF2B5EF4-FFF2-40B4-BE49-F238E27FC236}">
                <a16:creationId xmlns:a16="http://schemas.microsoft.com/office/drawing/2014/main" id="{72651BD0-BD73-02F8-B368-60BA8DB8612E}"/>
              </a:ext>
            </a:extLst>
          </p:cNvPr>
          <p:cNvSpPr txBox="1">
            <a:spLocks/>
          </p:cNvSpPr>
          <p:nvPr/>
        </p:nvSpPr>
        <p:spPr>
          <a:xfrm>
            <a:off x="838200" y="4505368"/>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strike="sngStrike" dirty="0">
                <a:effectLst>
                  <a:outerShdw blurRad="38100" dist="38100" dir="2700000" algn="tl">
                    <a:srgbClr val="000000">
                      <a:alpha val="43137"/>
                    </a:srgbClr>
                  </a:outerShdw>
                </a:effectLst>
              </a:rPr>
              <a:t>3. More on Arrays and Multi-dimensional Arrays</a:t>
            </a:r>
          </a:p>
        </p:txBody>
      </p:sp>
      <p:sp>
        <p:nvSpPr>
          <p:cNvPr id="6" name="TextBox 5">
            <a:extLst>
              <a:ext uri="{FF2B5EF4-FFF2-40B4-BE49-F238E27FC236}">
                <a16:creationId xmlns:a16="http://schemas.microsoft.com/office/drawing/2014/main" id="{E9FE9ABD-F746-5DC7-FA40-E4329743A79B}"/>
              </a:ext>
            </a:extLst>
          </p:cNvPr>
          <p:cNvSpPr txBox="1"/>
          <p:nvPr/>
        </p:nvSpPr>
        <p:spPr>
          <a:xfrm>
            <a:off x="2147792" y="259847"/>
            <a:ext cx="8105652" cy="769441"/>
          </a:xfrm>
          <a:prstGeom prst="rect">
            <a:avLst/>
          </a:prstGeom>
          <a:noFill/>
        </p:spPr>
        <p:txBody>
          <a:bodyPr wrap="square">
            <a:spAutoFit/>
          </a:bodyPr>
          <a:lstStyle/>
          <a:p>
            <a:pPr algn="ctr"/>
            <a:r>
              <a:rPr lang="en-US" sz="4400" b="1" u="sng" dirty="0"/>
              <a:t>Memory Allocation Lecture Topics</a:t>
            </a:r>
          </a:p>
        </p:txBody>
      </p:sp>
    </p:spTree>
    <p:extLst>
      <p:ext uri="{BB962C8B-B14F-4D97-AF65-F5344CB8AC3E}">
        <p14:creationId xmlns:p14="http://schemas.microsoft.com/office/powerpoint/2010/main" val="667555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6609-9393-6CB5-9B60-F0B5A62DD1CC}"/>
              </a:ext>
            </a:extLst>
          </p:cNvPr>
          <p:cNvSpPr>
            <a:spLocks noGrp="1"/>
          </p:cNvSpPr>
          <p:nvPr>
            <p:ph type="title"/>
          </p:nvPr>
        </p:nvSpPr>
        <p:spPr>
          <a:xfrm>
            <a:off x="795031" y="35471"/>
            <a:ext cx="10515600" cy="1325563"/>
          </a:xfrm>
        </p:spPr>
        <p:txBody>
          <a:bodyPr/>
          <a:lstStyle/>
          <a:p>
            <a:pPr algn="ctr"/>
            <a:r>
              <a:rPr lang="en-US" u="sng" dirty="0"/>
              <a:t>Conclusions 1: How to keep track of array size</a:t>
            </a:r>
          </a:p>
        </p:txBody>
      </p:sp>
      <p:sp>
        <p:nvSpPr>
          <p:cNvPr id="3" name="Rectangle 2">
            <a:extLst>
              <a:ext uri="{FF2B5EF4-FFF2-40B4-BE49-F238E27FC236}">
                <a16:creationId xmlns:a16="http://schemas.microsoft.com/office/drawing/2014/main" id="{20911B78-E72B-4C3E-CDA3-A1C6D7AE2797}"/>
              </a:ext>
            </a:extLst>
          </p:cNvPr>
          <p:cNvSpPr/>
          <p:nvPr/>
        </p:nvSpPr>
        <p:spPr>
          <a:xfrm>
            <a:off x="5007615" y="1275451"/>
            <a:ext cx="2036797" cy="839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did you create the array?</a:t>
            </a:r>
          </a:p>
        </p:txBody>
      </p:sp>
      <p:cxnSp>
        <p:nvCxnSpPr>
          <p:cNvPr id="5" name="Straight Arrow Connector 4">
            <a:extLst>
              <a:ext uri="{FF2B5EF4-FFF2-40B4-BE49-F238E27FC236}">
                <a16:creationId xmlns:a16="http://schemas.microsoft.com/office/drawing/2014/main" id="{05BA64A6-FE9E-D355-4930-09AE34F2D15D}"/>
              </a:ext>
            </a:extLst>
          </p:cNvPr>
          <p:cNvCxnSpPr>
            <a:cxnSpLocks/>
            <a:stCxn id="3" idx="1"/>
            <a:endCxn id="6" idx="3"/>
          </p:cNvCxnSpPr>
          <p:nvPr/>
        </p:nvCxnSpPr>
        <p:spPr>
          <a:xfrm flipH="1">
            <a:off x="3061082" y="1695369"/>
            <a:ext cx="1946533" cy="362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9948CAE-F0F7-379C-1138-77B318D6575E}"/>
              </a:ext>
            </a:extLst>
          </p:cNvPr>
          <p:cNvSpPr/>
          <p:nvPr/>
        </p:nvSpPr>
        <p:spPr>
          <a:xfrm>
            <a:off x="1024285" y="1638363"/>
            <a:ext cx="2036797" cy="839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Fixed size i.e.</a:t>
            </a:r>
          </a:p>
          <a:p>
            <a:pPr algn="ctr"/>
            <a:r>
              <a:rPr lang="en-US" dirty="0"/>
              <a:t>int x[10] ;</a:t>
            </a:r>
          </a:p>
        </p:txBody>
      </p:sp>
      <p:cxnSp>
        <p:nvCxnSpPr>
          <p:cNvPr id="7" name="Straight Arrow Connector 6">
            <a:extLst>
              <a:ext uri="{FF2B5EF4-FFF2-40B4-BE49-F238E27FC236}">
                <a16:creationId xmlns:a16="http://schemas.microsoft.com/office/drawing/2014/main" id="{A51E64C8-0D40-24CC-D014-0B7896B17C1B}"/>
              </a:ext>
            </a:extLst>
          </p:cNvPr>
          <p:cNvCxnSpPr>
            <a:cxnSpLocks/>
            <a:stCxn id="6" idx="2"/>
            <a:endCxn id="10" idx="0"/>
          </p:cNvCxnSpPr>
          <p:nvPr/>
        </p:nvCxnSpPr>
        <p:spPr>
          <a:xfrm flipH="1">
            <a:off x="1994936" y="2478198"/>
            <a:ext cx="47748" cy="6809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35BD862-EB5F-8F16-4442-C7618DC7F0EA}"/>
              </a:ext>
            </a:extLst>
          </p:cNvPr>
          <p:cNvSpPr/>
          <p:nvPr/>
        </p:nvSpPr>
        <p:spPr>
          <a:xfrm>
            <a:off x="976537" y="3159194"/>
            <a:ext cx="2036797" cy="839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Are you in the method where the array was created?</a:t>
            </a:r>
          </a:p>
        </p:txBody>
      </p:sp>
      <p:cxnSp>
        <p:nvCxnSpPr>
          <p:cNvPr id="11" name="Straight Arrow Connector 10">
            <a:extLst>
              <a:ext uri="{FF2B5EF4-FFF2-40B4-BE49-F238E27FC236}">
                <a16:creationId xmlns:a16="http://schemas.microsoft.com/office/drawing/2014/main" id="{9B3E8404-1F19-A585-FA21-F1F3463BC0FC}"/>
              </a:ext>
            </a:extLst>
          </p:cNvPr>
          <p:cNvCxnSpPr>
            <a:cxnSpLocks/>
            <a:stCxn id="10" idx="2"/>
            <a:endCxn id="15" idx="0"/>
          </p:cNvCxnSpPr>
          <p:nvPr/>
        </p:nvCxnSpPr>
        <p:spPr>
          <a:xfrm flipH="1">
            <a:off x="1223452" y="3999029"/>
            <a:ext cx="771484" cy="53840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BAF9E13-EB16-1A58-3175-2843534E3152}"/>
              </a:ext>
            </a:extLst>
          </p:cNvPr>
          <p:cNvSpPr/>
          <p:nvPr/>
        </p:nvSpPr>
        <p:spPr>
          <a:xfrm>
            <a:off x="205053" y="4537436"/>
            <a:ext cx="2036797" cy="8398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Yes? Then can use </a:t>
            </a:r>
            <a:r>
              <a:rPr lang="en-US" dirty="0" err="1"/>
              <a:t>sizeof</a:t>
            </a:r>
            <a:r>
              <a:rPr lang="en-US" dirty="0"/>
              <a:t>() formula we discussed.</a:t>
            </a:r>
          </a:p>
        </p:txBody>
      </p:sp>
      <p:cxnSp>
        <p:nvCxnSpPr>
          <p:cNvPr id="18" name="Straight Arrow Connector 17">
            <a:extLst>
              <a:ext uri="{FF2B5EF4-FFF2-40B4-BE49-F238E27FC236}">
                <a16:creationId xmlns:a16="http://schemas.microsoft.com/office/drawing/2014/main" id="{01DED82B-1CB0-BD96-6005-6DBBD26B5642}"/>
              </a:ext>
            </a:extLst>
          </p:cNvPr>
          <p:cNvCxnSpPr>
            <a:cxnSpLocks/>
            <a:stCxn id="10" idx="3"/>
            <a:endCxn id="21" idx="0"/>
          </p:cNvCxnSpPr>
          <p:nvPr/>
        </p:nvCxnSpPr>
        <p:spPr>
          <a:xfrm>
            <a:off x="3013334" y="3579112"/>
            <a:ext cx="711636" cy="120284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9AB4BA4-7216-CEAB-7602-40F2FC63D40D}"/>
              </a:ext>
            </a:extLst>
          </p:cNvPr>
          <p:cNvSpPr/>
          <p:nvPr/>
        </p:nvSpPr>
        <p:spPr>
          <a:xfrm>
            <a:off x="2706571" y="4781956"/>
            <a:ext cx="2036797" cy="132123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Then you are working with a reference and need to keep track yourself.</a:t>
            </a:r>
          </a:p>
        </p:txBody>
      </p:sp>
      <p:sp>
        <p:nvSpPr>
          <p:cNvPr id="34" name="Rectangle 33">
            <a:extLst>
              <a:ext uri="{FF2B5EF4-FFF2-40B4-BE49-F238E27FC236}">
                <a16:creationId xmlns:a16="http://schemas.microsoft.com/office/drawing/2014/main" id="{14F6116E-9C86-0807-570D-A2B598691248}"/>
              </a:ext>
            </a:extLst>
          </p:cNvPr>
          <p:cNvSpPr/>
          <p:nvPr/>
        </p:nvSpPr>
        <p:spPr>
          <a:xfrm>
            <a:off x="7581409" y="2167511"/>
            <a:ext cx="2036797" cy="839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Malloc or </a:t>
            </a:r>
            <a:r>
              <a:rPr lang="en-US" dirty="0" err="1"/>
              <a:t>calloc</a:t>
            </a:r>
            <a:endParaRPr lang="en-US" dirty="0"/>
          </a:p>
        </p:txBody>
      </p:sp>
      <p:cxnSp>
        <p:nvCxnSpPr>
          <p:cNvPr id="35" name="Straight Arrow Connector 34">
            <a:extLst>
              <a:ext uri="{FF2B5EF4-FFF2-40B4-BE49-F238E27FC236}">
                <a16:creationId xmlns:a16="http://schemas.microsoft.com/office/drawing/2014/main" id="{FC7BF259-E53C-2000-E2B8-B55F538BED3C}"/>
              </a:ext>
            </a:extLst>
          </p:cNvPr>
          <p:cNvCxnSpPr>
            <a:cxnSpLocks/>
            <a:stCxn id="3" idx="3"/>
            <a:endCxn id="34" idx="0"/>
          </p:cNvCxnSpPr>
          <p:nvPr/>
        </p:nvCxnSpPr>
        <p:spPr>
          <a:xfrm>
            <a:off x="7044412" y="1695369"/>
            <a:ext cx="1555396" cy="4721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126AF655-7C04-2478-0295-B4FAD2481CF0}"/>
              </a:ext>
            </a:extLst>
          </p:cNvPr>
          <p:cNvSpPr/>
          <p:nvPr/>
        </p:nvSpPr>
        <p:spPr>
          <a:xfrm>
            <a:off x="7949000" y="3549021"/>
            <a:ext cx="2036797" cy="132123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Must keep track of the size yourself.</a:t>
            </a:r>
          </a:p>
        </p:txBody>
      </p:sp>
      <p:cxnSp>
        <p:nvCxnSpPr>
          <p:cNvPr id="43" name="Straight Arrow Connector 42">
            <a:extLst>
              <a:ext uri="{FF2B5EF4-FFF2-40B4-BE49-F238E27FC236}">
                <a16:creationId xmlns:a16="http://schemas.microsoft.com/office/drawing/2014/main" id="{11DD229F-A3A1-9A8E-B206-43A903272E6A}"/>
              </a:ext>
            </a:extLst>
          </p:cNvPr>
          <p:cNvCxnSpPr>
            <a:cxnSpLocks/>
            <a:stCxn id="34" idx="2"/>
            <a:endCxn id="42" idx="0"/>
          </p:cNvCxnSpPr>
          <p:nvPr/>
        </p:nvCxnSpPr>
        <p:spPr>
          <a:xfrm>
            <a:off x="8599808" y="3007346"/>
            <a:ext cx="367591" cy="5416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4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ppt_x"/>
                                          </p:val>
                                        </p:tav>
                                        <p:tav tm="100000">
                                          <p:val>
                                            <p:strVal val="#ppt_x"/>
                                          </p:val>
                                        </p:tav>
                                      </p:tavLst>
                                    </p:anim>
                                    <p:anim calcmode="lin" valueType="num">
                                      <p:cBhvr additive="base">
                                        <p:cTn id="48" dur="500" fill="hold"/>
                                        <p:tgtEl>
                                          <p:spTgt spid="3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500" fill="hold"/>
                                        <p:tgtEl>
                                          <p:spTgt spid="43"/>
                                        </p:tgtEl>
                                        <p:attrNameLst>
                                          <p:attrName>ppt_x</p:attrName>
                                        </p:attrNameLst>
                                      </p:cBhvr>
                                      <p:tavLst>
                                        <p:tav tm="0">
                                          <p:val>
                                            <p:strVal val="#ppt_x"/>
                                          </p:val>
                                        </p:tav>
                                        <p:tav tm="100000">
                                          <p:val>
                                            <p:strVal val="#ppt_x"/>
                                          </p:val>
                                        </p:tav>
                                      </p:tavLst>
                                    </p:anim>
                                    <p:anim calcmode="lin" valueType="num">
                                      <p:cBhvr additive="base">
                                        <p:cTn id="58" dur="500" fill="hold"/>
                                        <p:tgtEl>
                                          <p:spTgt spid="4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additive="base">
                                        <p:cTn id="61" dur="500" fill="hold"/>
                                        <p:tgtEl>
                                          <p:spTgt spid="42"/>
                                        </p:tgtEl>
                                        <p:attrNameLst>
                                          <p:attrName>ppt_x</p:attrName>
                                        </p:attrNameLst>
                                      </p:cBhvr>
                                      <p:tavLst>
                                        <p:tav tm="0">
                                          <p:val>
                                            <p:strVal val="#ppt_x"/>
                                          </p:val>
                                        </p:tav>
                                        <p:tav tm="100000">
                                          <p:val>
                                            <p:strVal val="#ppt_x"/>
                                          </p:val>
                                        </p:tav>
                                      </p:tavLst>
                                    </p:anim>
                                    <p:anim calcmode="lin" valueType="num">
                                      <p:cBhvr additive="base">
                                        <p:cTn id="6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5" grpId="0" animBg="1"/>
      <p:bldP spid="21" grpId="0" animBg="1"/>
      <p:bldP spid="34" grpId="0" animBg="1"/>
      <p:bldP spid="4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E383-9E18-2C30-0B85-B0EA9307C411}"/>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Conclusions 2</a:t>
            </a:r>
          </a:p>
        </p:txBody>
      </p:sp>
      <p:sp>
        <p:nvSpPr>
          <p:cNvPr id="3" name="Content Placeholder 2">
            <a:extLst>
              <a:ext uri="{FF2B5EF4-FFF2-40B4-BE49-F238E27FC236}">
                <a16:creationId xmlns:a16="http://schemas.microsoft.com/office/drawing/2014/main" id="{879D0E3B-8C2F-D5DD-8968-0670C9E87D51}"/>
              </a:ext>
            </a:extLst>
          </p:cNvPr>
          <p:cNvSpPr>
            <a:spLocks noGrp="1"/>
          </p:cNvSpPr>
          <p:nvPr>
            <p:ph idx="1"/>
          </p:nvPr>
        </p:nvSpPr>
        <p:spPr>
          <a:xfrm>
            <a:off x="4140309" y="1825624"/>
            <a:ext cx="7213491" cy="4743927"/>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r>
              <a:rPr lang="en-US" dirty="0"/>
              <a:t>Using malloc, </a:t>
            </a:r>
            <a:r>
              <a:rPr lang="en-US" dirty="0" err="1"/>
              <a:t>calloc</a:t>
            </a:r>
            <a:r>
              <a:rPr lang="en-US" dirty="0"/>
              <a:t> and free are important concepts in C that you should know how to use.</a:t>
            </a:r>
          </a:p>
          <a:p>
            <a:r>
              <a:rPr lang="en-US" dirty="0"/>
              <a:t>You need to understand arrays are created in different sections of the memory depending on how you instantiate the array. </a:t>
            </a:r>
          </a:p>
          <a:p>
            <a:r>
              <a:rPr lang="en-US" dirty="0"/>
              <a:t>Two rules for memory:</a:t>
            </a:r>
          </a:p>
          <a:p>
            <a:pPr marL="0" indent="0">
              <a:buNone/>
            </a:pPr>
            <a:r>
              <a:rPr lang="en-US" dirty="0"/>
              <a:t>Rule 1: Everything you requested should be freed, eventually</a:t>
            </a:r>
          </a:p>
          <a:p>
            <a:pPr marL="0" indent="0">
              <a:buNone/>
            </a:pPr>
            <a:r>
              <a:rPr lang="en-US" dirty="0"/>
              <a:t>Rule 2: Only free what is allocated via malloc/</a:t>
            </a:r>
            <a:r>
              <a:rPr lang="en-US" dirty="0" err="1"/>
              <a:t>calloc</a:t>
            </a:r>
            <a:r>
              <a:rPr lang="en-US" dirty="0"/>
              <a:t>/</a:t>
            </a:r>
            <a:r>
              <a:rPr lang="en-US" dirty="0" err="1"/>
              <a:t>realloc</a:t>
            </a:r>
            <a:endParaRPr lang="en-US" dirty="0"/>
          </a:p>
          <a:p>
            <a:r>
              <a:rPr lang="en-US" dirty="0"/>
              <a:t>We can create multi-dimensional arrays using arrays of pointers. </a:t>
            </a:r>
          </a:p>
          <a:p>
            <a:endParaRPr lang="en-US" dirty="0"/>
          </a:p>
        </p:txBody>
      </p:sp>
      <p:pic>
        <p:nvPicPr>
          <p:cNvPr id="4" name="Picture 3">
            <a:extLst>
              <a:ext uri="{FF2B5EF4-FFF2-40B4-BE49-F238E27FC236}">
                <a16:creationId xmlns:a16="http://schemas.microsoft.com/office/drawing/2014/main" id="{AFC10082-99C6-65E7-F4E3-D705AF3E27CB}"/>
              </a:ext>
            </a:extLst>
          </p:cNvPr>
          <p:cNvPicPr>
            <a:picLocks noChangeAspect="1"/>
          </p:cNvPicPr>
          <p:nvPr/>
        </p:nvPicPr>
        <p:blipFill>
          <a:blip r:embed="rId3"/>
          <a:stretch>
            <a:fillRect/>
          </a:stretch>
        </p:blipFill>
        <p:spPr>
          <a:xfrm>
            <a:off x="1023073" y="2028946"/>
            <a:ext cx="2604069" cy="1982069"/>
          </a:xfrm>
          <a:prstGeom prst="rect">
            <a:avLst/>
          </a:prstGeom>
        </p:spPr>
      </p:pic>
      <p:pic>
        <p:nvPicPr>
          <p:cNvPr id="5" name="Picture 4">
            <a:extLst>
              <a:ext uri="{FF2B5EF4-FFF2-40B4-BE49-F238E27FC236}">
                <a16:creationId xmlns:a16="http://schemas.microsoft.com/office/drawing/2014/main" id="{C42C0489-3738-E71C-EDBB-346183A02797}"/>
              </a:ext>
            </a:extLst>
          </p:cNvPr>
          <p:cNvPicPr>
            <a:picLocks noChangeAspect="1"/>
          </p:cNvPicPr>
          <p:nvPr/>
        </p:nvPicPr>
        <p:blipFill>
          <a:blip r:embed="rId4"/>
          <a:stretch>
            <a:fillRect/>
          </a:stretch>
        </p:blipFill>
        <p:spPr>
          <a:xfrm>
            <a:off x="744018" y="4264124"/>
            <a:ext cx="3102894" cy="2069962"/>
          </a:xfrm>
          <a:prstGeom prst="rect">
            <a:avLst/>
          </a:prstGeom>
        </p:spPr>
      </p:pic>
    </p:spTree>
    <p:extLst>
      <p:ext uri="{BB962C8B-B14F-4D97-AF65-F5344CB8AC3E}">
        <p14:creationId xmlns:p14="http://schemas.microsoft.com/office/powerpoint/2010/main" val="16633107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6DB09-8905-429B-9F56-234F9EE9E349}"/>
              </a:ext>
            </a:extLst>
          </p:cNvPr>
          <p:cNvSpPr>
            <a:spLocks noGrp="1"/>
          </p:cNvSpPr>
          <p:nvPr>
            <p:ph type="title"/>
          </p:nvPr>
        </p:nvSpPr>
        <p:spPr/>
        <p:txBody>
          <a:bodyPr/>
          <a:lstStyle/>
          <a:p>
            <a:pPr algn="ctr"/>
            <a:r>
              <a:rPr lang="en-US" u="sng" dirty="0"/>
              <a:t>Figure Sources</a:t>
            </a:r>
          </a:p>
        </p:txBody>
      </p:sp>
      <p:sp>
        <p:nvSpPr>
          <p:cNvPr id="3" name="Content Placeholder 2">
            <a:extLst>
              <a:ext uri="{FF2B5EF4-FFF2-40B4-BE49-F238E27FC236}">
                <a16:creationId xmlns:a16="http://schemas.microsoft.com/office/drawing/2014/main" id="{37F1E7B0-0BE8-47C7-8EC6-28421CE5E87F}"/>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85000" lnSpcReduction="20000"/>
          </a:bodyPr>
          <a:lstStyle/>
          <a:p>
            <a:pPr marL="514350" indent="-514350">
              <a:buFont typeface="+mj-lt"/>
              <a:buAutoNum type="arabicPeriod"/>
            </a:pPr>
            <a:r>
              <a:rPr lang="en-US" dirty="0">
                <a:hlinkClick r:id="rId2"/>
              </a:rPr>
              <a:t>https://wompampsupport.azureedge.net/fetchimage?siteId=7575&amp;v=2&amp;jpgQuality=100&amp;width=700&amp;url=https%3A%2F%2Fi.kym-cdn.com%2Fentries%2Ficons%2Ffacebook%2F000%2F031%2F197%2Fvisible.jpg</a:t>
            </a:r>
            <a:endParaRPr lang="en-US" dirty="0"/>
          </a:p>
          <a:p>
            <a:pPr marL="514350" indent="-514350">
              <a:buFont typeface="+mj-lt"/>
              <a:buAutoNum type="arabicPeriod"/>
            </a:pPr>
            <a:r>
              <a:rPr lang="en-US" dirty="0">
                <a:hlinkClick r:id="rId3"/>
              </a:rPr>
              <a:t>https://upload.wikimedia.org/wikipedia/commons/1/10/The_Rolling_Stones_Summerfest_in_Milwaukee_-_2015.jpg</a:t>
            </a:r>
            <a:endParaRPr lang="en-US" dirty="0"/>
          </a:p>
          <a:p>
            <a:pPr marL="514350" indent="-514350">
              <a:buFont typeface="+mj-lt"/>
              <a:buAutoNum type="arabicPeriod"/>
            </a:pPr>
            <a:r>
              <a:rPr lang="en-US" dirty="0">
                <a:hlinkClick r:id="rId4"/>
              </a:rPr>
              <a:t>https://ychef.files.bbci.co.uk/976x549/p03lcphh.jpg</a:t>
            </a:r>
            <a:endParaRPr lang="en-US" dirty="0"/>
          </a:p>
          <a:p>
            <a:pPr marL="514350" indent="-514350">
              <a:buFont typeface="+mj-lt"/>
              <a:buAutoNum type="arabicPeriod"/>
            </a:pPr>
            <a:r>
              <a:rPr lang="en-US" dirty="0">
                <a:hlinkClick r:id="rId5"/>
              </a:rPr>
              <a:t>https://www.pngitem.com/pimgs/m/11-115218_iphone-thinking-emoji-hd-png-download.png</a:t>
            </a:r>
            <a:endParaRPr lang="en-US" dirty="0"/>
          </a:p>
          <a:p>
            <a:pPr marL="514350" indent="-514350">
              <a:buFont typeface="+mj-lt"/>
              <a:buAutoNum type="arabicPeriod"/>
            </a:pPr>
            <a:r>
              <a:rPr lang="en-US" dirty="0">
                <a:hlinkClick r:id="rId6"/>
              </a:rPr>
              <a:t>http://www.quickmeme.com/meme/357oc1</a:t>
            </a:r>
            <a:endParaRPr lang="en-US" dirty="0"/>
          </a:p>
          <a:p>
            <a:pPr marL="514350" indent="-514350">
              <a:buFont typeface="+mj-lt"/>
              <a:buAutoNum type="arabicPeriod"/>
            </a:pPr>
            <a:r>
              <a:rPr lang="en-US" dirty="0">
                <a:hlinkClick r:id="rId7"/>
              </a:rPr>
              <a:t>https://www.deviantart.com/swiftwin4ds/art/Reality-is-often-disappointing-785218817</a:t>
            </a:r>
            <a:endParaRPr lang="en-US" dirty="0"/>
          </a:p>
          <a:p>
            <a:pPr marL="514350" indent="-514350">
              <a:buFont typeface="+mj-lt"/>
              <a:buAutoNum type="arabicPeriod"/>
            </a:pPr>
            <a:r>
              <a:rPr lang="en-US" dirty="0">
                <a:hlinkClick r:id="rId8"/>
              </a:rPr>
              <a:t>https://img.memegenerator.net/instances/84407638.jpg</a:t>
            </a: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19975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2608</TotalTime>
  <Words>2506</Words>
  <Application>Microsoft Macintosh PowerPoint</Application>
  <PresentationFormat>Widescreen</PresentationFormat>
  <Paragraphs>378</Paragraphs>
  <Slides>45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Cascadia Mono</vt:lpstr>
      <vt:lpstr>Arial</vt:lpstr>
      <vt:lpstr>Calibri</vt:lpstr>
      <vt:lpstr>Calibri Light</vt:lpstr>
      <vt:lpstr>Cambria Math</vt:lpstr>
      <vt:lpstr>Consolas</vt:lpstr>
      <vt:lpstr>Courier</vt:lpstr>
      <vt:lpstr>Office Theme</vt:lpstr>
      <vt:lpstr>CSE 3100: Systems Programming</vt:lpstr>
      <vt:lpstr>1. Memory Organization and Malloc</vt:lpstr>
      <vt:lpstr>Recall: Memory Organization (1)</vt:lpstr>
      <vt:lpstr>Recall: Memory Organization (2)</vt:lpstr>
      <vt:lpstr>Static/global memory pool</vt:lpstr>
      <vt:lpstr>Stack</vt:lpstr>
      <vt:lpstr>Heap</vt:lpstr>
      <vt:lpstr>Manipulating Memory in C</vt:lpstr>
      <vt:lpstr>(Bad) Solution 1: Use Static Memory</vt:lpstr>
      <vt:lpstr>(Bad) Solution 2: Pass the empty solution as input </vt:lpstr>
      <vt:lpstr>Good Solution: Allocate Memory Dynamically</vt:lpstr>
      <vt:lpstr>Malloc: Requesting Memory on the Heap</vt:lpstr>
      <vt:lpstr>Generic pointers: void*</vt:lpstr>
      <vt:lpstr>The Rolling Stones once famously sang: </vt:lpstr>
      <vt:lpstr>You Can’t Always Get What You Want</vt:lpstr>
      <vt:lpstr>1. Memory Organization and Malloc</vt:lpstr>
      <vt:lpstr>Any lingering issues with our code?</vt:lpstr>
      <vt:lpstr>We can further break this problem down into two cases:</vt:lpstr>
      <vt:lpstr>Case 1: Counting Elements in Pre-Declared Arrays</vt:lpstr>
      <vt:lpstr>Case 1: Counting Elements in Pre-Declared Arrays</vt:lpstr>
      <vt:lpstr>Follow up Question:</vt:lpstr>
      <vt:lpstr>Trying to build our own function to find number of elements… </vt:lpstr>
      <vt:lpstr>Explaining the Issue</vt:lpstr>
      <vt:lpstr>Pictorial View of What is Going on…</vt:lpstr>
      <vt:lpstr>Pictorial View of What is Going on…</vt:lpstr>
      <vt:lpstr>Pictorial View of What is Going on…</vt:lpstr>
      <vt:lpstr>Pictorial View of What is Going on…</vt:lpstr>
      <vt:lpstr>Pictorial View of What is Going on…</vt:lpstr>
      <vt:lpstr>Back to our original question…</vt:lpstr>
      <vt:lpstr>Back to our question…</vt:lpstr>
      <vt:lpstr>PowerPoint Presentation</vt:lpstr>
      <vt:lpstr>1. Memory Organization and Malloc</vt:lpstr>
      <vt:lpstr>Another Question: Who lives in the empty array?</vt:lpstr>
      <vt:lpstr>Creating arrays AND setting their values: calloc</vt:lpstr>
      <vt:lpstr>Adjusting array size</vt:lpstr>
      <vt:lpstr>Deallocation</vt:lpstr>
      <vt:lpstr>Two key rules for using memory</vt:lpstr>
      <vt:lpstr>So far we have looked at 1D arrays with pointers…</vt:lpstr>
      <vt:lpstr>Array of Pointers</vt:lpstr>
      <vt:lpstr>Example: allocating 2d dynamical array</vt:lpstr>
      <vt:lpstr>PowerPoint Presentation</vt:lpstr>
      <vt:lpstr>1. Memory Organization and Malloc</vt:lpstr>
      <vt:lpstr>Conclusions 1: How to keep track of array size</vt:lpstr>
      <vt:lpstr>Conclusions 2</vt:lpstr>
      <vt:lpstr>Figure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3100: Systems Programming</dc:title>
  <dc:creator>Mahmood, Kaleel</dc:creator>
  <cp:lastModifiedBy>Zhang, Wei</cp:lastModifiedBy>
  <cp:revision>470</cp:revision>
  <dcterms:created xsi:type="dcterms:W3CDTF">2023-01-27T23:53:51Z</dcterms:created>
  <dcterms:modified xsi:type="dcterms:W3CDTF">2025-02-11T20:54:58Z</dcterms:modified>
</cp:coreProperties>
</file>